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0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tags/tag90.xml" ContentType="application/vnd.openxmlformats-officedocument.presentationml.tags+xml"/>
  <Override PartName="/ppt/tags/tag11.xml" ContentType="application/vnd.openxmlformats-officedocument.presentationml.tags+xml"/>
  <Override PartName="/ppt/tags/tag91.xml" ContentType="application/vnd.openxmlformats-officedocument.presentationml.tags+xml"/>
  <Override PartName="/ppt/tags/tag12.xml" ContentType="application/vnd.openxmlformats-officedocument.presentationml.tags+xml"/>
  <Override PartName="/ppt/tags/tag92.xml" ContentType="application/vnd.openxmlformats-officedocument.presentationml.tags+xml"/>
  <Override PartName="/ppt/tags/tag13.xml" ContentType="application/vnd.openxmlformats-officedocument.presentationml.tags+xml"/>
  <Override PartName="/ppt/tags/tag9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2"/>
    <p:sldMasterId id="2147483675" r:id="rId3"/>
    <p:sldMasterId id="2147483687" r:id="rId4"/>
  </p:sldMasterIdLst>
  <p:notesMasterIdLst>
    <p:notesMasterId r:id="rId42"/>
  </p:notesMasterIdLst>
  <p:sldIdLst>
    <p:sldId xmlns:r="http://schemas.openxmlformats.org/officeDocument/2006/relationships" id="400" r:id="rId82"/>
    <p:sldId xmlns:r="http://schemas.openxmlformats.org/officeDocument/2006/relationships" id="401" r:id="rId83"/>
    <p:sldId id="415" r:id="rId87"/>
    <p:sldId id="418" r:id="rId90"/>
    <p:sldId xmlns:r="http://schemas.openxmlformats.org/officeDocument/2006/relationships" id="402" r:id="rId27"/>
    <p:sldId xmlns:r="http://schemas.openxmlformats.org/officeDocument/2006/relationships" id="403" r:id="rId28"/>
    <p:sldId xmlns:r="http://schemas.openxmlformats.org/officeDocument/2006/relationships" id="404" r:id="rId34"/>
    <p:sldId xmlns:r="http://schemas.openxmlformats.org/officeDocument/2006/relationships" id="405" r:id="rId37"/>
    <p:sldId id="417" r:id="rId89"/>
    <p:sldId id="416" r:id="rId88"/>
    <p:sldId xmlns:r="http://schemas.openxmlformats.org/officeDocument/2006/relationships" id="410" r:id="rId38"/>
    <p:sldId id="419" r:id="rId91"/>
    <p:sldId xmlns:r="http://schemas.openxmlformats.org/officeDocument/2006/relationships" id="407" r:id="rId24"/>
    <p:sldId xmlns:r="http://schemas.openxmlformats.org/officeDocument/2006/relationships" id="408" r:id="rId25"/>
    <p:sldId xmlns:r="http://schemas.openxmlformats.org/officeDocument/2006/relationships" id="409" r:id="rId26"/>
    <p:sldId xmlns:r="http://schemas.openxmlformats.org/officeDocument/2006/relationships" id="411" r:id="rId84"/>
    <p:sldId xmlns:r="http://schemas.openxmlformats.org/officeDocument/2006/relationships" id="412" r:id="rId85"/>
    <p:sldId xmlns:r="http://schemas.openxmlformats.org/officeDocument/2006/relationships" id="413" r:id="rId86"/>
    <p:sldId xmlns:r="http://schemas.openxmlformats.org/officeDocument/2006/relationships" id="414" r:id="rId41"/>
  </p:sldIdLst>
  <p:sldSz cx="12192000" cy="6858000"/>
  <p:notesSz cx="6858000" cy="9144000"/>
  <p:embeddedFontLst>
    <p:embeddedFont>
      <p:font typeface="Arial Black" panose="020B0A04020102020204" pitchFamily="34" charset="0"/>
      <p:bold r:id="rId43"/>
    </p:embeddedFont>
    <p:embeddedFont>
      <p:font typeface="Arial Narrow" panose="020B0606020202030204" pitchFamily="34" charset="0"/>
      <p:regular r:id="rId44"/>
      <p:bold r:id="rId45"/>
      <p:italic r:id="rId46"/>
      <p:boldItalic r:id="rId47"/>
    </p:embeddedFont>
    <p:embeddedFont>
      <p:font typeface="Arial Rounded MT Bold" panose="020F0704030504030204" pitchFamily="34" charset="0"/>
      <p:regular r:id="rId48"/>
    </p:embeddedFont>
    <p:embeddedFont>
      <p:font typeface="Montserrat" pitchFamily="2" charset="0"/>
      <p:regular r:id="rId49"/>
      <p:bold r:id="rId50"/>
      <p:italic r:id="rId51"/>
      <p:boldItalic r:id="rId52"/>
    </p:embeddedFont>
    <p:embeddedFont>
      <p:font typeface="Open Sans" panose="020B0606030504020204" pitchFamily="34" charset="0"/>
      <p:regular r:id="rId53"/>
      <p:bold r:id="rId54"/>
      <p:italic r:id="rId55"/>
      <p:boldItalic r:id="rId56"/>
    </p:embeddedFont>
    <p:embeddedFont>
      <p:font typeface="Poppins" panose="00000500000000000000" pitchFamily="2" charset="0"/>
      <p:regular r:id="rId57"/>
      <p:bold r:id="rId58"/>
      <p:italic r:id="rId59"/>
      <p:boldItalic r:id="rId60"/>
    </p:embeddedFont>
    <p:embeddedFont>
      <p:font typeface="Poppins Medium" panose="00000600000000000000" pitchFamily="2" charset="0"/>
      <p:regular r:id="rId61"/>
      <p:italic r:id="rId62"/>
    </p:embeddedFont>
    <p:embeddedFont>
      <p:font typeface="Proxima Nova" panose="020B0604020202020204" charset="0"/>
      <p:regular r:id="rId63"/>
      <p:bold r:id="rId64"/>
      <p:italic r:id="rId65"/>
      <p:boldItalic r:id="rId66"/>
    </p:embeddedFont>
    <p:embeddedFont>
      <p:font typeface="Raleway Black" pitchFamily="2" charset="0"/>
      <p:bold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Overview" id="{4BA62A92-3299-42B9-9984-429996EA0EFA}">
          <p14:sldIdLst>
            <p14:sldId id="400"/>
            <p14:sldId id="401"/>
            <p14:sldId id="415"/>
          </p14:sldIdLst>
        </p14:section>
        <p14:section name="AI &amp; Data" id="{1B68DA0E-85DE-4254-8521-71A270055A36}">
          <p14:sldIdLst>
            <p14:sldId id="418"/>
            <p14:sldId id="402"/>
            <p14:sldId id="403"/>
            <p14:sldId id="404"/>
            <p14:sldId id="405"/>
          </p14:sldIdLst>
        </p14:section>
        <p14:section name="Custom Software" id="{AC82DE73-8B15-4B91-B871-665AEFF3553D}">
          <p14:sldIdLst>
            <p14:sldId id="417"/>
            <p14:sldId id="416"/>
            <p14:sldId id="410"/>
          </p14:sldIdLst>
        </p14:section>
        <p14:section name="Salesforce" id="{E79E2FE8-4BD9-4117-B646-088672C6693E}">
          <p14:sldIdLst>
            <p14:sldId id="419"/>
            <p14:sldId id="407"/>
            <p14:sldId id="408"/>
            <p14:sldId id="409"/>
          </p14:sldIdLst>
        </p14:section>
        <p14:section name="Partnership" id="{1DC2995A-4399-436E-8D50-1F562A9107F1}">
          <p14:sldIdLst>
            <p14:sldId id="411"/>
            <p14:sldId id="412"/>
            <p14:sldId id="413"/>
            <p14:sldId id="4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000"/>
    <a:srgbClr val="C58A2D"/>
    <a:srgbClr val="F7F7F7"/>
    <a:srgbClr val="912D1B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1BD18A-EC56-4F49-B821-64D49AA5575B}">
  <a:tblStyle styleId="{521BD18A-EC56-4F49-B821-64D49AA5575B}" styleName="Table_0">
    <a:wholeTbl>
      <a:tcTxStyle b="off" i="off">
        <a:font>
          <a:latin typeface="Open Sans"/>
          <a:ea typeface="Open Sans"/>
          <a:cs typeface="Open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E7E7"/>
          </a:solidFill>
        </a:fill>
      </a:tcStyle>
    </a:wholeTbl>
    <a:band1H>
      <a:tcTxStyle/>
      <a:tcStyle>
        <a:tcBdr/>
        <a:fill>
          <a:solidFill>
            <a:srgbClr val="DBCC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BCC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059" autoAdjust="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2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63" Type="http://schemas.openxmlformats.org/officeDocument/2006/relationships/font" Target="fonts/font21.fntdata"/><Relationship Id="rId68" Type="http://schemas.openxmlformats.org/officeDocument/2006/relationships/font" Target="fonts/font26.fntdata"/><Relationship Id="rId2" Type="http://schemas.openxmlformats.org/officeDocument/2006/relationships/slideMaster" Target="slideMasters/slideMaster2.xml"/><Relationship Id="rId24" Type="http://schemas.openxmlformats.org/officeDocument/2006/relationships/slide" Target="slides/slide20.xml"/><Relationship Id="rId37" Type="http://schemas.openxmlformats.org/officeDocument/2006/relationships/slide" Target="slides/slide33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66" Type="http://schemas.openxmlformats.org/officeDocument/2006/relationships/font" Target="fonts/font24.fntdata"/><Relationship Id="rId79" Type="http://schemas.openxmlformats.org/officeDocument/2006/relationships/theme" Target="theme/theme1.xml"/><Relationship Id="rId61" Type="http://schemas.openxmlformats.org/officeDocument/2006/relationships/font" Target="fonts/font19.fntdata"/><Relationship Id="rId27" Type="http://schemas.openxmlformats.org/officeDocument/2006/relationships/slide" Target="slides/slide23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font" Target="fonts/font22.fntdata"/><Relationship Id="rId77" Type="http://schemas.openxmlformats.org/officeDocument/2006/relationships/presProps" Target="presProps.xml"/><Relationship Id="rId51" Type="http://schemas.openxmlformats.org/officeDocument/2006/relationships/font" Target="fonts/font9.fntdata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67" Type="http://schemas.openxmlformats.org/officeDocument/2006/relationships/font" Target="fonts/font25.fntdata"/><Relationship Id="rId41" Type="http://schemas.openxmlformats.org/officeDocument/2006/relationships/slide" Target="slides/slide37.xml"/><Relationship Id="rId54" Type="http://schemas.openxmlformats.org/officeDocument/2006/relationships/font" Target="fonts/font12.fntdata"/><Relationship Id="rId62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4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65" Type="http://schemas.openxmlformats.org/officeDocument/2006/relationships/font" Target="fonts/font23.fntdata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34" Type="http://schemas.openxmlformats.org/officeDocument/2006/relationships/slide" Target="slides/slide30.xml"/><Relationship Id="rId50" Type="http://schemas.openxmlformats.org/officeDocument/2006/relationships/font" Target="fonts/font8.fntdata"/><Relationship Id="rId55" Type="http://schemas.openxmlformats.org/officeDocument/2006/relationships/font" Target="fonts/font13.fntdata"/>  
  <Relationship Id="rId82" Type="http://schemas.openxmlformats.org/officeDocument/2006/relationships/slide" Target="slides/slide39.xml"/>
  <Relationship Id="rId83" Type="http://schemas.openxmlformats.org/officeDocument/2006/relationships/slide" Target="slides/slide40.xml"/>
  <Relationship Id="rId84" Type="http://schemas.openxmlformats.org/officeDocument/2006/relationships/slide" Target="slides/slide41.xml"/>
  <Relationship Id="rId85" Type="http://schemas.openxmlformats.org/officeDocument/2006/relationships/slide" Target="slides/slide42.xml"/>
  <Relationship Id="rId86" Type="http://schemas.openxmlformats.org/officeDocument/2006/relationships/slide" Target="slides/slide43.xml"/>
  <Relationship Id="rId87" Type="http://schemas.openxmlformats.org/officeDocument/2006/relationships/slide" Target="slides/slide44.xml"/>
  <Relationship Id="rId88" Type="http://schemas.openxmlformats.org/officeDocument/2006/relationships/slide" Target="slides/slide45.xml"/>
  <Relationship Id="rId89" Type="http://schemas.openxmlformats.org/officeDocument/2006/relationships/slide" Target="slides/slide46.xml"/>
  <Relationship Id="rId90" Type="http://schemas.openxmlformats.org/officeDocument/2006/relationships/slide" Target="slides/slide47.xml"/>
  <Relationship Id="rId91" Type="http://schemas.openxmlformats.org/officeDocument/2006/relationships/slide" Target="slides/slide4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452D57E-28D5-4F85-9023-05FA64C7D434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6710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48029-47AD-FDA5-647D-423EF850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0C76C-BB8F-C1B6-9032-45753C281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18508-7785-39E7-5F03-39288C463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A89B7-BDDE-9EFC-398F-4B6797191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452D57E-28D5-4F85-9023-05FA64C7D434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9741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DE9F-E786-DBC1-BD20-FA224BD30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FB2F1-B91A-EC6D-4CA6-BCE54A22C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73B25-4A77-CC15-3874-7CB2CCCE4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6D034-8144-5071-BDCA-0312BE9F53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2772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ABCB-0CDD-7B7C-C358-21F95074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8940F-2329-60B8-0B88-7E8C64688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57E5F-A439-145E-7113-A904A46D2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4B8AA-2D97-6933-336B-28B215F2F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452D57E-28D5-4F85-9023-05FA64C7D434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4139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98E1A-4482-BF72-D3AE-BE477C0D9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DAB3B-401C-A957-11E0-49044B747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C1C4C-C28F-1F22-194F-9A6DF3FFF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5693D-9AEA-D6CA-F981-82AED816EA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08391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8" name="Google Shape;3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7" name="Google Shape;4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0" name="Google Shape;4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802" name="Google Shape;8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524000" y="196719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Montserrat"/>
              <a:buNone/>
              <a:defRPr sz="4400" b="1"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0" y="4446865"/>
            <a:ext cx="12192000" cy="5823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91771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1"/>
          <p:cNvPicPr preferRelativeResize="0"/>
          <p:nvPr/>
        </p:nvPicPr>
        <p:blipFill>
          <a:blip r:embed="rId2"/>
          <a:srcRect/>
          <a:stretch/>
        </p:blipFill>
        <p:spPr>
          <a:xfrm>
            <a:off x="236676" y="584979"/>
            <a:ext cx="2042996" cy="657806"/>
          </a:xfrm>
          <a:prstGeom prst="rect">
            <a:avLst/>
          </a:prstGeom>
          <a:noFill/>
          <a:ln>
            <a:noFill/>
          </a:ln>
          <a:effectLst>
            <a:glow rad="127000">
              <a:schemeClr val="accent3">
                <a:satMod val="175000"/>
                <a:alpha val="40000"/>
              </a:schemeClr>
            </a:glow>
            <a:softEdge rad="1270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838200" y="1721986"/>
            <a:ext cx="10515600" cy="4454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22"/>
          <p:cNvCxnSpPr/>
          <p:nvPr/>
        </p:nvCxnSpPr>
        <p:spPr>
          <a:xfrm rot="10800000" flipH="1">
            <a:off x="484505" y="100629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5" name="Google Shape;25;p22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2"/>
          </p:nvPr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9633" y="149433"/>
            <a:ext cx="1339781" cy="43138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3"/>
          <p:cNvSpPr/>
          <p:nvPr/>
        </p:nvSpPr>
        <p:spPr>
          <a:xfrm>
            <a:off x="588335" y="661563"/>
            <a:ext cx="11015330" cy="5534874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25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5"/>
          <p:cNvCxnSpPr/>
          <p:nvPr/>
        </p:nvCxnSpPr>
        <p:spPr>
          <a:xfrm rot="10800000" flipH="1">
            <a:off x="484505" y="100629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45" name="Google Shape;45;p25"/>
          <p:cNvSpPr txBox="1">
            <a:spLocks noGrp="1"/>
          </p:cNvSpPr>
          <p:nvPr>
            <p:ph type="body" idx="3"/>
          </p:nvPr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" name="Google Shape;4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26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26"/>
          <p:cNvCxnSpPr/>
          <p:nvPr/>
        </p:nvCxnSpPr>
        <p:spPr>
          <a:xfrm rot="10800000" flipH="1">
            <a:off x="484505" y="100629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59" name="Google Shape;59;p26"/>
          <p:cNvSpPr txBox="1">
            <a:spLocks noGrp="1"/>
          </p:cNvSpPr>
          <p:nvPr>
            <p:ph type="body" idx="5"/>
          </p:nvPr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0" name="Google Shape;6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27"/>
          <p:cNvCxnSpPr/>
          <p:nvPr/>
        </p:nvCxnSpPr>
        <p:spPr>
          <a:xfrm rot="10800000" flipH="1">
            <a:off x="484505" y="117901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64" name="Google Shape;64;p27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5" name="Google Shape;65;p27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10515600" cy="803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27"/>
          <p:cNvSpPr txBox="1">
            <a:spLocks noGrp="1"/>
          </p:cNvSpPr>
          <p:nvPr>
            <p:ph type="body" idx="1"/>
          </p:nvPr>
        </p:nvSpPr>
        <p:spPr>
          <a:xfrm>
            <a:off x="559906" y="124063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8" name="Google Shape;6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30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" name="Google Shape;81;p30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31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8" name="Google Shape;88;p31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9EFA2-F2A1-0652-5FA3-5893713B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70011-D60E-972E-93C8-77F859EED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9A3C3-D21F-AA6E-59B1-72D2AFA0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10EB3-611F-E095-E085-DA9AE9D4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CFB86-8D40-447F-3E20-ACEE72CB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41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D47D2-0207-266E-2FE7-A0871F37B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1059C-4AE8-937C-C544-BCAA440E2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0D57E-6859-B172-C8A9-1522DC0E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B9900-9AA9-1AD8-E26A-4AF5F5167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8CFA9-011E-386F-C8ED-2D4693F4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11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70DF-4132-79A1-8518-3AE452E9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1B224-8358-74FA-4C56-80B8CE164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50131-5819-F0E2-888A-C4E3B7AA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C2692-431F-2A82-35F8-D198E884C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4D12-E00A-AE8A-05B9-4E854481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66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60FC-F60C-73C8-707F-53C6F960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58F3C-13B3-EFD6-84AE-02763D58D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FD986-C5BB-76F2-15DB-9BE2BCE33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36527-08D4-C612-B1E2-70D7E883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18F79-FAF8-7561-8BDF-3A6ED826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583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F085-7980-DFE5-9A4A-7FB23EC65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0E151-DCCE-F828-87BC-8B8031913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31BF0-FC89-55C3-BCCE-D209DF69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29DC9-282E-EFBE-D0D1-6F945902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AFAEE-7184-1566-6312-262966E0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D672C-7BD8-3283-C2E7-13C7C9B1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158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B012-837A-2A44-D48B-884AF1724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1405E-1FB0-BD18-E791-0E08A7AEC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B03FC-98EE-E082-22D8-D32C547CA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3D3B5F-AFE6-0B36-FA87-81FC221F5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6FAC9-0CC5-F0B3-C684-035C7C2E90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CBB405-95A2-46D0-9C36-88D6C8DA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46AFE-01A0-BA0B-B439-3C67D963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2B33C5-81B5-3914-4FB6-9BD4AC8FC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735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11301-EFE6-A034-92B7-58C9AE4F8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B94B2-8868-31B1-BAAE-4FB00652B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DB128-9434-F5B1-5A80-7A6A5212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E4531-394A-AFA3-A558-624D7FE3D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652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BBADB-F2C7-76AC-FAA5-BA42BD54C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55CC59-CF9F-B828-B15E-35C70DB1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9DBE5-35D7-7CF9-F46B-6C6CE80A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797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5009-780B-F128-CAEE-DF1330EAE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70A3-BC88-B2B8-B16B-F3C209E4B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FFCEE-1BC5-2464-687F-C70184155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BCCFD-BBFA-D3DD-36ED-193CBA43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B8267-99F2-56D0-97BE-3BFBB274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BE635-5DEC-AAC4-3F53-FA81B9AAD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9821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3D17-39E5-B1D4-C671-2C95337A4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2382C8-251F-F24E-F62C-D3B94CC734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98EB6-7027-42F9-2A6D-D59AECA35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004E1-98B9-4984-0B64-92B6D93D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AD1F9-D93E-8CBB-043F-DE224511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07D50-8AE4-B590-5FA2-66AF2BE1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28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0B637-6663-5F6B-A169-7F0BB07A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38B06-4B51-9FA0-2394-7B98F17FB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EFAFF-CDD5-708D-3511-BB895A7F1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F79F2-645B-BCDF-B3EA-67DE3F2E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6270-A44E-BF24-2023-8EE7C205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405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403663-552A-DB5B-2ADD-0800E0EDCE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7C2E4-B329-A2DC-C9DA-252885D37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8E13E-FB15-CAE9-4D2B-296B7788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F5B9C-0449-0956-E751-828EE758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DCCB5-4343-E1F8-4F7B-FAEE2E9C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0057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15604" y="3307400"/>
            <a:ext cx="10819318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097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097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097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097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097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097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097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097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09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11296728" y="6217623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oogle Shape;283;p33">
            <a:extLst>
              <a:ext uri="{FF2B5EF4-FFF2-40B4-BE49-F238E27FC236}">
                <a16:creationId xmlns:a16="http://schemas.microsoft.com/office/drawing/2014/main" id="{492766FA-68B4-88CE-5BF7-AB27DA91C16E}"/>
              </a:ext>
            </a:extLst>
          </p:cNvPr>
          <p:cNvSpPr/>
          <p:nvPr userDrawn="1"/>
        </p:nvSpPr>
        <p:spPr>
          <a:xfrm>
            <a:off x="0" y="369567"/>
            <a:ext cx="279073" cy="686100"/>
          </a:xfrm>
          <a:prstGeom prst="rect">
            <a:avLst/>
          </a:prstGeom>
          <a:solidFill>
            <a:srgbClr val="8A3225"/>
          </a:solidFill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153246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Full Image without Header &amp; Footer">
  <p:cSld name="16_Full Image without Header &amp; Foot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>
            <a:spLocks noGrp="1"/>
          </p:cNvSpPr>
          <p:nvPr>
            <p:ph type="pic" idx="2"/>
          </p:nvPr>
        </p:nvSpPr>
        <p:spPr>
          <a:xfrm>
            <a:off x="1017836" y="2691200"/>
            <a:ext cx="1694841" cy="3011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35007" y="527905"/>
            <a:ext cx="10922244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Black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6585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524000" y="196719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Montserrat"/>
              <a:buNone/>
              <a:defRPr sz="44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0" y="4446865"/>
            <a:ext cx="12192000" cy="5823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91771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1"/>
          <p:cNvPicPr preferRelativeResize="0"/>
          <p:nvPr/>
        </p:nvPicPr>
        <p:blipFill>
          <a:blip r:embed="rId2"/>
          <a:srcRect/>
          <a:stretch/>
        </p:blipFill>
        <p:spPr>
          <a:xfrm>
            <a:off x="236676" y="584979"/>
            <a:ext cx="2042996" cy="657806"/>
          </a:xfrm>
          <a:prstGeom prst="rect">
            <a:avLst/>
          </a:prstGeom>
          <a:noFill/>
          <a:ln>
            <a:noFill/>
          </a:ln>
          <a:effectLst>
            <a:glow rad="127000">
              <a:schemeClr val="accent3">
                <a:satMod val="175000"/>
                <a:alpha val="40000"/>
              </a:schemeClr>
            </a:glo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8957627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838200" y="1721986"/>
            <a:ext cx="10515600" cy="4454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22"/>
          <p:cNvCxnSpPr/>
          <p:nvPr/>
        </p:nvCxnSpPr>
        <p:spPr>
          <a:xfrm rot="10800000" flipH="1">
            <a:off x="484505" y="100629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5" name="Google Shape;25;p22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2"/>
          </p:nvPr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20131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>
  <p:cSld name="2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9633" y="149433"/>
            <a:ext cx="1339781" cy="43138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3"/>
          <p:cNvSpPr/>
          <p:nvPr/>
        </p:nvSpPr>
        <p:spPr>
          <a:xfrm>
            <a:off x="588335" y="661563"/>
            <a:ext cx="11015330" cy="5534874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366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5"/>
          <p:cNvCxnSpPr/>
          <p:nvPr/>
        </p:nvCxnSpPr>
        <p:spPr>
          <a:xfrm rot="10800000" flipH="1">
            <a:off x="484505" y="100629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45" name="Google Shape;45;p25"/>
          <p:cNvSpPr txBox="1">
            <a:spLocks noGrp="1"/>
          </p:cNvSpPr>
          <p:nvPr>
            <p:ph type="body" idx="3"/>
          </p:nvPr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" name="Google Shape;4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62545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26"/>
          <p:cNvCxnSpPr/>
          <p:nvPr/>
        </p:nvCxnSpPr>
        <p:spPr>
          <a:xfrm rot="10800000" flipH="1">
            <a:off x="484505" y="100629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59" name="Google Shape;59;p26"/>
          <p:cNvSpPr txBox="1">
            <a:spLocks noGrp="1"/>
          </p:cNvSpPr>
          <p:nvPr>
            <p:ph type="body" idx="5"/>
          </p:nvPr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0" name="Google Shape;6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28989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28"/>
          <p:cNvPicPr preferRelativeResize="0"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68617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5797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preserve="1">
  <p:cSld name="3_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167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30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" name="Google Shape;81;p30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9587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31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8" name="Google Shape;88;p31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7753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9EFA2-F2A1-0652-5FA3-5893713B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70011-D60E-972E-93C8-77F859EED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9A3C3-D21F-AA6E-59B1-72D2AFA0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10EB3-611F-E095-E085-DA9AE9D4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CFB86-8D40-447F-3E20-ACEE72CB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735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838200" y="1721986"/>
            <a:ext cx="10515600" cy="4454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22"/>
          <p:cNvCxnSpPr/>
          <p:nvPr/>
        </p:nvCxnSpPr>
        <p:spPr>
          <a:xfrm rot="10800000" flipH="1">
            <a:off x="484505" y="100629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5" name="Google Shape;25;p22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2"/>
          </p:nvPr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20727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>
  <p:cSld name="2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29633" y="149433"/>
            <a:ext cx="1339781" cy="43138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3"/>
          <p:cNvSpPr/>
          <p:nvPr/>
        </p:nvSpPr>
        <p:spPr>
          <a:xfrm>
            <a:off x="588335" y="661563"/>
            <a:ext cx="11015330" cy="5534874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973999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25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5"/>
          <p:cNvCxnSpPr/>
          <p:nvPr/>
        </p:nvCxnSpPr>
        <p:spPr>
          <a:xfrm rot="10800000" flipH="1">
            <a:off x="484505" y="100629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45" name="Google Shape;45;p25"/>
          <p:cNvSpPr txBox="1">
            <a:spLocks noGrp="1"/>
          </p:cNvSpPr>
          <p:nvPr>
            <p:ph type="body" idx="3"/>
          </p:nvPr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" name="Google Shape;4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77286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26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26"/>
          <p:cNvCxnSpPr/>
          <p:nvPr/>
        </p:nvCxnSpPr>
        <p:spPr>
          <a:xfrm rot="10800000" flipH="1">
            <a:off x="484505" y="100629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59" name="Google Shape;59;p26"/>
          <p:cNvSpPr txBox="1">
            <a:spLocks noGrp="1"/>
          </p:cNvSpPr>
          <p:nvPr>
            <p:ph type="body" idx="5"/>
          </p:nvPr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0" name="Google Shape;6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60672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/>
          <p:nvPr/>
        </p:nvSpPr>
        <p:spPr>
          <a:xfrm>
            <a:off x="1" y="365125"/>
            <a:ext cx="139148" cy="844700"/>
          </a:xfrm>
          <a:prstGeom prst="rect">
            <a:avLst/>
          </a:prstGeom>
          <a:solidFill>
            <a:srgbClr val="B27C29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27"/>
          <p:cNvCxnSpPr/>
          <p:nvPr/>
        </p:nvCxnSpPr>
        <p:spPr>
          <a:xfrm rot="10800000" flipH="1">
            <a:off x="484505" y="1179014"/>
            <a:ext cx="11427300" cy="4944"/>
          </a:xfrm>
          <a:prstGeom prst="straightConnector1">
            <a:avLst/>
          </a:prstGeom>
          <a:noFill/>
          <a:ln w="38100" cap="flat" cmpd="sng">
            <a:solidFill>
              <a:srgbClr val="8A32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64" name="Google Shape;64;p27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5" name="Google Shape;65;p27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10515600" cy="803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27"/>
          <p:cNvSpPr txBox="1">
            <a:spLocks noGrp="1"/>
          </p:cNvSpPr>
          <p:nvPr>
            <p:ph type="body" idx="1"/>
          </p:nvPr>
        </p:nvSpPr>
        <p:spPr>
          <a:xfrm>
            <a:off x="559906" y="124063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8" name="Google Shape;6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993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50769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4332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30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" name="Google Shape;81;p30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609536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>
                <a:latin typeface="Arial Rounded MT Bold" panose="020F07040305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31"/>
          <p:cNvSpPr/>
          <p:nvPr/>
        </p:nvSpPr>
        <p:spPr>
          <a:xfrm>
            <a:off x="0" y="6492874"/>
            <a:ext cx="12192000" cy="365126"/>
          </a:xfrm>
          <a:custGeom>
            <a:avLst/>
            <a:gdLst/>
            <a:ahLst/>
            <a:cxnLst/>
            <a:rect l="l" t="t" r="r" b="b"/>
            <a:pathLst>
              <a:path w="4481384" h="543697" extrusionOk="0">
                <a:moveTo>
                  <a:pt x="329513" y="0"/>
                </a:moveTo>
                <a:lnTo>
                  <a:pt x="4481384" y="0"/>
                </a:lnTo>
                <a:lnTo>
                  <a:pt x="4481384" y="543697"/>
                </a:lnTo>
                <a:lnTo>
                  <a:pt x="0" y="543697"/>
                </a:lnTo>
                <a:lnTo>
                  <a:pt x="329513" y="0"/>
                </a:lnTo>
                <a:close/>
              </a:path>
            </a:pathLst>
          </a:custGeom>
          <a:gradFill>
            <a:gsLst>
              <a:gs pos="0">
                <a:srgbClr val="B2942C"/>
              </a:gs>
              <a:gs pos="69000">
                <a:srgbClr val="8A3124"/>
              </a:gs>
              <a:gs pos="100000">
                <a:srgbClr val="8A312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548625" tIns="121875" rIns="457200" bIns="1218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8" name="Google Shape;88;p31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9633" y="130137"/>
            <a:ext cx="1339781" cy="469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06575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9EFA2-F2A1-0652-5FA3-5893713B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70011-D60E-972E-93C8-77F859EED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9A3C3-D21F-AA6E-59B1-72D2AFA0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10EB3-611F-E095-E085-DA9AE9D4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CFB86-8D40-447F-3E20-ACEE72CB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758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userDrawn="1">
  <p:cSld name="Title and Content 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>
            <a:spLocks noGrp="1"/>
          </p:cNvSpPr>
          <p:nvPr>
            <p:ph type="title"/>
          </p:nvPr>
        </p:nvSpPr>
        <p:spPr>
          <a:xfrm>
            <a:off x="506956" y="372376"/>
            <a:ext cx="394212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21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3"/>
          <p:cNvSpPr txBox="1">
            <a:spLocks noGrp="1"/>
          </p:cNvSpPr>
          <p:nvPr>
            <p:ph type="ftr" idx="11"/>
          </p:nvPr>
        </p:nvSpPr>
        <p:spPr>
          <a:xfrm>
            <a:off x="1029843" y="6444205"/>
            <a:ext cx="1256427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53"/>
          <p:cNvSpPr txBox="1">
            <a:spLocks noGrp="1"/>
          </p:cNvSpPr>
          <p:nvPr>
            <p:ph type="dt" idx="10"/>
          </p:nvPr>
        </p:nvSpPr>
        <p:spPr>
          <a:xfrm>
            <a:off x="609606" y="6377940"/>
            <a:ext cx="280393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B0D8A844-A8DF-4987-9A36-4272C519FEAA}" type="datetime1">
              <a:rPr lang="en-US" smtClean="0"/>
              <a:t>9/23/2026</a:t>
            </a:fld>
            <a:endParaRPr/>
          </a:p>
        </p:txBody>
      </p:sp>
      <p:sp>
        <p:nvSpPr>
          <p:cNvPr id="20" name="Google Shape;20;p53"/>
          <p:cNvSpPr txBox="1">
            <a:spLocks noGrp="1"/>
          </p:cNvSpPr>
          <p:nvPr>
            <p:ph type="sldNum" idx="12"/>
          </p:nvPr>
        </p:nvSpPr>
        <p:spPr>
          <a:xfrm>
            <a:off x="473088" y="6413217"/>
            <a:ext cx="36669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3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50803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50803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50803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50803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50803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50803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50803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50803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5D7CC7C-6224-B2C5-8C7F-2B641135CEDE}"/>
              </a:ext>
            </a:extLst>
          </p:cNvPr>
          <p:cNvSpPr txBox="1">
            <a:spLocks/>
          </p:cNvSpPr>
          <p:nvPr userDrawn="1"/>
        </p:nvSpPr>
        <p:spPr>
          <a:xfrm>
            <a:off x="11582399" y="6439365"/>
            <a:ext cx="528484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| </a:t>
            </a:r>
            <a:fld id="{A921D9E8-DECC-41F3-947A-55E18105F2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0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74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 Rounded MT Bold" panose="020F0704030504030204" pitchFamily="34" charset="0"/>
          <a:ea typeface="Arial Rounded MT Bold" panose="020F070403050403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EC7BA4-872E-EAFF-4322-D066CA64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C5818-36E3-FC13-EA4A-CF97648C7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F92A1-9C2E-01C5-5A6A-A2FF9A197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38059-6569-4DB4-AD6A-5945EEF8A6B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6F14C-84FF-240E-B3BC-5C3C03C66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1E1A4-94CE-128A-E527-DF180C75B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1807C-EE4A-4D57-AEA9-070A1D29F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82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26518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C8C8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089686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 Rounded MT Bold" panose="020F0704030504030204" pitchFamily="34" charset="0"/>
          <a:ea typeface="Arial Rounded MT Bold" panose="020F070403050403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8.xml"/><Relationship Id="rId7" Type="http://schemas.openxmlformats.org/officeDocument/2006/relationships/image" Target="../media/image30.png"/><Relationship Id="rId12" Type="http://schemas.openxmlformats.org/officeDocument/2006/relationships/image" Target="../media/image48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9.xml"/><Relationship Id="rId11" Type="http://schemas.openxmlformats.org/officeDocument/2006/relationships/image" Target="../media/image47.png"/><Relationship Id="rId5" Type="http://schemas.openxmlformats.org/officeDocument/2006/relationships/slideLayout" Target="../slideLayouts/slideLayout36.xml"/><Relationship Id="rId10" Type="http://schemas.openxmlformats.org/officeDocument/2006/relationships/image" Target="../media/image46.png"/><Relationship Id="rId4" Type="http://schemas.openxmlformats.org/officeDocument/2006/relationships/tags" Target="../tags/tag9.xml"/><Relationship Id="rId9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tags" Target="../tags/tag12.xml"/><Relationship Id="rId7" Type="http://schemas.openxmlformats.org/officeDocument/2006/relationships/image" Target="../media/image76.svg"/><Relationship Id="rId12" Type="http://schemas.openxmlformats.org/officeDocument/2006/relationships/image" Target="../media/image4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notesSlide" Target="../notesSlides/notesSlide12.xml"/><Relationship Id="rId11" Type="http://schemas.openxmlformats.org/officeDocument/2006/relationships/image" Target="../media/image37.png"/><Relationship Id="rId5" Type="http://schemas.openxmlformats.org/officeDocument/2006/relationships/slideLayout" Target="../slideLayouts/slideLayout36.xml"/><Relationship Id="rId10" Type="http://schemas.openxmlformats.org/officeDocument/2006/relationships/image" Target="../media/image79.svg"/><Relationship Id="rId4" Type="http://schemas.openxmlformats.org/officeDocument/2006/relationships/tags" Target="../tags/tag13.xml"/><Relationship Id="rId9" Type="http://schemas.openxmlformats.org/officeDocument/2006/relationships/image" Target="../media/image7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palni.com%7C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0.jpeg"/><Relationship Id="rId5" Type="http://schemas.openxmlformats.org/officeDocument/2006/relationships/image" Target="../media/image89.png"/><Relationship Id="rId4" Type="http://schemas.openxmlformats.org/officeDocument/2006/relationships/hyperlink" Target="http://www.palni.com/" TargetMode="External"/></Relationships>
</file>

<file path=ppt/slides/_rels/slide39.xml.rels><?xml version="1.0" encoding="UTF-8" standalone="yes"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
<Relationships xmlns="http://schemas.openxmlformats.org/package/2006/relationships"><Relationship Id="rId8" Type="http://schemas.openxmlformats.org/officeDocument/2006/relationships/image" Target="../media/image90.svg"/><Relationship Id="rId3" Type="http://schemas.openxmlformats.org/officeDocument/2006/relationships/tags" Target="../tags/tag92.xml"/><Relationship Id="rId7" Type="http://schemas.openxmlformats.org/officeDocument/2006/relationships/image" Target="../media/image91.sv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5" Type="http://schemas.openxmlformats.org/officeDocument/2006/relationships/slideLayout" Target="../slideLayouts/slideLayout36.xml"/><Relationship Id="rId10" Type="http://schemas.openxmlformats.org/officeDocument/2006/relationships/image" Target="../media/image79.svg"/><Relationship Id="rId4" Type="http://schemas.openxmlformats.org/officeDocument/2006/relationships/tags" Target="../tags/tag93.xml"/><Relationship Id="rId9" Type="http://schemas.openxmlformats.org/officeDocument/2006/relationships/image" Target="../media/image92.sv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c_mobile.svg"/><Relationship Id="rId3" Type="http://schemas.openxmlformats.org/officeDocument/2006/relationships/image" Target="../media/ic_laptop.svg"/><Relationship Id="rId4" Type="http://schemas.openxmlformats.org/officeDocument/2006/relationships/image" Target="../media/ic_server.svg"/><Relationship Id="rId5" Type="http://schemas.openxmlformats.org/officeDocument/2006/relationships/image" Target="../media/ic_nodes.sv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c_ai.svg"/><Relationship Id="rId3" Type="http://schemas.openxmlformats.org/officeDocument/2006/relationships/image" Target="../media/ic_doc.svg"/><Relationship Id="rId4" Type="http://schemas.openxmlformats.org/officeDocument/2006/relationships/image" Target="../media/ic_db.svg"/><Relationship Id="rId5" Type="http://schemas.openxmlformats.org/officeDocument/2006/relationships/image" Target="../media/ic_lock.sv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c_chart.svg"/><Relationship Id="rId3" Type="http://schemas.openxmlformats.org/officeDocument/2006/relationships/image" Target="../media/ic_headset.svg"/><Relationship Id="rId4" Type="http://schemas.openxmlformats.org/officeDocument/2006/relationships/image" Target="../media/ic_bot.svg"/><Relationship Id="rId5" Type="http://schemas.openxmlformats.org/officeDocument/2006/relationships/image" Target="../media/ic_nodes.svg"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53C97-50DC-0827-3A2B-289885C6B5C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Montserrat"/>
              </a:rPr>
              <a:t>Enterprise Salesforce Capabilities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6B020-89A1-2E6B-73CA-C29DAA59AE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lang="en" sz="13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B9F05DC6-8F41-548B-6954-15A05A57C779}"/>
              </a:ext>
            </a:extLst>
          </p:cNvPr>
          <p:cNvSpPr/>
          <p:nvPr/>
        </p:nvSpPr>
        <p:spPr>
          <a:xfrm rot="8100000">
            <a:off x="5136348" y="4448749"/>
            <a:ext cx="3665631" cy="109680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E50BC74-746F-FF0F-E611-BA13BC345664}"/>
              </a:ext>
            </a:extLst>
          </p:cNvPr>
          <p:cNvSpPr/>
          <p:nvPr/>
        </p:nvSpPr>
        <p:spPr>
          <a:xfrm rot="2700000">
            <a:off x="5290228" y="2696054"/>
            <a:ext cx="3508353" cy="1096804"/>
          </a:xfrm>
          <a:custGeom>
            <a:avLst/>
            <a:gdLst>
              <a:gd name="connsiteX0" fmla="*/ 3344 w 3508353"/>
              <a:gd name="connsiteY0" fmla="*/ 160623 h 1096804"/>
              <a:gd name="connsiteX1" fmla="*/ 391123 w 3508353"/>
              <a:gd name="connsiteY1" fmla="*/ 0 h 1096804"/>
              <a:gd name="connsiteX2" fmla="*/ 2959951 w 3508353"/>
              <a:gd name="connsiteY2" fmla="*/ 0 h 1096804"/>
              <a:gd name="connsiteX3" fmla="*/ 3508353 w 3508353"/>
              <a:gd name="connsiteY3" fmla="*/ 548402 h 1096804"/>
              <a:gd name="connsiteX4" fmla="*/ 3508352 w 3508353"/>
              <a:gd name="connsiteY4" fmla="*/ 548402 h 1096804"/>
              <a:gd name="connsiteX5" fmla="*/ 2959950 w 3508353"/>
              <a:gd name="connsiteY5" fmla="*/ 1096804 h 1096804"/>
              <a:gd name="connsiteX6" fmla="*/ 932135 w 3508353"/>
              <a:gd name="connsiteY6" fmla="*/ 1096803 h 1096804"/>
              <a:gd name="connsiteX7" fmla="*/ 932135 w 3508353"/>
              <a:gd name="connsiteY7" fmla="*/ 555793 h 1096804"/>
              <a:gd name="connsiteX8" fmla="*/ 383733 w 3508353"/>
              <a:gd name="connsiteY8" fmla="*/ 7391 h 1096804"/>
              <a:gd name="connsiteX9" fmla="*/ 383733 w 3508353"/>
              <a:gd name="connsiteY9" fmla="*/ 7391 h 1096804"/>
              <a:gd name="connsiteX10" fmla="*/ 77117 w 3508353"/>
              <a:gd name="connsiteY10" fmla="*/ 101049 h 1096804"/>
              <a:gd name="connsiteX11" fmla="*/ 0 w 3508353"/>
              <a:gd name="connsiteY11" fmla="*/ 164676 h 109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8353" h="1096804">
                <a:moveTo>
                  <a:pt x="3344" y="160623"/>
                </a:moveTo>
                <a:cubicBezTo>
                  <a:pt x="102586" y="61382"/>
                  <a:pt x="239686" y="0"/>
                  <a:pt x="391123" y="0"/>
                </a:cubicBezTo>
                <a:lnTo>
                  <a:pt x="2959951" y="0"/>
                </a:lnTo>
                <a:cubicBezTo>
                  <a:pt x="3262825" y="0"/>
                  <a:pt x="3508353" y="245528"/>
                  <a:pt x="3508353" y="548402"/>
                </a:cubicBezTo>
                <a:lnTo>
                  <a:pt x="3508352" y="548402"/>
                </a:lnTo>
                <a:cubicBezTo>
                  <a:pt x="3508352" y="851276"/>
                  <a:pt x="3262824" y="1096804"/>
                  <a:pt x="2959950" y="1096804"/>
                </a:cubicBezTo>
                <a:lnTo>
                  <a:pt x="932135" y="1096803"/>
                </a:lnTo>
                <a:lnTo>
                  <a:pt x="932135" y="555793"/>
                </a:lnTo>
                <a:cubicBezTo>
                  <a:pt x="932134" y="252919"/>
                  <a:pt x="686606" y="7391"/>
                  <a:pt x="383733" y="7391"/>
                </a:cubicBezTo>
                <a:lnTo>
                  <a:pt x="383733" y="7391"/>
                </a:lnTo>
                <a:cubicBezTo>
                  <a:pt x="270156" y="7391"/>
                  <a:pt x="164642" y="41919"/>
                  <a:pt x="77117" y="101049"/>
                </a:cubicBezTo>
                <a:lnTo>
                  <a:pt x="0" y="1646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11993BB-77E9-D825-57D5-E2B214A486E9}"/>
              </a:ext>
            </a:extLst>
          </p:cNvPr>
          <p:cNvSpPr/>
          <p:nvPr/>
        </p:nvSpPr>
        <p:spPr>
          <a:xfrm rot="8100000">
            <a:off x="3329094" y="2640448"/>
            <a:ext cx="3665632" cy="1096804"/>
          </a:xfrm>
          <a:custGeom>
            <a:avLst/>
            <a:gdLst>
              <a:gd name="connsiteX0" fmla="*/ 3504465 w 3665632"/>
              <a:gd name="connsiteY0" fmla="*/ 936628 h 1096804"/>
              <a:gd name="connsiteX1" fmla="*/ 3570969 w 3665632"/>
              <a:gd name="connsiteY1" fmla="*/ 856025 h 1096804"/>
              <a:gd name="connsiteX2" fmla="*/ 3664627 w 3665632"/>
              <a:gd name="connsiteY2" fmla="*/ 549409 h 1096804"/>
              <a:gd name="connsiteX3" fmla="*/ 3664627 w 3665632"/>
              <a:gd name="connsiteY3" fmla="*/ 538433 h 1096804"/>
              <a:gd name="connsiteX4" fmla="*/ 3665632 w 3665632"/>
              <a:gd name="connsiteY4" fmla="*/ 548402 h 1096804"/>
              <a:gd name="connsiteX5" fmla="*/ 3665631 w 3665632"/>
              <a:gd name="connsiteY5" fmla="*/ 548402 h 1096804"/>
              <a:gd name="connsiteX6" fmla="*/ 3505008 w 3665632"/>
              <a:gd name="connsiteY6" fmla="*/ 936181 h 1096804"/>
              <a:gd name="connsiteX7" fmla="*/ 160623 w 3665632"/>
              <a:gd name="connsiteY7" fmla="*/ 936180 h 1096804"/>
              <a:gd name="connsiteX8" fmla="*/ 0 w 3665632"/>
              <a:gd name="connsiteY8" fmla="*/ 548401 h 1096804"/>
              <a:gd name="connsiteX9" fmla="*/ 0 w 3665632"/>
              <a:gd name="connsiteY9" fmla="*/ 548402 h 1096804"/>
              <a:gd name="connsiteX10" fmla="*/ 548402 w 3665632"/>
              <a:gd name="connsiteY10" fmla="*/ 0 h 1096804"/>
              <a:gd name="connsiteX11" fmla="*/ 2567824 w 3665632"/>
              <a:gd name="connsiteY11" fmla="*/ 0 h 1096804"/>
              <a:gd name="connsiteX12" fmla="*/ 2567823 w 3665632"/>
              <a:gd name="connsiteY12" fmla="*/ 549408 h 1096804"/>
              <a:gd name="connsiteX13" fmla="*/ 3005703 w 3665632"/>
              <a:gd name="connsiteY13" fmla="*/ 1086668 h 1096804"/>
              <a:gd name="connsiteX14" fmla="*/ 3106249 w 3665632"/>
              <a:gd name="connsiteY14" fmla="*/ 1096804 h 1096804"/>
              <a:gd name="connsiteX15" fmla="*/ 548402 w 3665632"/>
              <a:gd name="connsiteY15" fmla="*/ 1096803 h 1096804"/>
              <a:gd name="connsiteX16" fmla="*/ 160623 w 3665632"/>
              <a:gd name="connsiteY16" fmla="*/ 936180 h 109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65632" h="1096804">
                <a:moveTo>
                  <a:pt x="3504465" y="936628"/>
                </a:moveTo>
                <a:lnTo>
                  <a:pt x="3570969" y="856025"/>
                </a:lnTo>
                <a:cubicBezTo>
                  <a:pt x="3630100" y="768500"/>
                  <a:pt x="3664627" y="662987"/>
                  <a:pt x="3664627" y="549409"/>
                </a:cubicBezTo>
                <a:lnTo>
                  <a:pt x="3664627" y="538433"/>
                </a:lnTo>
                <a:lnTo>
                  <a:pt x="3665632" y="548402"/>
                </a:lnTo>
                <a:lnTo>
                  <a:pt x="3665631" y="548402"/>
                </a:lnTo>
                <a:cubicBezTo>
                  <a:pt x="3665631" y="699839"/>
                  <a:pt x="3604249" y="836939"/>
                  <a:pt x="3505008" y="936181"/>
                </a:cubicBezTo>
                <a:close/>
                <a:moveTo>
                  <a:pt x="160623" y="936180"/>
                </a:moveTo>
                <a:cubicBezTo>
                  <a:pt x="61382" y="836938"/>
                  <a:pt x="0" y="699838"/>
                  <a:pt x="0" y="548401"/>
                </a:cubicBezTo>
                <a:lnTo>
                  <a:pt x="0" y="548402"/>
                </a:lnTo>
                <a:cubicBezTo>
                  <a:pt x="0" y="245528"/>
                  <a:pt x="245528" y="0"/>
                  <a:pt x="548402" y="0"/>
                </a:cubicBezTo>
                <a:lnTo>
                  <a:pt x="2567824" y="0"/>
                </a:lnTo>
                <a:lnTo>
                  <a:pt x="2567823" y="549408"/>
                </a:lnTo>
                <a:cubicBezTo>
                  <a:pt x="2567823" y="814422"/>
                  <a:pt x="2755806" y="1035532"/>
                  <a:pt x="3005703" y="1086668"/>
                </a:cubicBezTo>
                <a:lnTo>
                  <a:pt x="3106249" y="1096804"/>
                </a:lnTo>
                <a:lnTo>
                  <a:pt x="548402" y="1096803"/>
                </a:lnTo>
                <a:cubicBezTo>
                  <a:pt x="396965" y="1096803"/>
                  <a:pt x="259865" y="1035421"/>
                  <a:pt x="160623" y="9361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40D5BF0-4849-1AB0-F2EF-582CA923209D}"/>
              </a:ext>
            </a:extLst>
          </p:cNvPr>
          <p:cNvSpPr/>
          <p:nvPr/>
        </p:nvSpPr>
        <p:spPr>
          <a:xfrm rot="13500000">
            <a:off x="3351685" y="4400917"/>
            <a:ext cx="3511357" cy="1096804"/>
          </a:xfrm>
          <a:custGeom>
            <a:avLst/>
            <a:gdLst>
              <a:gd name="connsiteX0" fmla="*/ 3350733 w 3511357"/>
              <a:gd name="connsiteY0" fmla="*/ 936181 h 1096804"/>
              <a:gd name="connsiteX1" fmla="*/ 2962954 w 3511357"/>
              <a:gd name="connsiteY1" fmla="*/ 1096804 h 1096804"/>
              <a:gd name="connsiteX2" fmla="*/ 928495 w 3511357"/>
              <a:gd name="connsiteY2" fmla="*/ 1096803 h 1096804"/>
              <a:gd name="connsiteX3" fmla="*/ 928495 w 3511357"/>
              <a:gd name="connsiteY3" fmla="*/ 562438 h 1096804"/>
              <a:gd name="connsiteX4" fmla="*/ 380093 w 3511357"/>
              <a:gd name="connsiteY4" fmla="*/ 14036 h 1096804"/>
              <a:gd name="connsiteX5" fmla="*/ 380094 w 3511357"/>
              <a:gd name="connsiteY5" fmla="*/ 14035 h 1096804"/>
              <a:gd name="connsiteX6" fmla="*/ 73477 w 3511357"/>
              <a:gd name="connsiteY6" fmla="*/ 107694 h 1096804"/>
              <a:gd name="connsiteX7" fmla="*/ 0 w 3511357"/>
              <a:gd name="connsiteY7" fmla="*/ 168317 h 1096804"/>
              <a:gd name="connsiteX8" fmla="*/ 6348 w 3511357"/>
              <a:gd name="connsiteY8" fmla="*/ 160623 h 1096804"/>
              <a:gd name="connsiteX9" fmla="*/ 394127 w 3511357"/>
              <a:gd name="connsiteY9" fmla="*/ 0 h 1096804"/>
              <a:gd name="connsiteX10" fmla="*/ 2962955 w 3511357"/>
              <a:gd name="connsiteY10" fmla="*/ 0 h 1096804"/>
              <a:gd name="connsiteX11" fmla="*/ 3511357 w 3511357"/>
              <a:gd name="connsiteY11" fmla="*/ 548402 h 1096804"/>
              <a:gd name="connsiteX12" fmla="*/ 3511356 w 3511357"/>
              <a:gd name="connsiteY12" fmla="*/ 548402 h 1096804"/>
              <a:gd name="connsiteX13" fmla="*/ 3350733 w 3511357"/>
              <a:gd name="connsiteY13" fmla="*/ 936181 h 109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11357" h="1096804">
                <a:moveTo>
                  <a:pt x="3350733" y="936181"/>
                </a:moveTo>
                <a:cubicBezTo>
                  <a:pt x="3251491" y="1035422"/>
                  <a:pt x="3114391" y="1096804"/>
                  <a:pt x="2962954" y="1096804"/>
                </a:cubicBezTo>
                <a:lnTo>
                  <a:pt x="928495" y="1096803"/>
                </a:lnTo>
                <a:lnTo>
                  <a:pt x="928495" y="562438"/>
                </a:lnTo>
                <a:cubicBezTo>
                  <a:pt x="928496" y="259564"/>
                  <a:pt x="682968" y="14036"/>
                  <a:pt x="380093" y="14036"/>
                </a:cubicBezTo>
                <a:lnTo>
                  <a:pt x="380094" y="14035"/>
                </a:lnTo>
                <a:cubicBezTo>
                  <a:pt x="266516" y="14036"/>
                  <a:pt x="161002" y="48563"/>
                  <a:pt x="73477" y="107694"/>
                </a:cubicBezTo>
                <a:lnTo>
                  <a:pt x="0" y="168317"/>
                </a:lnTo>
                <a:lnTo>
                  <a:pt x="6348" y="160623"/>
                </a:lnTo>
                <a:cubicBezTo>
                  <a:pt x="105590" y="61382"/>
                  <a:pt x="242690" y="0"/>
                  <a:pt x="394127" y="0"/>
                </a:cubicBezTo>
                <a:lnTo>
                  <a:pt x="2962955" y="0"/>
                </a:lnTo>
                <a:cubicBezTo>
                  <a:pt x="3265829" y="0"/>
                  <a:pt x="3511357" y="245528"/>
                  <a:pt x="3511357" y="548402"/>
                </a:cubicBezTo>
                <a:lnTo>
                  <a:pt x="3511356" y="548402"/>
                </a:lnTo>
                <a:cubicBezTo>
                  <a:pt x="3511356" y="699839"/>
                  <a:pt x="3449974" y="836939"/>
                  <a:pt x="3350733" y="93618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25C10D7-34B1-09E7-9EC4-D4849D7E61FA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3769763" y="3639798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EF8A0F4-4B3F-F465-442D-4039D80FF02C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602417" y="5440245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B60C3EB-9173-9ED5-D62D-7F6F4A2F48A9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7456026" y="3639798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B710974-F85E-700B-7CA4-93955A212DAD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577740" y="1814542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010B79A-7C91-C563-B11C-5ACA0EF30E41}"/>
              </a:ext>
            </a:extLst>
          </p:cNvPr>
          <p:cNvSpPr/>
          <p:nvPr/>
        </p:nvSpPr>
        <p:spPr bwMode="auto">
          <a:xfrm>
            <a:off x="681668" y="1750389"/>
            <a:ext cx="3336578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912D1B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Sales Cloud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 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Opportunity &amp; pipeline management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Forecasting &amp; reporting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Sales process automation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6FACEE2-6D2F-CCEC-700F-B3E7C11B96CF}"/>
              </a:ext>
            </a:extLst>
          </p:cNvPr>
          <p:cNvSpPr/>
          <p:nvPr/>
        </p:nvSpPr>
        <p:spPr bwMode="auto">
          <a:xfrm>
            <a:off x="8205522" y="1750389"/>
            <a:ext cx="3707478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C58A2D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Experience Cloud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Customer &amp; partner portals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Self-service experiences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Digital engagement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7D9F29F-E3B1-D4FD-CF1E-1ECFEE1F457A}"/>
              </a:ext>
            </a:extLst>
          </p:cNvPr>
          <p:cNvSpPr/>
          <p:nvPr/>
        </p:nvSpPr>
        <p:spPr bwMode="auto">
          <a:xfrm>
            <a:off x="685206" y="4627556"/>
            <a:ext cx="3336578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F2B8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Service Cloud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Case management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Omnichannel routing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Knowledge &amp; automation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8CE7ED5-A452-525D-966B-4C7CA76D83E4}"/>
              </a:ext>
            </a:extLst>
          </p:cNvPr>
          <p:cNvSpPr/>
          <p:nvPr/>
        </p:nvSpPr>
        <p:spPr bwMode="auto">
          <a:xfrm>
            <a:off x="8205522" y="4627556"/>
            <a:ext cx="3585422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2400" b="1" i="0" u="sng" strike="noStrike" kern="0" cap="none" spc="0" normalizeH="0" baseline="0" noProof="0" dirty="0">
                <a:ln>
                  <a:noFill/>
                </a:ln>
                <a:solidFill>
                  <a:srgbClr val="2C2C2C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Platform and Integration</a:t>
            </a:r>
            <a:endParaRPr kumimoji="0" lang="en-IN" sz="2000" b="1" i="0" u="sng" strike="noStrike" kern="0" cap="none" spc="0" normalizeH="0" baseline="0" noProof="0" dirty="0">
              <a:ln>
                <a:noFill/>
              </a:ln>
              <a:solidFill>
                <a:srgbClr val="2C2C2C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Apex / Lightning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APIs &amp; middleware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Data integrations</a:t>
            </a:r>
          </a:p>
        </p:txBody>
      </p:sp>
      <p:pic>
        <p:nvPicPr>
          <p:cNvPr id="2" name="Google Shape;302;p7">
            <a:extLst>
              <a:ext uri="{FF2B5EF4-FFF2-40B4-BE49-F238E27FC236}">
                <a16:creationId xmlns:a16="http://schemas.microsoft.com/office/drawing/2014/main" id="{685ACD69-263C-F149-D8A1-56E9479BF74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75772" y="3562437"/>
            <a:ext cx="1403214" cy="10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4548ED-C8E3-96F1-1096-0D5F8737431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782" y="3631084"/>
            <a:ext cx="923636" cy="923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DA4260-579A-EF73-C560-640AA20FE05D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7286" y="1890234"/>
            <a:ext cx="824543" cy="8245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AC2757-6693-87E5-013D-3CF40029A5EC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8699" y="5399692"/>
            <a:ext cx="1011072" cy="10110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CEF6EC-DC54-DAA9-0F18-49F4A2A97847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1929" y="3743081"/>
            <a:ext cx="720906" cy="72090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12A1115-C550-79CE-0957-3F95A9C40178}"/>
              </a:ext>
            </a:extLst>
          </p:cNvPr>
          <p:cNvSpPr txBox="1">
            <a:spLocks/>
          </p:cNvSpPr>
          <p:nvPr/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 dirty="0"/>
              <a:t>Revenue and customer experience platforms, from Sales Cloud to </a:t>
            </a:r>
            <a:r>
              <a:rPr lang="en-US" dirty="0" err="1"/>
              <a:t>Agentforce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073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36B5E-1837-C407-73E6-4AEC768F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704A2FA2-0CF8-5470-536A-A24C59A6E79C}"/>
              </a:ext>
            </a:extLst>
          </p:cNvPr>
          <p:cNvSpPr>
            <a:spLocks noChangeAspect="1"/>
          </p:cNvSpPr>
          <p:nvPr/>
        </p:nvSpPr>
        <p:spPr>
          <a:xfrm>
            <a:off x="6230687" y="4811331"/>
            <a:ext cx="831273" cy="8312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B4B79A-23EB-3F9C-30D9-F7CDB51994C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Montserrat"/>
              </a:rPr>
              <a:t>Expanded Salesforce Capabilities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4895E-CDF3-C0B8-3316-A0B0030288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lang="en" sz="13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92C92B-7DD7-C249-E5BB-D945A4250AC5}"/>
              </a:ext>
            </a:extLst>
          </p:cNvPr>
          <p:cNvSpPr/>
          <p:nvPr/>
        </p:nvSpPr>
        <p:spPr>
          <a:xfrm>
            <a:off x="1798734" y="1639937"/>
            <a:ext cx="4240559" cy="2150400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912D1B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Agentforce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912D1B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AI &amp; Intelligent Automation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AI agents embedded into Salesforce workflows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Guides sales reps with next-best actions in real time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Automates follow-ups and reduces manual CRM updates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Accelerates case resolution with AI-assisted responses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Orchestrates workflows across Salesforce and external systems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8906A5-007C-E690-0A52-EE26C3C8BD06}"/>
              </a:ext>
            </a:extLst>
          </p:cNvPr>
          <p:cNvSpPr/>
          <p:nvPr/>
        </p:nvSpPr>
        <p:spPr>
          <a:xfrm>
            <a:off x="1514954" y="1639937"/>
            <a:ext cx="283779" cy="21504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0760CD-30EC-7A42-BBC8-8B302F452308}"/>
              </a:ext>
            </a:extLst>
          </p:cNvPr>
          <p:cNvSpPr>
            <a:spLocks noChangeAspect="1"/>
          </p:cNvSpPr>
          <p:nvPr/>
        </p:nvSpPr>
        <p:spPr>
          <a:xfrm>
            <a:off x="469073" y="2296793"/>
            <a:ext cx="831273" cy="8312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77F83-2126-AF12-856D-39AD5691E12B}"/>
              </a:ext>
            </a:extLst>
          </p:cNvPr>
          <p:cNvCxnSpPr>
            <a:cxnSpLocks/>
            <a:stCxn id="6" idx="6"/>
            <a:endCxn id="3" idx="1"/>
          </p:cNvCxnSpPr>
          <p:nvPr/>
        </p:nvCxnSpPr>
        <p:spPr>
          <a:xfrm>
            <a:off x="1300346" y="2712430"/>
            <a:ext cx="214608" cy="270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61229D4-A38D-D640-8690-811A4F53C7A1}"/>
              </a:ext>
            </a:extLst>
          </p:cNvPr>
          <p:cNvSpPr/>
          <p:nvPr/>
        </p:nvSpPr>
        <p:spPr>
          <a:xfrm>
            <a:off x="1798734" y="4144646"/>
            <a:ext cx="4240559" cy="2150400"/>
          </a:xfrm>
          <a:prstGeom prst="rect">
            <a:avLst/>
          </a:prstGeom>
          <a:solidFill>
            <a:srgbClr val="F2F2F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58A2D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Industry Clouds (Health, Financial Services, Manufacturing)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Industry-specific solutions tailored to complex business models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Health Cloud: unified patient view and care coordination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Financial Services Cloud: relationship-based client management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Manufacturing Cloud: aligned forecasting and demand planning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F2DCC-A862-45A3-9CBF-4B3F409D879A}"/>
              </a:ext>
            </a:extLst>
          </p:cNvPr>
          <p:cNvSpPr/>
          <p:nvPr/>
        </p:nvSpPr>
        <p:spPr>
          <a:xfrm>
            <a:off x="1514954" y="4144646"/>
            <a:ext cx="283779" cy="21504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26B37D-406A-E8F9-9A3D-A461AC119A5D}"/>
              </a:ext>
            </a:extLst>
          </p:cNvPr>
          <p:cNvSpPr>
            <a:spLocks noChangeAspect="1"/>
          </p:cNvSpPr>
          <p:nvPr/>
        </p:nvSpPr>
        <p:spPr>
          <a:xfrm>
            <a:off x="469073" y="4811331"/>
            <a:ext cx="831273" cy="83127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F8F89E-52AA-B3A5-3397-32B2A2C389F2}"/>
              </a:ext>
            </a:extLst>
          </p:cNvPr>
          <p:cNvCxnSpPr>
            <a:cxnSpLocks/>
            <a:stCxn id="10" idx="6"/>
            <a:endCxn id="9" idx="1"/>
          </p:cNvCxnSpPr>
          <p:nvPr/>
        </p:nvCxnSpPr>
        <p:spPr>
          <a:xfrm flipV="1">
            <a:off x="1300346" y="5219846"/>
            <a:ext cx="214608" cy="7122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5E10B-2A16-A4CA-FF77-07E569A53D20}"/>
              </a:ext>
            </a:extLst>
          </p:cNvPr>
          <p:cNvSpPr/>
          <p:nvPr/>
        </p:nvSpPr>
        <p:spPr>
          <a:xfrm>
            <a:off x="7560348" y="1639937"/>
            <a:ext cx="4240559" cy="2150400"/>
          </a:xfrm>
          <a:prstGeom prst="rect">
            <a:avLst/>
          </a:prstGeom>
          <a:solidFill>
            <a:srgbClr val="F2F2F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Revenue &amp; CPQ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End-to-end quote-to-cash execution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Accelerates deal cycles with automated quoting and approvals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Improves pricing accuracy and discount governance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Streamlines contract lifecycle from quote to revenue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Provides visibility into revenue and pipeline performance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73AA38-390A-7495-E0E1-3D75B233FF20}"/>
              </a:ext>
            </a:extLst>
          </p:cNvPr>
          <p:cNvSpPr/>
          <p:nvPr/>
        </p:nvSpPr>
        <p:spPr>
          <a:xfrm>
            <a:off x="7276568" y="1639937"/>
            <a:ext cx="283779" cy="2150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1435AE-EC62-B5B5-C962-1442BEEE3177}"/>
              </a:ext>
            </a:extLst>
          </p:cNvPr>
          <p:cNvSpPr>
            <a:spLocks noChangeAspect="1"/>
          </p:cNvSpPr>
          <p:nvPr/>
        </p:nvSpPr>
        <p:spPr>
          <a:xfrm>
            <a:off x="6230687" y="2296793"/>
            <a:ext cx="831273" cy="83127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8F7682-ACB7-CDCB-D548-677428E9A3EA}"/>
              </a:ext>
            </a:extLst>
          </p:cNvPr>
          <p:cNvCxnSpPr>
            <a:cxnSpLocks/>
            <a:stCxn id="16" idx="6"/>
            <a:endCxn id="15" idx="1"/>
          </p:cNvCxnSpPr>
          <p:nvPr/>
        </p:nvCxnSpPr>
        <p:spPr>
          <a:xfrm>
            <a:off x="7061960" y="2712430"/>
            <a:ext cx="214608" cy="2707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32714AD-F519-226B-DD57-816D3730C860}"/>
              </a:ext>
            </a:extLst>
          </p:cNvPr>
          <p:cNvSpPr/>
          <p:nvPr/>
        </p:nvSpPr>
        <p:spPr>
          <a:xfrm>
            <a:off x="7560348" y="4152959"/>
            <a:ext cx="4240559" cy="2150400"/>
          </a:xfrm>
          <a:prstGeom prst="rect">
            <a:avLst/>
          </a:prstGeom>
          <a:solidFill>
            <a:srgbClr val="F2F2F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Customer Experience &amp; Engagement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Personalized, data-driven customer journeys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Delivers targeted campaigns based on customer behavior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Improves engagement with personalized interactions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Provides unified customer insights across touchpoints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Drives retention and lifetime value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2DD039-A514-CA18-57F4-1EFC94D1A476}"/>
              </a:ext>
            </a:extLst>
          </p:cNvPr>
          <p:cNvSpPr/>
          <p:nvPr/>
        </p:nvSpPr>
        <p:spPr>
          <a:xfrm>
            <a:off x="7276568" y="4144646"/>
            <a:ext cx="283779" cy="21504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A72A11-F320-910E-C878-49E117E46199}"/>
              </a:ext>
            </a:extLst>
          </p:cNvPr>
          <p:cNvCxnSpPr>
            <a:cxnSpLocks/>
            <a:stCxn id="25" idx="6"/>
            <a:endCxn id="24" idx="1"/>
          </p:cNvCxnSpPr>
          <p:nvPr/>
        </p:nvCxnSpPr>
        <p:spPr>
          <a:xfrm flipV="1">
            <a:off x="7061960" y="5219846"/>
            <a:ext cx="214608" cy="7122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EAC413C0-7BC8-45CD-82D5-FE3A84A5753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8480" y="4824100"/>
            <a:ext cx="855687" cy="85568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5B7C305-F2D2-11ED-B648-7CC5CDB50AC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080" y="4861284"/>
            <a:ext cx="781320" cy="78132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B566611-3045-7B88-AC5F-956F75E04DC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2755" y="2227654"/>
            <a:ext cx="950351" cy="95035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B32628A-A2DE-6045-B30E-81E1444423C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080" y="2296793"/>
            <a:ext cx="727073" cy="727073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DC4C1D-49CF-6D1E-662F-3862154E46D5}"/>
              </a:ext>
            </a:extLst>
          </p:cNvPr>
          <p:cNvSpPr txBox="1">
            <a:spLocks/>
          </p:cNvSpPr>
          <p:nvPr/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 dirty="0"/>
              <a:t>From </a:t>
            </a:r>
            <a:r>
              <a:rPr lang="en-US" dirty="0" err="1"/>
              <a:t>Agentforce</a:t>
            </a:r>
            <a:r>
              <a:rPr lang="en-US" dirty="0"/>
              <a:t> AI to industry clouds, built for revenue teams.</a:t>
            </a:r>
          </a:p>
        </p:txBody>
      </p:sp>
    </p:spTree>
    <p:extLst>
      <p:ext uri="{BB962C8B-B14F-4D97-AF65-F5344CB8AC3E}">
        <p14:creationId xmlns:p14="http://schemas.microsoft.com/office/powerpoint/2010/main" val="197782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53EF-137E-DF94-3C83-2CDD5127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6CBC-223F-957F-73D5-F03E83AC70C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Montserrat"/>
              </a:rPr>
              <a:t>Certified Salesforce Talent at Scale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443B4-9C51-CCE9-11EB-977420FFBD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8AEC5C3-9B6E-7F9B-7EF6-EF79FA111B61}"/>
              </a:ext>
            </a:extLst>
          </p:cNvPr>
          <p:cNvGrpSpPr/>
          <p:nvPr/>
        </p:nvGrpSpPr>
        <p:grpSpPr>
          <a:xfrm>
            <a:off x="195835" y="1897498"/>
            <a:ext cx="11486382" cy="3939257"/>
            <a:chOff x="195835" y="1321765"/>
            <a:chExt cx="11486382" cy="3939257"/>
          </a:xfrm>
        </p:grpSpPr>
        <p:pic>
          <p:nvPicPr>
            <p:cNvPr id="5" name="Google Shape;424;p38" descr="Certification - Architect Overview">
              <a:extLst>
                <a:ext uri="{FF2B5EF4-FFF2-40B4-BE49-F238E27FC236}">
                  <a16:creationId xmlns:a16="http://schemas.microsoft.com/office/drawing/2014/main" id="{987073A0-7544-0B94-DCF1-E11966EFC6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63428" y="1424618"/>
              <a:ext cx="986806" cy="965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425;p38" descr="Certification - Architect Overview">
              <a:extLst>
                <a:ext uri="{FF2B5EF4-FFF2-40B4-BE49-F238E27FC236}">
                  <a16:creationId xmlns:a16="http://schemas.microsoft.com/office/drawing/2014/main" id="{9D81A088-AC47-ADDE-C6BE-CE5667F9678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03410" y="1424618"/>
              <a:ext cx="986806" cy="965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426;p38" descr="Certification - Integration Architect">
              <a:extLst>
                <a:ext uri="{FF2B5EF4-FFF2-40B4-BE49-F238E27FC236}">
                  <a16:creationId xmlns:a16="http://schemas.microsoft.com/office/drawing/2014/main" id="{9051E1FE-7357-94E5-E058-12C012E2FE9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46148" y="1446387"/>
              <a:ext cx="989662" cy="968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427;p38" descr="A blue and white label with white text&#10;&#10;AI-generated content may be incorrect.">
              <a:extLst>
                <a:ext uri="{FF2B5EF4-FFF2-40B4-BE49-F238E27FC236}">
                  <a16:creationId xmlns:a16="http://schemas.microsoft.com/office/drawing/2014/main" id="{CE07C900-C848-627A-ED40-5BAE2541E50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35811" y="1364143"/>
              <a:ext cx="1156405" cy="11384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7" name="Google Shape;428;p38">
              <a:extLst>
                <a:ext uri="{FF2B5EF4-FFF2-40B4-BE49-F238E27FC236}">
                  <a16:creationId xmlns:a16="http://schemas.microsoft.com/office/drawing/2014/main" id="{54F07A69-2BF1-AA1B-D0CB-E058478991C5}"/>
                </a:ext>
              </a:extLst>
            </p:cNvPr>
            <p:cNvCxnSpPr/>
            <p:nvPr/>
          </p:nvCxnSpPr>
          <p:spPr>
            <a:xfrm>
              <a:off x="2905628" y="2534066"/>
              <a:ext cx="8682139" cy="0"/>
            </a:xfrm>
            <a:prstGeom prst="straightConnector1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429;p38">
              <a:extLst>
                <a:ext uri="{FF2B5EF4-FFF2-40B4-BE49-F238E27FC236}">
                  <a16:creationId xmlns:a16="http://schemas.microsoft.com/office/drawing/2014/main" id="{A07141D5-E196-DA2A-52B1-8C79A554B762}"/>
                </a:ext>
              </a:extLst>
            </p:cNvPr>
            <p:cNvCxnSpPr/>
            <p:nvPr/>
          </p:nvCxnSpPr>
          <p:spPr>
            <a:xfrm>
              <a:off x="2905628" y="3924595"/>
              <a:ext cx="8682139" cy="0"/>
            </a:xfrm>
            <a:prstGeom prst="straightConnector1">
              <a:avLst/>
            </a:prstGeom>
            <a:noFill/>
            <a:ln w="127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41" name="Google Shape;430;p38" descr="Logo, company name&#10;&#10;Description automatically generated">
              <a:extLst>
                <a:ext uri="{FF2B5EF4-FFF2-40B4-BE49-F238E27FC236}">
                  <a16:creationId xmlns:a16="http://schemas.microsoft.com/office/drawing/2014/main" id="{9C81AF9D-5D64-E1E9-A242-2848166E7D4E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17235" y="2724211"/>
              <a:ext cx="991107" cy="991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1;p38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CB59B371-6598-8924-61AE-6E6C296C3F0D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034201" y="2746495"/>
              <a:ext cx="945651" cy="946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32;p38" descr="A blue hexagon with white text&#10;&#10;AI-generated content may be incorrect.">
              <a:extLst>
                <a:ext uri="{FF2B5EF4-FFF2-40B4-BE49-F238E27FC236}">
                  <a16:creationId xmlns:a16="http://schemas.microsoft.com/office/drawing/2014/main" id="{56EDD405-2EE0-C8EC-8193-AF2BE9CC3A98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221971" y="2724213"/>
              <a:ext cx="1023754" cy="10243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33;p38" descr="Logo, company name&#10;&#10;Description automatically generated">
              <a:extLst>
                <a:ext uri="{FF2B5EF4-FFF2-40B4-BE49-F238E27FC236}">
                  <a16:creationId xmlns:a16="http://schemas.microsoft.com/office/drawing/2014/main" id="{514167E5-E7C4-1291-4AA9-7FDAC022F37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050234" y="2700845"/>
              <a:ext cx="991106" cy="9917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34;p38" descr="A blue and white label with white text&#10;&#10;Description automatically generated">
              <a:extLst>
                <a:ext uri="{FF2B5EF4-FFF2-40B4-BE49-F238E27FC236}">
                  <a16:creationId xmlns:a16="http://schemas.microsoft.com/office/drawing/2014/main" id="{AA94404A-ECF6-481A-6EB9-C7B0C8874040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7209126" y="1321765"/>
              <a:ext cx="1156405" cy="113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435;p38" descr="Certification Logo* Certified Sharing and Visibility ...">
              <a:extLst>
                <a:ext uri="{FF2B5EF4-FFF2-40B4-BE49-F238E27FC236}">
                  <a16:creationId xmlns:a16="http://schemas.microsoft.com/office/drawing/2014/main" id="{54735F0B-FF31-C7C9-F751-29BC1FD0FE8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432223" y="1482711"/>
              <a:ext cx="1006623" cy="9894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436;p38" descr="Logo, company name&#10;&#10;Description automatically generated">
              <a:extLst>
                <a:ext uri="{FF2B5EF4-FFF2-40B4-BE49-F238E27FC236}">
                  <a16:creationId xmlns:a16="http://schemas.microsoft.com/office/drawing/2014/main" id="{7E49F57D-A849-71BC-ACF4-531EF7A2E52C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963537" y="4243611"/>
              <a:ext cx="985768" cy="9936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437;p38" descr="A blue hexagon with white text&#10;&#10;AI-generated content may be incorrect.">
              <a:extLst>
                <a:ext uri="{FF2B5EF4-FFF2-40B4-BE49-F238E27FC236}">
                  <a16:creationId xmlns:a16="http://schemas.microsoft.com/office/drawing/2014/main" id="{C502B71A-9820-B86A-90F5-94AC96C0012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9505537" y="1472543"/>
              <a:ext cx="1006623" cy="10072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438;p38" descr="A hexagon with white text and blue clouds&#10;&#10;AI-generated content may be incorrect.">
              <a:extLst>
                <a:ext uri="{FF2B5EF4-FFF2-40B4-BE49-F238E27FC236}">
                  <a16:creationId xmlns:a16="http://schemas.microsoft.com/office/drawing/2014/main" id="{57A1823D-7B63-F372-753C-AA8F4448923D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0581144" y="1482712"/>
              <a:ext cx="1006623" cy="1015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439;p38" descr="Icon&#10;&#10;Description automatically generated">
              <a:extLst>
                <a:ext uri="{FF2B5EF4-FFF2-40B4-BE49-F238E27FC236}">
                  <a16:creationId xmlns:a16="http://schemas.microsoft.com/office/drawing/2014/main" id="{AD7A0007-49B2-45E6-8BF4-190B3C9C9672}"/>
                </a:ext>
              </a:extLst>
            </p:cNvPr>
            <p:cNvPicPr preferRelativeResize="0"/>
            <p:nvPr/>
          </p:nvPicPr>
          <p:blipFill rotWithShape="1">
            <a:blip r:embed="rId16">
              <a:alphaModFix/>
            </a:blip>
            <a:srcRect l="9195" t="3424" r="11765" b="4621"/>
            <a:stretch/>
          </p:blipFill>
          <p:spPr>
            <a:xfrm>
              <a:off x="10264946" y="4139340"/>
              <a:ext cx="1095153" cy="1110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440;p38" descr="Logo, company name&#10;&#10;Description automatically generated">
              <a:extLst>
                <a:ext uri="{FF2B5EF4-FFF2-40B4-BE49-F238E27FC236}">
                  <a16:creationId xmlns:a16="http://schemas.microsoft.com/office/drawing/2014/main" id="{0260A65C-C4D2-500D-23E7-2BEC75C94D06}"/>
                </a:ext>
              </a:extLst>
            </p:cNvPr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4262578" y="4165869"/>
              <a:ext cx="1072916" cy="1083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441;p38" descr="A blue hexagon with white text&#10;&#10;AI-generated content may be incorrect.">
              <a:extLst>
                <a:ext uri="{FF2B5EF4-FFF2-40B4-BE49-F238E27FC236}">
                  <a16:creationId xmlns:a16="http://schemas.microsoft.com/office/drawing/2014/main" id="{3943E461-C5F3-2280-A4E6-A3E5DA95DC4C}"/>
                </a:ext>
              </a:extLst>
            </p:cNvPr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5416111" y="4165869"/>
              <a:ext cx="1159009" cy="10951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442;p38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3DE93C3F-E149-B0AD-E2E2-D03CE92B5DD7}"/>
                </a:ext>
              </a:extLst>
            </p:cNvPr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9095672" y="4156452"/>
              <a:ext cx="1083518" cy="10835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443;p38">
              <a:extLst>
                <a:ext uri="{FF2B5EF4-FFF2-40B4-BE49-F238E27FC236}">
                  <a16:creationId xmlns:a16="http://schemas.microsoft.com/office/drawing/2014/main" id="{DBAA98B3-A4CC-5E37-4E68-9E04735FCF43}"/>
                </a:ext>
              </a:extLst>
            </p:cNvPr>
            <p:cNvSpPr/>
            <p:nvPr/>
          </p:nvSpPr>
          <p:spPr>
            <a:xfrm>
              <a:off x="195835" y="4290599"/>
              <a:ext cx="2525075" cy="56701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9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DevOps, Domain &amp; Others</a:t>
              </a:r>
              <a:endParaRPr sz="1400"/>
            </a:p>
          </p:txBody>
        </p:sp>
        <p:sp>
          <p:nvSpPr>
            <p:cNvPr id="69" name="Google Shape;444;p38">
              <a:extLst>
                <a:ext uri="{FF2B5EF4-FFF2-40B4-BE49-F238E27FC236}">
                  <a16:creationId xmlns:a16="http://schemas.microsoft.com/office/drawing/2014/main" id="{A2C66540-EE47-1526-D675-BB233FDEA263}"/>
                </a:ext>
              </a:extLst>
            </p:cNvPr>
            <p:cNvSpPr/>
            <p:nvPr/>
          </p:nvSpPr>
          <p:spPr>
            <a:xfrm>
              <a:off x="206942" y="2929900"/>
              <a:ext cx="2531145" cy="56701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9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Marketing (DX)</a:t>
              </a:r>
              <a:endParaRPr sz="1400"/>
            </a:p>
          </p:txBody>
        </p:sp>
        <p:sp>
          <p:nvSpPr>
            <p:cNvPr id="71" name="Google Shape;445;p38">
              <a:extLst>
                <a:ext uri="{FF2B5EF4-FFF2-40B4-BE49-F238E27FC236}">
                  <a16:creationId xmlns:a16="http://schemas.microsoft.com/office/drawing/2014/main" id="{722CF78C-1D93-0210-1114-D57E59F6FA89}"/>
                </a:ext>
              </a:extLst>
            </p:cNvPr>
            <p:cNvSpPr/>
            <p:nvPr/>
          </p:nvSpPr>
          <p:spPr>
            <a:xfrm>
              <a:off x="206941" y="1580784"/>
              <a:ext cx="2554624" cy="56701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9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Architecture (Core)</a:t>
              </a:r>
              <a:endParaRPr sz="1400"/>
            </a:p>
          </p:txBody>
        </p:sp>
        <p:pic>
          <p:nvPicPr>
            <p:cNvPr id="73" name="Google Shape;446;p38" descr="Logo&#10;&#10;Description automatically generated">
              <a:extLst>
                <a:ext uri="{FF2B5EF4-FFF2-40B4-BE49-F238E27FC236}">
                  <a16:creationId xmlns:a16="http://schemas.microsoft.com/office/drawing/2014/main" id="{E74F4EAF-76C1-F598-D4A3-A874617BD335}"/>
                </a:ext>
              </a:extLst>
            </p:cNvPr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6748998" y="4221005"/>
              <a:ext cx="995394" cy="1004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447;p38" descr="Certification">
              <a:extLst>
                <a:ext uri="{FF2B5EF4-FFF2-40B4-BE49-F238E27FC236}">
                  <a16:creationId xmlns:a16="http://schemas.microsoft.com/office/drawing/2014/main" id="{D3C31655-5BEE-EF63-BB16-F485508D960E}"/>
                </a:ext>
              </a:extLst>
            </p:cNvPr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7359355" y="2741218"/>
              <a:ext cx="1011473" cy="9917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448;p38" descr="Marketing Cloud Personalization Accredited Professional - Credly">
              <a:extLst>
                <a:ext uri="{FF2B5EF4-FFF2-40B4-BE49-F238E27FC236}">
                  <a16:creationId xmlns:a16="http://schemas.microsoft.com/office/drawing/2014/main" id="{F8CE20A5-888B-1ADA-0D00-824D10392873}"/>
                </a:ext>
              </a:extLst>
            </p:cNvPr>
            <p:cNvPicPr preferRelativeResize="0"/>
            <p:nvPr/>
          </p:nvPicPr>
          <p:blipFill rotWithShape="1">
            <a:blip r:embed="rId22">
              <a:alphaModFix/>
            </a:blip>
            <a:srcRect/>
            <a:stretch/>
          </p:blipFill>
          <p:spPr>
            <a:xfrm>
              <a:off x="8487490" y="2720309"/>
              <a:ext cx="1018047" cy="10180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449;p38" descr="Data Cloud Accredited Professional - Credly">
              <a:extLst>
                <a:ext uri="{FF2B5EF4-FFF2-40B4-BE49-F238E27FC236}">
                  <a16:creationId xmlns:a16="http://schemas.microsoft.com/office/drawing/2014/main" id="{CFE9D987-DD86-1FDE-5DFD-BE0B4B088A21}"/>
                </a:ext>
              </a:extLst>
            </p:cNvPr>
            <p:cNvPicPr preferRelativeResize="0"/>
            <p:nvPr/>
          </p:nvPicPr>
          <p:blipFill rotWithShape="1">
            <a:blip r:embed="rId23">
              <a:alphaModFix/>
            </a:blip>
            <a:srcRect/>
            <a:stretch/>
          </p:blipFill>
          <p:spPr>
            <a:xfrm>
              <a:off x="9563095" y="2759590"/>
              <a:ext cx="1018048" cy="1018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451;p38" descr="A blue and yellow hexagon with white text&#10;&#10;AI-generated content may be incorrect.">
              <a:extLst>
                <a:ext uri="{FF2B5EF4-FFF2-40B4-BE49-F238E27FC236}">
                  <a16:creationId xmlns:a16="http://schemas.microsoft.com/office/drawing/2014/main" id="{C8663A51-0244-E9D6-6D11-62F5407E2333}"/>
                </a:ext>
              </a:extLst>
            </p:cNvPr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2894788" y="4164919"/>
              <a:ext cx="1094452" cy="1074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452;p38" descr="A hexagon with blue text&#10;&#10;AI-generated content may be incorrect.">
              <a:extLst>
                <a:ext uri="{FF2B5EF4-FFF2-40B4-BE49-F238E27FC236}">
                  <a16:creationId xmlns:a16="http://schemas.microsoft.com/office/drawing/2014/main" id="{93197ABB-87A2-0D50-DC2F-29412141761E}"/>
                </a:ext>
              </a:extLst>
            </p:cNvPr>
            <p:cNvPicPr preferRelativeResize="0"/>
            <p:nvPr/>
          </p:nvPicPr>
          <p:blipFill rotWithShape="1">
            <a:blip r:embed="rId25">
              <a:alphaModFix/>
            </a:blip>
            <a:srcRect/>
            <a:stretch/>
          </p:blipFill>
          <p:spPr>
            <a:xfrm>
              <a:off x="10581144" y="2759591"/>
              <a:ext cx="1101073" cy="1082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455;p38">
              <a:extLst>
                <a:ext uri="{FF2B5EF4-FFF2-40B4-BE49-F238E27FC236}">
                  <a16:creationId xmlns:a16="http://schemas.microsoft.com/office/drawing/2014/main" id="{D705E9FB-81B4-E2C1-DF59-B92F70135EA2}"/>
                </a:ext>
              </a:extLst>
            </p:cNvPr>
            <p:cNvSpPr txBox="1"/>
            <p:nvPr/>
          </p:nvSpPr>
          <p:spPr>
            <a:xfrm>
              <a:off x="2645045" y="2709056"/>
              <a:ext cx="60924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400"/>
            </a:p>
          </p:txBody>
        </p:sp>
      </p:grp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DFE327A-3702-F944-15DC-41F111237FC6}"/>
              </a:ext>
            </a:extLst>
          </p:cNvPr>
          <p:cNvSpPr>
            <a:spLocks noGrp="1"/>
          </p:cNvSpPr>
          <p:nvPr/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 i="0" dirty="0"/>
              <a:t>90+ Certifications Across Architecture, Platform &amp; Cloud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374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B598B-887F-3A79-F14B-1FD11F59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47CA18-341A-0D56-C355-7B057C8C209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Montserrat"/>
              </a:rPr>
              <a:t>Data &amp; AI Capabilities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144D8-BE70-93B4-8552-0F2B96E10D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lang="en" sz="13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C2471B54-46EA-CD83-742C-F8D30D69B76E}"/>
              </a:ext>
            </a:extLst>
          </p:cNvPr>
          <p:cNvSpPr/>
          <p:nvPr/>
        </p:nvSpPr>
        <p:spPr>
          <a:xfrm rot="8100000">
            <a:off x="5136348" y="4448749"/>
            <a:ext cx="3665631" cy="109680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AA7587F-5029-0488-22B5-A0DAC26A8C2E}"/>
              </a:ext>
            </a:extLst>
          </p:cNvPr>
          <p:cNvSpPr/>
          <p:nvPr/>
        </p:nvSpPr>
        <p:spPr>
          <a:xfrm rot="2700000">
            <a:off x="5290228" y="2696054"/>
            <a:ext cx="3508353" cy="1096804"/>
          </a:xfrm>
          <a:custGeom>
            <a:avLst/>
            <a:gdLst>
              <a:gd name="connsiteX0" fmla="*/ 3344 w 3508353"/>
              <a:gd name="connsiteY0" fmla="*/ 160623 h 1096804"/>
              <a:gd name="connsiteX1" fmla="*/ 391123 w 3508353"/>
              <a:gd name="connsiteY1" fmla="*/ 0 h 1096804"/>
              <a:gd name="connsiteX2" fmla="*/ 2959951 w 3508353"/>
              <a:gd name="connsiteY2" fmla="*/ 0 h 1096804"/>
              <a:gd name="connsiteX3" fmla="*/ 3508353 w 3508353"/>
              <a:gd name="connsiteY3" fmla="*/ 548402 h 1096804"/>
              <a:gd name="connsiteX4" fmla="*/ 3508352 w 3508353"/>
              <a:gd name="connsiteY4" fmla="*/ 548402 h 1096804"/>
              <a:gd name="connsiteX5" fmla="*/ 2959950 w 3508353"/>
              <a:gd name="connsiteY5" fmla="*/ 1096804 h 1096804"/>
              <a:gd name="connsiteX6" fmla="*/ 932135 w 3508353"/>
              <a:gd name="connsiteY6" fmla="*/ 1096803 h 1096804"/>
              <a:gd name="connsiteX7" fmla="*/ 932135 w 3508353"/>
              <a:gd name="connsiteY7" fmla="*/ 555793 h 1096804"/>
              <a:gd name="connsiteX8" fmla="*/ 383733 w 3508353"/>
              <a:gd name="connsiteY8" fmla="*/ 7391 h 1096804"/>
              <a:gd name="connsiteX9" fmla="*/ 383733 w 3508353"/>
              <a:gd name="connsiteY9" fmla="*/ 7391 h 1096804"/>
              <a:gd name="connsiteX10" fmla="*/ 77117 w 3508353"/>
              <a:gd name="connsiteY10" fmla="*/ 101049 h 1096804"/>
              <a:gd name="connsiteX11" fmla="*/ 0 w 3508353"/>
              <a:gd name="connsiteY11" fmla="*/ 164676 h 109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8353" h="1096804">
                <a:moveTo>
                  <a:pt x="3344" y="160623"/>
                </a:moveTo>
                <a:cubicBezTo>
                  <a:pt x="102586" y="61382"/>
                  <a:pt x="239686" y="0"/>
                  <a:pt x="391123" y="0"/>
                </a:cubicBezTo>
                <a:lnTo>
                  <a:pt x="2959951" y="0"/>
                </a:lnTo>
                <a:cubicBezTo>
                  <a:pt x="3262825" y="0"/>
                  <a:pt x="3508353" y="245528"/>
                  <a:pt x="3508353" y="548402"/>
                </a:cubicBezTo>
                <a:lnTo>
                  <a:pt x="3508352" y="548402"/>
                </a:lnTo>
                <a:cubicBezTo>
                  <a:pt x="3508352" y="851276"/>
                  <a:pt x="3262824" y="1096804"/>
                  <a:pt x="2959950" y="1096804"/>
                </a:cubicBezTo>
                <a:lnTo>
                  <a:pt x="932135" y="1096803"/>
                </a:lnTo>
                <a:lnTo>
                  <a:pt x="932135" y="555793"/>
                </a:lnTo>
                <a:cubicBezTo>
                  <a:pt x="932134" y="252919"/>
                  <a:pt x="686606" y="7391"/>
                  <a:pt x="383733" y="7391"/>
                </a:cubicBezTo>
                <a:lnTo>
                  <a:pt x="383733" y="7391"/>
                </a:lnTo>
                <a:cubicBezTo>
                  <a:pt x="270156" y="7391"/>
                  <a:pt x="164642" y="41919"/>
                  <a:pt x="77117" y="101049"/>
                </a:cubicBezTo>
                <a:lnTo>
                  <a:pt x="0" y="1646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6001635-1802-02CB-ECCF-C8F1F9F6661F}"/>
              </a:ext>
            </a:extLst>
          </p:cNvPr>
          <p:cNvSpPr/>
          <p:nvPr/>
        </p:nvSpPr>
        <p:spPr>
          <a:xfrm rot="8100000">
            <a:off x="3329094" y="2640448"/>
            <a:ext cx="3665632" cy="1096804"/>
          </a:xfrm>
          <a:custGeom>
            <a:avLst/>
            <a:gdLst>
              <a:gd name="connsiteX0" fmla="*/ 3504465 w 3665632"/>
              <a:gd name="connsiteY0" fmla="*/ 936628 h 1096804"/>
              <a:gd name="connsiteX1" fmla="*/ 3570969 w 3665632"/>
              <a:gd name="connsiteY1" fmla="*/ 856025 h 1096804"/>
              <a:gd name="connsiteX2" fmla="*/ 3664627 w 3665632"/>
              <a:gd name="connsiteY2" fmla="*/ 549409 h 1096804"/>
              <a:gd name="connsiteX3" fmla="*/ 3664627 w 3665632"/>
              <a:gd name="connsiteY3" fmla="*/ 538433 h 1096804"/>
              <a:gd name="connsiteX4" fmla="*/ 3665632 w 3665632"/>
              <a:gd name="connsiteY4" fmla="*/ 548402 h 1096804"/>
              <a:gd name="connsiteX5" fmla="*/ 3665631 w 3665632"/>
              <a:gd name="connsiteY5" fmla="*/ 548402 h 1096804"/>
              <a:gd name="connsiteX6" fmla="*/ 3505008 w 3665632"/>
              <a:gd name="connsiteY6" fmla="*/ 936181 h 1096804"/>
              <a:gd name="connsiteX7" fmla="*/ 160623 w 3665632"/>
              <a:gd name="connsiteY7" fmla="*/ 936180 h 1096804"/>
              <a:gd name="connsiteX8" fmla="*/ 0 w 3665632"/>
              <a:gd name="connsiteY8" fmla="*/ 548401 h 1096804"/>
              <a:gd name="connsiteX9" fmla="*/ 0 w 3665632"/>
              <a:gd name="connsiteY9" fmla="*/ 548402 h 1096804"/>
              <a:gd name="connsiteX10" fmla="*/ 548402 w 3665632"/>
              <a:gd name="connsiteY10" fmla="*/ 0 h 1096804"/>
              <a:gd name="connsiteX11" fmla="*/ 2567824 w 3665632"/>
              <a:gd name="connsiteY11" fmla="*/ 0 h 1096804"/>
              <a:gd name="connsiteX12" fmla="*/ 2567823 w 3665632"/>
              <a:gd name="connsiteY12" fmla="*/ 549408 h 1096804"/>
              <a:gd name="connsiteX13" fmla="*/ 3005703 w 3665632"/>
              <a:gd name="connsiteY13" fmla="*/ 1086668 h 1096804"/>
              <a:gd name="connsiteX14" fmla="*/ 3106249 w 3665632"/>
              <a:gd name="connsiteY14" fmla="*/ 1096804 h 1096804"/>
              <a:gd name="connsiteX15" fmla="*/ 548402 w 3665632"/>
              <a:gd name="connsiteY15" fmla="*/ 1096803 h 1096804"/>
              <a:gd name="connsiteX16" fmla="*/ 160623 w 3665632"/>
              <a:gd name="connsiteY16" fmla="*/ 936180 h 109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65632" h="1096804">
                <a:moveTo>
                  <a:pt x="3504465" y="936628"/>
                </a:moveTo>
                <a:lnTo>
                  <a:pt x="3570969" y="856025"/>
                </a:lnTo>
                <a:cubicBezTo>
                  <a:pt x="3630100" y="768500"/>
                  <a:pt x="3664627" y="662987"/>
                  <a:pt x="3664627" y="549409"/>
                </a:cubicBezTo>
                <a:lnTo>
                  <a:pt x="3664627" y="538433"/>
                </a:lnTo>
                <a:lnTo>
                  <a:pt x="3665632" y="548402"/>
                </a:lnTo>
                <a:lnTo>
                  <a:pt x="3665631" y="548402"/>
                </a:lnTo>
                <a:cubicBezTo>
                  <a:pt x="3665631" y="699839"/>
                  <a:pt x="3604249" y="836939"/>
                  <a:pt x="3505008" y="936181"/>
                </a:cubicBezTo>
                <a:close/>
                <a:moveTo>
                  <a:pt x="160623" y="936180"/>
                </a:moveTo>
                <a:cubicBezTo>
                  <a:pt x="61382" y="836938"/>
                  <a:pt x="0" y="699838"/>
                  <a:pt x="0" y="548401"/>
                </a:cubicBezTo>
                <a:lnTo>
                  <a:pt x="0" y="548402"/>
                </a:lnTo>
                <a:cubicBezTo>
                  <a:pt x="0" y="245528"/>
                  <a:pt x="245528" y="0"/>
                  <a:pt x="548402" y="0"/>
                </a:cubicBezTo>
                <a:lnTo>
                  <a:pt x="2567824" y="0"/>
                </a:lnTo>
                <a:lnTo>
                  <a:pt x="2567823" y="549408"/>
                </a:lnTo>
                <a:cubicBezTo>
                  <a:pt x="2567823" y="814422"/>
                  <a:pt x="2755806" y="1035532"/>
                  <a:pt x="3005703" y="1086668"/>
                </a:cubicBezTo>
                <a:lnTo>
                  <a:pt x="3106249" y="1096804"/>
                </a:lnTo>
                <a:lnTo>
                  <a:pt x="548402" y="1096803"/>
                </a:lnTo>
                <a:cubicBezTo>
                  <a:pt x="396965" y="1096803"/>
                  <a:pt x="259865" y="1035421"/>
                  <a:pt x="160623" y="9361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DDB66C5-EA7A-5307-9255-3D89C8D7650B}"/>
              </a:ext>
            </a:extLst>
          </p:cNvPr>
          <p:cNvSpPr/>
          <p:nvPr/>
        </p:nvSpPr>
        <p:spPr>
          <a:xfrm rot="13500000">
            <a:off x="3351685" y="4400917"/>
            <a:ext cx="3511357" cy="1096804"/>
          </a:xfrm>
          <a:custGeom>
            <a:avLst/>
            <a:gdLst>
              <a:gd name="connsiteX0" fmla="*/ 3350733 w 3511357"/>
              <a:gd name="connsiteY0" fmla="*/ 936181 h 1096804"/>
              <a:gd name="connsiteX1" fmla="*/ 2962954 w 3511357"/>
              <a:gd name="connsiteY1" fmla="*/ 1096804 h 1096804"/>
              <a:gd name="connsiteX2" fmla="*/ 928495 w 3511357"/>
              <a:gd name="connsiteY2" fmla="*/ 1096803 h 1096804"/>
              <a:gd name="connsiteX3" fmla="*/ 928495 w 3511357"/>
              <a:gd name="connsiteY3" fmla="*/ 562438 h 1096804"/>
              <a:gd name="connsiteX4" fmla="*/ 380093 w 3511357"/>
              <a:gd name="connsiteY4" fmla="*/ 14036 h 1096804"/>
              <a:gd name="connsiteX5" fmla="*/ 380094 w 3511357"/>
              <a:gd name="connsiteY5" fmla="*/ 14035 h 1096804"/>
              <a:gd name="connsiteX6" fmla="*/ 73477 w 3511357"/>
              <a:gd name="connsiteY6" fmla="*/ 107694 h 1096804"/>
              <a:gd name="connsiteX7" fmla="*/ 0 w 3511357"/>
              <a:gd name="connsiteY7" fmla="*/ 168317 h 1096804"/>
              <a:gd name="connsiteX8" fmla="*/ 6348 w 3511357"/>
              <a:gd name="connsiteY8" fmla="*/ 160623 h 1096804"/>
              <a:gd name="connsiteX9" fmla="*/ 394127 w 3511357"/>
              <a:gd name="connsiteY9" fmla="*/ 0 h 1096804"/>
              <a:gd name="connsiteX10" fmla="*/ 2962955 w 3511357"/>
              <a:gd name="connsiteY10" fmla="*/ 0 h 1096804"/>
              <a:gd name="connsiteX11" fmla="*/ 3511357 w 3511357"/>
              <a:gd name="connsiteY11" fmla="*/ 548402 h 1096804"/>
              <a:gd name="connsiteX12" fmla="*/ 3511356 w 3511357"/>
              <a:gd name="connsiteY12" fmla="*/ 548402 h 1096804"/>
              <a:gd name="connsiteX13" fmla="*/ 3350733 w 3511357"/>
              <a:gd name="connsiteY13" fmla="*/ 936181 h 109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11357" h="1096804">
                <a:moveTo>
                  <a:pt x="3350733" y="936181"/>
                </a:moveTo>
                <a:cubicBezTo>
                  <a:pt x="3251491" y="1035422"/>
                  <a:pt x="3114391" y="1096804"/>
                  <a:pt x="2962954" y="1096804"/>
                </a:cubicBezTo>
                <a:lnTo>
                  <a:pt x="928495" y="1096803"/>
                </a:lnTo>
                <a:lnTo>
                  <a:pt x="928495" y="562438"/>
                </a:lnTo>
                <a:cubicBezTo>
                  <a:pt x="928496" y="259564"/>
                  <a:pt x="682968" y="14036"/>
                  <a:pt x="380093" y="14036"/>
                </a:cubicBezTo>
                <a:lnTo>
                  <a:pt x="380094" y="14035"/>
                </a:lnTo>
                <a:cubicBezTo>
                  <a:pt x="266516" y="14036"/>
                  <a:pt x="161002" y="48563"/>
                  <a:pt x="73477" y="107694"/>
                </a:cubicBezTo>
                <a:lnTo>
                  <a:pt x="0" y="168317"/>
                </a:lnTo>
                <a:lnTo>
                  <a:pt x="6348" y="160623"/>
                </a:lnTo>
                <a:cubicBezTo>
                  <a:pt x="105590" y="61382"/>
                  <a:pt x="242690" y="0"/>
                  <a:pt x="394127" y="0"/>
                </a:cubicBezTo>
                <a:lnTo>
                  <a:pt x="2962955" y="0"/>
                </a:lnTo>
                <a:cubicBezTo>
                  <a:pt x="3265829" y="0"/>
                  <a:pt x="3511357" y="245528"/>
                  <a:pt x="3511357" y="548402"/>
                </a:cubicBezTo>
                <a:lnTo>
                  <a:pt x="3511356" y="548402"/>
                </a:lnTo>
                <a:cubicBezTo>
                  <a:pt x="3511356" y="699839"/>
                  <a:pt x="3449974" y="836939"/>
                  <a:pt x="3350733" y="93618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FBEA4AD-3524-5A53-0650-5F2822FFE486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3769763" y="3639798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09E22B1-F27D-0ACE-16AE-7AD1E7F00427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602417" y="5440245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7F70326-0AFA-C1BB-C77D-6FC99269F863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7456026" y="3639798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BA068C8-93E1-1B7E-36EB-D76B76072478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577740" y="1814542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6FFDBCE-910D-1238-2D34-DD210EACF5A1}"/>
              </a:ext>
            </a:extLst>
          </p:cNvPr>
          <p:cNvSpPr/>
          <p:nvPr/>
        </p:nvSpPr>
        <p:spPr bwMode="auto">
          <a:xfrm>
            <a:off x="681668" y="1750389"/>
            <a:ext cx="3336578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912D1B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Data Architecture</a:t>
            </a:r>
            <a:endParaRPr kumimoji="0" lang="en-US" sz="20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Lakehouse design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Medallion (Bronze/Silver/Gold) architecture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Real-time ingestion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Cross-cloud data interoperability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Data mesh &amp; domain modeling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92C3DA7-44D8-8B23-82E8-DCBF0792466B}"/>
              </a:ext>
            </a:extLst>
          </p:cNvPr>
          <p:cNvSpPr/>
          <p:nvPr/>
        </p:nvSpPr>
        <p:spPr bwMode="auto">
          <a:xfrm>
            <a:off x="8205522" y="1750389"/>
            <a:ext cx="3707478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lvl="0" fontAlgn="base">
              <a:lnSpc>
                <a:spcPct val="90000"/>
              </a:lnSpc>
              <a:spcAft>
                <a:spcPts val="600"/>
              </a:spcAft>
              <a:buClrTx/>
              <a:defRPr/>
            </a:pPr>
            <a:r>
              <a:rPr lang="en-US" sz="2400" b="1" u="sng" dirty="0">
                <a:solidFill>
                  <a:srgbClr val="C58A2D"/>
                </a:solidFill>
                <a:cs typeface="Arial" pitchFamily="34" charset="0"/>
              </a:rPr>
              <a:t>Data Engineering</a:t>
            </a:r>
            <a:endParaRPr kumimoji="0" lang="en-US" sz="2400" b="1" i="0" u="sng" strike="noStrike" kern="0" cap="none" spc="0" normalizeH="0" baseline="0" noProof="0" dirty="0">
              <a:ln>
                <a:noFill/>
              </a:ln>
              <a:solidFill>
                <a:srgbClr val="C58A2D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Large-scale migrations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ELT accelerators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Observability &amp; pipeline metrics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Pipeline orchestration &amp; CI/CD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Cost &amp; performance tuning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7E39E46-EA14-56C1-0245-C6BD4B25DB1A}"/>
              </a:ext>
            </a:extLst>
          </p:cNvPr>
          <p:cNvSpPr/>
          <p:nvPr/>
        </p:nvSpPr>
        <p:spPr bwMode="auto">
          <a:xfrm>
            <a:off x="685205" y="4627556"/>
            <a:ext cx="3557375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lvl="0" fontAlgn="base">
              <a:lnSpc>
                <a:spcPct val="90000"/>
              </a:lnSpc>
              <a:spcAft>
                <a:spcPts val="600"/>
              </a:spcAft>
              <a:buClrTx/>
              <a:defRPr/>
            </a:pPr>
            <a:r>
              <a:rPr lang="en-US" sz="2400" b="1" u="sng" dirty="0">
                <a:solidFill>
                  <a:srgbClr val="F2B800"/>
                </a:solidFill>
                <a:cs typeface="Arial" pitchFamily="34" charset="0"/>
              </a:rPr>
              <a:t>AI &amp; Machine Learning</a:t>
            </a:r>
            <a:endParaRPr kumimoji="0" lang="en-US" sz="2400" b="1" i="0" u="sng" strike="noStrike" kern="0" cap="none" spc="0" normalizeH="0" baseline="0" noProof="0" dirty="0">
              <a:ln>
                <a:noFill/>
              </a:ln>
              <a:solidFill>
                <a:srgbClr val="F2B800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Domain-specific AI agents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LLM integration (Claude, </a:t>
            </a:r>
            <a:r>
              <a:rPr lang="en-US" dirty="0" err="1">
                <a:solidFill>
                  <a:srgbClr val="2C2C2C"/>
                </a:solidFill>
                <a:cs typeface="Arial" pitchFamily="34" charset="0"/>
              </a:rPr>
              <a:t>OpenAI, etc</a:t>
            </a: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.)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Vector indexing &amp; semantic modeling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Model registry &amp; ML-Ops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Retrieval-augmented generation (RAG) design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F286EF4-C8FC-C78B-75EE-B5C30E7E19F5}"/>
              </a:ext>
            </a:extLst>
          </p:cNvPr>
          <p:cNvSpPr/>
          <p:nvPr/>
        </p:nvSpPr>
        <p:spPr bwMode="auto">
          <a:xfrm>
            <a:off x="8205522" y="4627556"/>
            <a:ext cx="3585422" cy="1644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lvl="0" fontAlgn="base">
              <a:lnSpc>
                <a:spcPct val="90000"/>
              </a:lnSpc>
              <a:spcAft>
                <a:spcPts val="600"/>
              </a:spcAft>
              <a:buClrTx/>
              <a:defRPr/>
            </a:pPr>
            <a:r>
              <a:rPr lang="en-IN" sz="2400" b="1" u="sng" dirty="0">
                <a:solidFill>
                  <a:srgbClr val="2C2C2C">
                    <a:lumMod val="75000"/>
                    <a:lumOff val="25000"/>
                  </a:srgbClr>
                </a:solidFill>
                <a:cs typeface="Arial" pitchFamily="34" charset="0"/>
              </a:rPr>
              <a:t>Governance &amp; Security</a:t>
            </a:r>
            <a:endParaRPr kumimoji="0" lang="en-IN" sz="2000" b="1" i="0" u="sng" strike="noStrike" kern="0" cap="none" spc="0" normalizeH="0" baseline="0" noProof="0" dirty="0">
              <a:ln>
                <a:noFill/>
              </a:ln>
              <a:solidFill>
                <a:srgbClr val="2C2C2C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RBAC &amp; federated architectures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GDPR &amp; SOC2-ready controls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Data masking &amp; PII compliance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Enterprise data catalog &amp; metadata models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Access auditing &amp; lineage tracking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</p:txBody>
      </p:sp>
      <p:pic>
        <p:nvPicPr>
          <p:cNvPr id="6" name="Picture 5" descr="Head with gears with solid fill">
            <a:extLst>
              <a:ext uri="{FF2B5EF4-FFF2-40B4-BE49-F238E27FC236}">
                <a16:creationId xmlns:a16="http://schemas.microsoft.com/office/drawing/2014/main" id="{70574B7B-396F-3931-5090-2FD66BF0A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87782" y="3631084"/>
            <a:ext cx="923636" cy="923636"/>
          </a:xfrm>
          <a:prstGeom prst="rect">
            <a:avLst/>
          </a:prstGeom>
        </p:spPr>
      </p:pic>
      <p:pic>
        <p:nvPicPr>
          <p:cNvPr id="8" name="Picture 7" descr="Database with solid fill">
            <a:extLst>
              <a:ext uri="{FF2B5EF4-FFF2-40B4-BE49-F238E27FC236}">
                <a16:creationId xmlns:a16="http://schemas.microsoft.com/office/drawing/2014/main" id="{ED82DF94-D778-F2FE-F517-885C289E5D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627286" y="1890234"/>
            <a:ext cx="824543" cy="824543"/>
          </a:xfrm>
          <a:prstGeom prst="rect">
            <a:avLst/>
          </a:prstGeom>
        </p:spPr>
      </p:pic>
      <p:pic>
        <p:nvPicPr>
          <p:cNvPr id="10" name="Picture 9" descr="Lock with solid fill">
            <a:extLst>
              <a:ext uri="{FF2B5EF4-FFF2-40B4-BE49-F238E27FC236}">
                <a16:creationId xmlns:a16="http://schemas.microsoft.com/office/drawing/2014/main" id="{EFFE49CC-D3B8-41A5-2851-762C881F7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558699" y="5399692"/>
            <a:ext cx="1011072" cy="1011072"/>
          </a:xfrm>
          <a:prstGeom prst="rect">
            <a:avLst/>
          </a:prstGeom>
        </p:spPr>
      </p:pic>
      <p:pic>
        <p:nvPicPr>
          <p:cNvPr id="12" name="Picture 11" descr="Laptop with solid fill">
            <a:extLst>
              <a:ext uri="{FF2B5EF4-FFF2-40B4-BE49-F238E27FC236}">
                <a16:creationId xmlns:a16="http://schemas.microsoft.com/office/drawing/2014/main" id="{5CBCD47D-4CFE-C740-81BF-C59FBBAAE6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571929" y="3743081"/>
            <a:ext cx="720906" cy="72090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C76E31F-4DC2-5EE7-2538-091B964C4407}"/>
              </a:ext>
            </a:extLst>
          </p:cNvPr>
          <p:cNvSpPr txBox="1">
            <a:spLocks/>
          </p:cNvSpPr>
          <p:nvPr/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 dirty="0"/>
              <a:t>From </a:t>
            </a:r>
            <a:r>
              <a:rPr lang="en-US" dirty="0" err="1"/>
              <a:t>lakehouse</a:t>
            </a:r>
            <a:r>
              <a:rPr lang="en-US" dirty="0"/>
              <a:t> architecture to production AI agents.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8BE59F-3520-6389-3BA6-A667DC58393F}"/>
              </a:ext>
            </a:extLst>
          </p:cNvPr>
          <p:cNvGrpSpPr/>
          <p:nvPr/>
        </p:nvGrpSpPr>
        <p:grpSpPr>
          <a:xfrm>
            <a:off x="5276310" y="3716687"/>
            <a:ext cx="1612790" cy="718579"/>
            <a:chOff x="5372654" y="3459364"/>
            <a:chExt cx="1881915" cy="958104"/>
          </a:xfrm>
        </p:grpSpPr>
        <p:pic>
          <p:nvPicPr>
            <p:cNvPr id="9" name="Google Shape;310;p7" descr="Snowflake Cloud Data Platform - Our Technologies - DataSense">
              <a:extLst>
                <a:ext uri="{FF2B5EF4-FFF2-40B4-BE49-F238E27FC236}">
                  <a16:creationId xmlns:a16="http://schemas.microsoft.com/office/drawing/2014/main" id="{3AC68D64-B72B-0C9F-EFC8-AA59816EEE1C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372654" y="3921820"/>
              <a:ext cx="1881915" cy="495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Picture 6" descr="Technology - Databricks">
              <a:extLst>
                <a:ext uri="{FF2B5EF4-FFF2-40B4-BE49-F238E27FC236}">
                  <a16:creationId xmlns:a16="http://schemas.microsoft.com/office/drawing/2014/main" id="{7D7171E8-0DDC-6803-014B-84CA2AE57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2968" y="3459364"/>
              <a:ext cx="1681287" cy="567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30284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3CE4E-5141-D8AF-EFC7-51FF61362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C5A09-46F4-0DAC-7F7C-F4B027F19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7E8F2CA-2106-D94D-56D0-4D93AFE66BA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dirty="0">
                <a:latin typeface="Montserrat"/>
              </a:rPr>
              <a:t>Enterprise AI Capability - Built &amp; Delivered Since 2019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C386EF-4248-2424-C4B2-1ADF036A71D3}"/>
              </a:ext>
            </a:extLst>
          </p:cNvPr>
          <p:cNvSpPr>
            <a:spLocks noGrp="1"/>
          </p:cNvSpPr>
          <p:nvPr/>
        </p:nvSpPr>
        <p:spPr>
          <a:xfrm>
            <a:off x="9993059" y="5777463"/>
            <a:ext cx="207635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ctr"/>
            <a:r>
              <a:rPr lang="en-US" sz="1600" i="0" dirty="0" err="1"/>
              <a:t>Palni’s</a:t>
            </a:r>
            <a:r>
              <a:rPr lang="en-US" sz="1600" i="0" dirty="0"/>
              <a:t> Enterprise AI Subsidiary</a:t>
            </a:r>
            <a:endParaRPr lang="en-US" sz="1600" dirty="0"/>
          </a:p>
        </p:txBody>
      </p:sp>
      <p:sp>
        <p:nvSpPr>
          <p:cNvPr id="23" name="Google Shape;952;p35">
            <a:extLst>
              <a:ext uri="{FF2B5EF4-FFF2-40B4-BE49-F238E27FC236}">
                <a16:creationId xmlns:a16="http://schemas.microsoft.com/office/drawing/2014/main" id="{2E8DB31E-9F68-CA45-DF81-B0D65C46AA06}"/>
              </a:ext>
            </a:extLst>
          </p:cNvPr>
          <p:cNvSpPr/>
          <p:nvPr/>
        </p:nvSpPr>
        <p:spPr>
          <a:xfrm>
            <a:off x="2278016" y="2703454"/>
            <a:ext cx="738076" cy="738076"/>
          </a:xfrm>
          <a:custGeom>
            <a:avLst/>
            <a:gdLst/>
            <a:ahLst/>
            <a:cxnLst/>
            <a:rect l="l" t="t" r="r" b="b"/>
            <a:pathLst>
              <a:path w="20730" h="20730" extrusionOk="0">
                <a:moveTo>
                  <a:pt x="10371" y="1"/>
                </a:moveTo>
                <a:cubicBezTo>
                  <a:pt x="4644" y="1"/>
                  <a:pt x="1" y="4644"/>
                  <a:pt x="1" y="10371"/>
                </a:cubicBezTo>
                <a:cubicBezTo>
                  <a:pt x="1" y="16086"/>
                  <a:pt x="4644" y="20730"/>
                  <a:pt x="10371" y="20730"/>
                </a:cubicBezTo>
                <a:cubicBezTo>
                  <a:pt x="16086" y="20730"/>
                  <a:pt x="20729" y="16086"/>
                  <a:pt x="20729" y="10371"/>
                </a:cubicBezTo>
                <a:cubicBezTo>
                  <a:pt x="20729" y="4644"/>
                  <a:pt x="16086" y="1"/>
                  <a:pt x="103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FFFFFF"/>
                </a:solidFill>
              </a:rPr>
              <a:t>2019</a:t>
            </a:r>
          </a:p>
        </p:txBody>
      </p:sp>
      <p:sp>
        <p:nvSpPr>
          <p:cNvPr id="24" name="Google Shape;953;p35">
            <a:extLst>
              <a:ext uri="{FF2B5EF4-FFF2-40B4-BE49-F238E27FC236}">
                <a16:creationId xmlns:a16="http://schemas.microsoft.com/office/drawing/2014/main" id="{D4F489E2-4A85-1862-3FC0-41D5760E2848}"/>
              </a:ext>
            </a:extLst>
          </p:cNvPr>
          <p:cNvSpPr/>
          <p:nvPr/>
        </p:nvSpPr>
        <p:spPr>
          <a:xfrm>
            <a:off x="2647232" y="2786554"/>
            <a:ext cx="511277" cy="797428"/>
          </a:xfrm>
          <a:custGeom>
            <a:avLst/>
            <a:gdLst/>
            <a:ahLst/>
            <a:cxnLst/>
            <a:rect l="l" t="t" r="r" b="b"/>
            <a:pathLst>
              <a:path w="14360" h="22397" fill="none" extrusionOk="0">
                <a:moveTo>
                  <a:pt x="11907" y="1"/>
                </a:moveTo>
                <a:cubicBezTo>
                  <a:pt x="13455" y="2298"/>
                  <a:pt x="14360" y="5061"/>
                  <a:pt x="14360" y="8037"/>
                </a:cubicBezTo>
                <a:cubicBezTo>
                  <a:pt x="14360" y="15967"/>
                  <a:pt x="7930" y="22396"/>
                  <a:pt x="1" y="22396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81550" cap="flat" cmpd="sng">
            <a:solidFill>
              <a:schemeClr val="accen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grpSp>
        <p:nvGrpSpPr>
          <p:cNvPr id="25" name="Google Shape;954;p35">
            <a:extLst>
              <a:ext uri="{FF2B5EF4-FFF2-40B4-BE49-F238E27FC236}">
                <a16:creationId xmlns:a16="http://schemas.microsoft.com/office/drawing/2014/main" id="{289D8C5A-B284-CF14-62AE-8910AF3BD52E}"/>
              </a:ext>
            </a:extLst>
          </p:cNvPr>
          <p:cNvGrpSpPr/>
          <p:nvPr/>
        </p:nvGrpSpPr>
        <p:grpSpPr>
          <a:xfrm>
            <a:off x="1511030" y="2894043"/>
            <a:ext cx="2553713" cy="1580400"/>
            <a:chOff x="1597088" y="2023550"/>
            <a:chExt cx="1793125" cy="1395125"/>
          </a:xfrm>
        </p:grpSpPr>
        <p:sp>
          <p:nvSpPr>
            <p:cNvPr id="26" name="Google Shape;955;p35">
              <a:extLst>
                <a:ext uri="{FF2B5EF4-FFF2-40B4-BE49-F238E27FC236}">
                  <a16:creationId xmlns:a16="http://schemas.microsoft.com/office/drawing/2014/main" id="{9FCCBA31-B661-A607-C36D-66694385771B}"/>
                </a:ext>
              </a:extLst>
            </p:cNvPr>
            <p:cNvSpPr/>
            <p:nvPr/>
          </p:nvSpPr>
          <p:spPr>
            <a:xfrm>
              <a:off x="2968088" y="2088450"/>
              <a:ext cx="367050" cy="126225"/>
            </a:xfrm>
            <a:custGeom>
              <a:avLst/>
              <a:gdLst/>
              <a:ahLst/>
              <a:cxnLst/>
              <a:rect l="l" t="t" r="r" b="b"/>
              <a:pathLst>
                <a:path w="14682" h="5049" fill="none" extrusionOk="0">
                  <a:moveTo>
                    <a:pt x="14681" y="0"/>
                  </a:moveTo>
                  <a:lnTo>
                    <a:pt x="5037" y="0"/>
                  </a:lnTo>
                  <a:cubicBezTo>
                    <a:pt x="2251" y="0"/>
                    <a:pt x="1" y="2262"/>
                    <a:pt x="1" y="5048"/>
                  </a:cubicBezTo>
                </a:path>
              </a:pathLst>
            </a:custGeom>
            <a:solidFill>
              <a:schemeClr val="accent1"/>
            </a:solidFill>
            <a:ln w="40775" cap="flat" cmpd="sng">
              <a:solidFill>
                <a:schemeClr val="accen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27" name="Google Shape;956;p35">
              <a:extLst>
                <a:ext uri="{FF2B5EF4-FFF2-40B4-BE49-F238E27FC236}">
                  <a16:creationId xmlns:a16="http://schemas.microsoft.com/office/drawing/2014/main" id="{03485804-D712-5328-59AF-7834F6909310}"/>
                </a:ext>
              </a:extLst>
            </p:cNvPr>
            <p:cNvSpPr/>
            <p:nvPr/>
          </p:nvSpPr>
          <p:spPr>
            <a:xfrm>
              <a:off x="1597088" y="2214650"/>
              <a:ext cx="1371025" cy="1204025"/>
            </a:xfrm>
            <a:custGeom>
              <a:avLst/>
              <a:gdLst/>
              <a:ahLst/>
              <a:cxnLst/>
              <a:rect l="l" t="t" r="r" b="b"/>
              <a:pathLst>
                <a:path w="54841" h="48161" fill="none" extrusionOk="0">
                  <a:moveTo>
                    <a:pt x="13872" y="1905"/>
                  </a:moveTo>
                  <a:lnTo>
                    <a:pt x="5037" y="1905"/>
                  </a:lnTo>
                  <a:cubicBezTo>
                    <a:pt x="2251" y="1905"/>
                    <a:pt x="1" y="4167"/>
                    <a:pt x="1" y="6954"/>
                  </a:cubicBezTo>
                  <a:lnTo>
                    <a:pt x="1" y="34671"/>
                  </a:lnTo>
                  <a:cubicBezTo>
                    <a:pt x="1" y="37457"/>
                    <a:pt x="2251" y="39719"/>
                    <a:pt x="5037" y="39719"/>
                  </a:cubicBezTo>
                  <a:lnTo>
                    <a:pt x="20372" y="39719"/>
                  </a:lnTo>
                  <a:cubicBezTo>
                    <a:pt x="21015" y="39719"/>
                    <a:pt x="21634" y="40029"/>
                    <a:pt x="22015" y="40553"/>
                  </a:cubicBezTo>
                  <a:lnTo>
                    <a:pt x="25766" y="47054"/>
                  </a:lnTo>
                  <a:cubicBezTo>
                    <a:pt x="26587" y="48161"/>
                    <a:pt x="28254" y="48161"/>
                    <a:pt x="29064" y="47054"/>
                  </a:cubicBezTo>
                  <a:lnTo>
                    <a:pt x="32814" y="40553"/>
                  </a:lnTo>
                  <a:cubicBezTo>
                    <a:pt x="33207" y="40029"/>
                    <a:pt x="33815" y="39719"/>
                    <a:pt x="34469" y="39719"/>
                  </a:cubicBezTo>
                  <a:lnTo>
                    <a:pt x="49793" y="39719"/>
                  </a:lnTo>
                  <a:cubicBezTo>
                    <a:pt x="52579" y="39719"/>
                    <a:pt x="54841" y="37457"/>
                    <a:pt x="54841" y="34671"/>
                  </a:cubicBezTo>
                  <a:lnTo>
                    <a:pt x="54841" y="0"/>
                  </a:lnTo>
                </a:path>
              </a:pathLst>
            </a:custGeom>
            <a:solidFill>
              <a:schemeClr val="accent1"/>
            </a:solidFill>
            <a:ln w="40775" cap="flat" cmpd="sng">
              <a:solidFill>
                <a:schemeClr val="accen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28" name="Google Shape;957;p35">
              <a:extLst>
                <a:ext uri="{FF2B5EF4-FFF2-40B4-BE49-F238E27FC236}">
                  <a16:creationId xmlns:a16="http://schemas.microsoft.com/office/drawing/2014/main" id="{57D88DCA-4226-C872-8F98-7D62DEE2CDD2}"/>
                </a:ext>
              </a:extLst>
            </p:cNvPr>
            <p:cNvSpPr/>
            <p:nvPr/>
          </p:nvSpPr>
          <p:spPr>
            <a:xfrm>
              <a:off x="3280038" y="2023550"/>
              <a:ext cx="110175" cy="129800"/>
            </a:xfrm>
            <a:custGeom>
              <a:avLst/>
              <a:gdLst/>
              <a:ahLst/>
              <a:cxnLst/>
              <a:rect l="l" t="t" r="r" b="b"/>
              <a:pathLst>
                <a:path w="4407" h="5192" extrusionOk="0">
                  <a:moveTo>
                    <a:pt x="25" y="0"/>
                  </a:moveTo>
                  <a:lnTo>
                    <a:pt x="2263" y="2572"/>
                  </a:lnTo>
                  <a:lnTo>
                    <a:pt x="1" y="5180"/>
                  </a:lnTo>
                  <a:lnTo>
                    <a:pt x="13" y="5192"/>
                  </a:lnTo>
                  <a:lnTo>
                    <a:pt x="2120" y="5192"/>
                  </a:lnTo>
                  <a:lnTo>
                    <a:pt x="3334" y="3799"/>
                  </a:lnTo>
                  <a:lnTo>
                    <a:pt x="4406" y="2572"/>
                  </a:lnTo>
                  <a:lnTo>
                    <a:pt x="216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</p:grpSp>
      <p:grpSp>
        <p:nvGrpSpPr>
          <p:cNvPr id="29" name="Google Shape;958;p35">
            <a:extLst>
              <a:ext uri="{FF2B5EF4-FFF2-40B4-BE49-F238E27FC236}">
                <a16:creationId xmlns:a16="http://schemas.microsoft.com/office/drawing/2014/main" id="{BB9F3393-48BB-2B3F-112F-D09DE6DAA7B8}"/>
              </a:ext>
            </a:extLst>
          </p:cNvPr>
          <p:cNvGrpSpPr/>
          <p:nvPr/>
        </p:nvGrpSpPr>
        <p:grpSpPr>
          <a:xfrm>
            <a:off x="2455698" y="4563511"/>
            <a:ext cx="63197" cy="375197"/>
            <a:chOff x="2260263" y="3508250"/>
            <a:chExt cx="44375" cy="263450"/>
          </a:xfrm>
        </p:grpSpPr>
        <p:sp>
          <p:nvSpPr>
            <p:cNvPr id="30" name="Google Shape;959;p35">
              <a:extLst>
                <a:ext uri="{FF2B5EF4-FFF2-40B4-BE49-F238E27FC236}">
                  <a16:creationId xmlns:a16="http://schemas.microsoft.com/office/drawing/2014/main" id="{2FC8E64E-A487-C160-D297-8E190BDED750}"/>
                </a:ext>
              </a:extLst>
            </p:cNvPr>
            <p:cNvSpPr/>
            <p:nvPr/>
          </p:nvSpPr>
          <p:spPr>
            <a:xfrm>
              <a:off x="2260263" y="3508250"/>
              <a:ext cx="44375" cy="44375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94" y="1"/>
                  </a:moveTo>
                  <a:cubicBezTo>
                    <a:pt x="406" y="1"/>
                    <a:pt x="1" y="394"/>
                    <a:pt x="1" y="894"/>
                  </a:cubicBezTo>
                  <a:cubicBezTo>
                    <a:pt x="1" y="1382"/>
                    <a:pt x="406" y="1775"/>
                    <a:pt x="894" y="1775"/>
                  </a:cubicBezTo>
                  <a:cubicBezTo>
                    <a:pt x="1382" y="1775"/>
                    <a:pt x="1775" y="1382"/>
                    <a:pt x="1775" y="894"/>
                  </a:cubicBezTo>
                  <a:cubicBezTo>
                    <a:pt x="1775" y="394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31" name="Google Shape;960;p35">
              <a:extLst>
                <a:ext uri="{FF2B5EF4-FFF2-40B4-BE49-F238E27FC236}">
                  <a16:creationId xmlns:a16="http://schemas.microsoft.com/office/drawing/2014/main" id="{BCBB59E6-544A-EDCF-FA3F-6E9615BE691B}"/>
                </a:ext>
              </a:extLst>
            </p:cNvPr>
            <p:cNvSpPr/>
            <p:nvPr/>
          </p:nvSpPr>
          <p:spPr>
            <a:xfrm>
              <a:off x="2260263" y="3584450"/>
              <a:ext cx="44375" cy="44675"/>
            </a:xfrm>
            <a:custGeom>
              <a:avLst/>
              <a:gdLst/>
              <a:ahLst/>
              <a:cxnLst/>
              <a:rect l="l" t="t" r="r" b="b"/>
              <a:pathLst>
                <a:path w="1775" h="1787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82"/>
                    <a:pt x="406" y="1787"/>
                    <a:pt x="894" y="1787"/>
                  </a:cubicBezTo>
                  <a:cubicBezTo>
                    <a:pt x="1382" y="1787"/>
                    <a:pt x="1775" y="1382"/>
                    <a:pt x="1775" y="894"/>
                  </a:cubicBezTo>
                  <a:cubicBezTo>
                    <a:pt x="1775" y="406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32" name="Google Shape;961;p35">
              <a:extLst>
                <a:ext uri="{FF2B5EF4-FFF2-40B4-BE49-F238E27FC236}">
                  <a16:creationId xmlns:a16="http://schemas.microsoft.com/office/drawing/2014/main" id="{32E64F0A-057C-49EF-E2DD-BFBAB3806394}"/>
                </a:ext>
              </a:extLst>
            </p:cNvPr>
            <p:cNvSpPr/>
            <p:nvPr/>
          </p:nvSpPr>
          <p:spPr>
            <a:xfrm>
              <a:off x="2260263" y="3660650"/>
              <a:ext cx="44375" cy="44675"/>
            </a:xfrm>
            <a:custGeom>
              <a:avLst/>
              <a:gdLst/>
              <a:ahLst/>
              <a:cxnLst/>
              <a:rect l="l" t="t" r="r" b="b"/>
              <a:pathLst>
                <a:path w="1775" h="1787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82"/>
                    <a:pt x="406" y="1787"/>
                    <a:pt x="894" y="1787"/>
                  </a:cubicBezTo>
                  <a:cubicBezTo>
                    <a:pt x="1382" y="1787"/>
                    <a:pt x="1775" y="1382"/>
                    <a:pt x="1775" y="894"/>
                  </a:cubicBezTo>
                  <a:cubicBezTo>
                    <a:pt x="1775" y="406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33" name="Google Shape;962;p35">
              <a:extLst>
                <a:ext uri="{FF2B5EF4-FFF2-40B4-BE49-F238E27FC236}">
                  <a16:creationId xmlns:a16="http://schemas.microsoft.com/office/drawing/2014/main" id="{976A0735-5293-0B55-A0E0-AB537067A1AE}"/>
                </a:ext>
              </a:extLst>
            </p:cNvPr>
            <p:cNvSpPr/>
            <p:nvPr/>
          </p:nvSpPr>
          <p:spPr>
            <a:xfrm>
              <a:off x="2260263" y="3727025"/>
              <a:ext cx="44375" cy="44675"/>
            </a:xfrm>
            <a:custGeom>
              <a:avLst/>
              <a:gdLst/>
              <a:ahLst/>
              <a:cxnLst/>
              <a:rect l="l" t="t" r="r" b="b"/>
              <a:pathLst>
                <a:path w="1775" h="1787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82"/>
                    <a:pt x="406" y="1787"/>
                    <a:pt x="894" y="1787"/>
                  </a:cubicBezTo>
                  <a:cubicBezTo>
                    <a:pt x="1382" y="1787"/>
                    <a:pt x="1775" y="1382"/>
                    <a:pt x="1775" y="894"/>
                  </a:cubicBezTo>
                  <a:cubicBezTo>
                    <a:pt x="1775" y="406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</p:grpSp>
      <p:sp>
        <p:nvSpPr>
          <p:cNvPr id="34" name="Google Shape;966;p35">
            <a:extLst>
              <a:ext uri="{FF2B5EF4-FFF2-40B4-BE49-F238E27FC236}">
                <a16:creationId xmlns:a16="http://schemas.microsoft.com/office/drawing/2014/main" id="{41E582BF-5365-61D3-84D5-7A51E39BC319}"/>
              </a:ext>
            </a:extLst>
          </p:cNvPr>
          <p:cNvSpPr/>
          <p:nvPr/>
        </p:nvSpPr>
        <p:spPr>
          <a:xfrm>
            <a:off x="4682085" y="3840545"/>
            <a:ext cx="738076" cy="737649"/>
          </a:xfrm>
          <a:custGeom>
            <a:avLst/>
            <a:gdLst/>
            <a:ahLst/>
            <a:cxnLst/>
            <a:rect l="l" t="t" r="r" b="b"/>
            <a:pathLst>
              <a:path w="20730" h="20718" extrusionOk="0">
                <a:moveTo>
                  <a:pt x="10359" y="1"/>
                </a:moveTo>
                <a:cubicBezTo>
                  <a:pt x="4644" y="1"/>
                  <a:pt x="1" y="4633"/>
                  <a:pt x="1" y="10359"/>
                </a:cubicBezTo>
                <a:cubicBezTo>
                  <a:pt x="1" y="16074"/>
                  <a:pt x="4644" y="20718"/>
                  <a:pt x="10359" y="20718"/>
                </a:cubicBezTo>
                <a:cubicBezTo>
                  <a:pt x="16086" y="20718"/>
                  <a:pt x="20729" y="16074"/>
                  <a:pt x="20729" y="10359"/>
                </a:cubicBezTo>
                <a:cubicBezTo>
                  <a:pt x="20729" y="4633"/>
                  <a:pt x="16086" y="1"/>
                  <a:pt x="103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FFFFFF"/>
                </a:solidFill>
              </a:rPr>
              <a:t>2021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35" name="Google Shape;967;p35">
            <a:extLst>
              <a:ext uri="{FF2B5EF4-FFF2-40B4-BE49-F238E27FC236}">
                <a16:creationId xmlns:a16="http://schemas.microsoft.com/office/drawing/2014/main" id="{D533BF08-725B-D6E0-C8AB-AE744F260940}"/>
              </a:ext>
            </a:extLst>
          </p:cNvPr>
          <p:cNvSpPr/>
          <p:nvPr/>
        </p:nvSpPr>
        <p:spPr>
          <a:xfrm>
            <a:off x="4425200" y="3860484"/>
            <a:ext cx="463781" cy="863972"/>
          </a:xfrm>
          <a:custGeom>
            <a:avLst/>
            <a:gdLst/>
            <a:ahLst/>
            <a:cxnLst/>
            <a:rect l="l" t="t" r="r" b="b"/>
            <a:pathLst>
              <a:path w="13026" h="24266" fill="none" extrusionOk="0">
                <a:moveTo>
                  <a:pt x="13026" y="24265"/>
                </a:moveTo>
                <a:cubicBezTo>
                  <a:pt x="10311" y="23742"/>
                  <a:pt x="7716" y="22420"/>
                  <a:pt x="5608" y="20313"/>
                </a:cubicBezTo>
                <a:cubicBezTo>
                  <a:pt x="0" y="14705"/>
                  <a:pt x="0" y="5608"/>
                  <a:pt x="5608" y="1"/>
                </a:cubicBezTo>
              </a:path>
            </a:pathLst>
          </a:custGeom>
          <a:noFill/>
          <a:ln w="81550" cap="flat" cmpd="sng">
            <a:solidFill>
              <a:schemeClr val="accent2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grpSp>
        <p:nvGrpSpPr>
          <p:cNvPr id="36" name="Google Shape;968;p35">
            <a:extLst>
              <a:ext uri="{FF2B5EF4-FFF2-40B4-BE49-F238E27FC236}">
                <a16:creationId xmlns:a16="http://schemas.microsoft.com/office/drawing/2014/main" id="{3F4F5965-D268-7DB1-69A3-D7C6C2D06D8F}"/>
              </a:ext>
            </a:extLst>
          </p:cNvPr>
          <p:cNvGrpSpPr/>
          <p:nvPr/>
        </p:nvGrpSpPr>
        <p:grpSpPr>
          <a:xfrm flipH="1">
            <a:off x="3716474" y="2944437"/>
            <a:ext cx="2553678" cy="1581221"/>
            <a:chOff x="2679963" y="2089625"/>
            <a:chExt cx="1793100" cy="1395450"/>
          </a:xfrm>
        </p:grpSpPr>
        <p:sp>
          <p:nvSpPr>
            <p:cNvPr id="37" name="Google Shape;969;p35">
              <a:extLst>
                <a:ext uri="{FF2B5EF4-FFF2-40B4-BE49-F238E27FC236}">
                  <a16:creationId xmlns:a16="http://schemas.microsoft.com/office/drawing/2014/main" id="{4B898F28-BFD5-D2E2-6208-BF76528CEA30}"/>
                </a:ext>
              </a:extLst>
            </p:cNvPr>
            <p:cNvSpPr/>
            <p:nvPr/>
          </p:nvSpPr>
          <p:spPr>
            <a:xfrm>
              <a:off x="2735038" y="3293950"/>
              <a:ext cx="367025" cy="126225"/>
            </a:xfrm>
            <a:custGeom>
              <a:avLst/>
              <a:gdLst/>
              <a:ahLst/>
              <a:cxnLst/>
              <a:rect l="l" t="t" r="r" b="b"/>
              <a:pathLst>
                <a:path w="14681" h="5049" fill="none" extrusionOk="0">
                  <a:moveTo>
                    <a:pt x="0" y="5048"/>
                  </a:moveTo>
                  <a:lnTo>
                    <a:pt x="9633" y="5048"/>
                  </a:lnTo>
                  <a:cubicBezTo>
                    <a:pt x="12419" y="5048"/>
                    <a:pt x="14681" y="2786"/>
                    <a:pt x="14681" y="0"/>
                  </a:cubicBezTo>
                </a:path>
              </a:pathLst>
            </a:custGeom>
            <a:noFill/>
            <a:ln w="40775" cap="flat" cmpd="sng">
              <a:solidFill>
                <a:schemeClr val="accent2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38" name="Google Shape;970;p35">
              <a:extLst>
                <a:ext uri="{FF2B5EF4-FFF2-40B4-BE49-F238E27FC236}">
                  <a16:creationId xmlns:a16="http://schemas.microsoft.com/office/drawing/2014/main" id="{128A083B-F8D6-1A33-D750-162A0D4C4CDD}"/>
                </a:ext>
              </a:extLst>
            </p:cNvPr>
            <p:cNvSpPr/>
            <p:nvPr/>
          </p:nvSpPr>
          <p:spPr>
            <a:xfrm>
              <a:off x="3102038" y="2089625"/>
              <a:ext cx="1371025" cy="1204349"/>
            </a:xfrm>
            <a:custGeom>
              <a:avLst/>
              <a:gdLst/>
              <a:ahLst/>
              <a:cxnLst/>
              <a:rect l="l" t="t" r="r" b="b"/>
              <a:pathLst>
                <a:path w="54841" h="48174" fill="none" extrusionOk="0">
                  <a:moveTo>
                    <a:pt x="40958" y="46268"/>
                  </a:moveTo>
                  <a:lnTo>
                    <a:pt x="49793" y="46268"/>
                  </a:lnTo>
                  <a:cubicBezTo>
                    <a:pt x="52579" y="46268"/>
                    <a:pt x="54841" y="44006"/>
                    <a:pt x="54841" y="41220"/>
                  </a:cubicBezTo>
                  <a:lnTo>
                    <a:pt x="54841" y="13490"/>
                  </a:lnTo>
                  <a:cubicBezTo>
                    <a:pt x="54841" y="10704"/>
                    <a:pt x="52579" y="8454"/>
                    <a:pt x="49793" y="8454"/>
                  </a:cubicBezTo>
                  <a:lnTo>
                    <a:pt x="34469" y="8454"/>
                  </a:lnTo>
                  <a:cubicBezTo>
                    <a:pt x="33815" y="8454"/>
                    <a:pt x="33207" y="8145"/>
                    <a:pt x="32814" y="7621"/>
                  </a:cubicBezTo>
                  <a:lnTo>
                    <a:pt x="29064" y="1120"/>
                  </a:lnTo>
                  <a:cubicBezTo>
                    <a:pt x="28254" y="1"/>
                    <a:pt x="26587" y="1"/>
                    <a:pt x="25766" y="1120"/>
                  </a:cubicBezTo>
                  <a:lnTo>
                    <a:pt x="22015" y="7621"/>
                  </a:lnTo>
                  <a:cubicBezTo>
                    <a:pt x="21634" y="8145"/>
                    <a:pt x="21027" y="8454"/>
                    <a:pt x="20372" y="8454"/>
                  </a:cubicBezTo>
                  <a:lnTo>
                    <a:pt x="5037" y="8454"/>
                  </a:lnTo>
                  <a:cubicBezTo>
                    <a:pt x="2251" y="8454"/>
                    <a:pt x="1" y="10704"/>
                    <a:pt x="1" y="13490"/>
                  </a:cubicBezTo>
                  <a:lnTo>
                    <a:pt x="1" y="48173"/>
                  </a:lnTo>
                </a:path>
              </a:pathLst>
            </a:custGeom>
            <a:solidFill>
              <a:schemeClr val="accent1"/>
            </a:solidFill>
            <a:ln w="40775" cap="flat" cmpd="sng">
              <a:solidFill>
                <a:schemeClr val="accent2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39" name="Google Shape;971;p35">
              <a:extLst>
                <a:ext uri="{FF2B5EF4-FFF2-40B4-BE49-F238E27FC236}">
                  <a16:creationId xmlns:a16="http://schemas.microsoft.com/office/drawing/2014/main" id="{1C7A6281-207A-299E-6FED-BD56E2755D42}"/>
                </a:ext>
              </a:extLst>
            </p:cNvPr>
            <p:cNvSpPr/>
            <p:nvPr/>
          </p:nvSpPr>
          <p:spPr>
            <a:xfrm>
              <a:off x="2679963" y="3354975"/>
              <a:ext cx="110175" cy="130100"/>
            </a:xfrm>
            <a:custGeom>
              <a:avLst/>
              <a:gdLst/>
              <a:ahLst/>
              <a:cxnLst/>
              <a:rect l="l" t="t" r="r" b="b"/>
              <a:pathLst>
                <a:path w="4407" h="5204" extrusionOk="0">
                  <a:moveTo>
                    <a:pt x="2287" y="0"/>
                  </a:moveTo>
                  <a:lnTo>
                    <a:pt x="1060" y="1405"/>
                  </a:lnTo>
                  <a:lnTo>
                    <a:pt x="1" y="2631"/>
                  </a:lnTo>
                  <a:lnTo>
                    <a:pt x="2239" y="5203"/>
                  </a:lnTo>
                  <a:lnTo>
                    <a:pt x="4370" y="5203"/>
                  </a:lnTo>
                  <a:lnTo>
                    <a:pt x="2132" y="2631"/>
                  </a:lnTo>
                  <a:lnTo>
                    <a:pt x="4406" y="12"/>
                  </a:lnTo>
                  <a:lnTo>
                    <a:pt x="43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</p:grpSp>
      <p:grpSp>
        <p:nvGrpSpPr>
          <p:cNvPr id="40" name="Google Shape;972;p35">
            <a:extLst>
              <a:ext uri="{FF2B5EF4-FFF2-40B4-BE49-F238E27FC236}">
                <a16:creationId xmlns:a16="http://schemas.microsoft.com/office/drawing/2014/main" id="{C5331F88-6456-8B77-DFED-D662660F7390}"/>
              </a:ext>
            </a:extLst>
          </p:cNvPr>
          <p:cNvGrpSpPr/>
          <p:nvPr/>
        </p:nvGrpSpPr>
        <p:grpSpPr>
          <a:xfrm>
            <a:off x="4637509" y="2500235"/>
            <a:ext cx="63625" cy="375197"/>
            <a:chOff x="3765213" y="1736900"/>
            <a:chExt cx="44675" cy="263450"/>
          </a:xfrm>
        </p:grpSpPr>
        <p:sp>
          <p:nvSpPr>
            <p:cNvPr id="41" name="Google Shape;973;p35">
              <a:extLst>
                <a:ext uri="{FF2B5EF4-FFF2-40B4-BE49-F238E27FC236}">
                  <a16:creationId xmlns:a16="http://schemas.microsoft.com/office/drawing/2014/main" id="{1878C4C4-1DE4-E80A-0364-C27E6C7994EC}"/>
                </a:ext>
              </a:extLst>
            </p:cNvPr>
            <p:cNvSpPr/>
            <p:nvPr/>
          </p:nvSpPr>
          <p:spPr>
            <a:xfrm>
              <a:off x="3765213" y="1955675"/>
              <a:ext cx="44675" cy="4467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82"/>
                    <a:pt x="406" y="1787"/>
                    <a:pt x="894" y="1787"/>
                  </a:cubicBezTo>
                  <a:cubicBezTo>
                    <a:pt x="1382" y="1787"/>
                    <a:pt x="1787" y="1382"/>
                    <a:pt x="1787" y="894"/>
                  </a:cubicBezTo>
                  <a:cubicBezTo>
                    <a:pt x="1787" y="406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42" name="Google Shape;974;p35">
              <a:extLst>
                <a:ext uri="{FF2B5EF4-FFF2-40B4-BE49-F238E27FC236}">
                  <a16:creationId xmlns:a16="http://schemas.microsoft.com/office/drawing/2014/main" id="{3377A356-29D0-8C6C-A6D3-E60A549E76B1}"/>
                </a:ext>
              </a:extLst>
            </p:cNvPr>
            <p:cNvSpPr/>
            <p:nvPr/>
          </p:nvSpPr>
          <p:spPr>
            <a:xfrm>
              <a:off x="3765213" y="1879475"/>
              <a:ext cx="44675" cy="44375"/>
            </a:xfrm>
            <a:custGeom>
              <a:avLst/>
              <a:gdLst/>
              <a:ahLst/>
              <a:cxnLst/>
              <a:rect l="l" t="t" r="r" b="b"/>
              <a:pathLst>
                <a:path w="1787" h="1775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82"/>
                    <a:pt x="406" y="1775"/>
                    <a:pt x="894" y="1775"/>
                  </a:cubicBezTo>
                  <a:cubicBezTo>
                    <a:pt x="1382" y="1775"/>
                    <a:pt x="1787" y="1382"/>
                    <a:pt x="1787" y="894"/>
                  </a:cubicBezTo>
                  <a:cubicBezTo>
                    <a:pt x="1787" y="406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43" name="Google Shape;975;p35">
              <a:extLst>
                <a:ext uri="{FF2B5EF4-FFF2-40B4-BE49-F238E27FC236}">
                  <a16:creationId xmlns:a16="http://schemas.microsoft.com/office/drawing/2014/main" id="{5B12E24E-731D-8DCF-D8C4-C4D37443911F}"/>
                </a:ext>
              </a:extLst>
            </p:cNvPr>
            <p:cNvSpPr/>
            <p:nvPr/>
          </p:nvSpPr>
          <p:spPr>
            <a:xfrm>
              <a:off x="3765213" y="1803275"/>
              <a:ext cx="44675" cy="44375"/>
            </a:xfrm>
            <a:custGeom>
              <a:avLst/>
              <a:gdLst/>
              <a:ahLst/>
              <a:cxnLst/>
              <a:rect l="l" t="t" r="r" b="b"/>
              <a:pathLst>
                <a:path w="1787" h="1775" extrusionOk="0">
                  <a:moveTo>
                    <a:pt x="894" y="1"/>
                  </a:moveTo>
                  <a:cubicBezTo>
                    <a:pt x="406" y="1"/>
                    <a:pt x="1" y="394"/>
                    <a:pt x="1" y="894"/>
                  </a:cubicBezTo>
                  <a:cubicBezTo>
                    <a:pt x="1" y="1382"/>
                    <a:pt x="406" y="1775"/>
                    <a:pt x="894" y="1775"/>
                  </a:cubicBezTo>
                  <a:cubicBezTo>
                    <a:pt x="1382" y="1775"/>
                    <a:pt x="1787" y="1382"/>
                    <a:pt x="1787" y="894"/>
                  </a:cubicBezTo>
                  <a:cubicBezTo>
                    <a:pt x="1787" y="394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44" name="Google Shape;976;p35">
              <a:extLst>
                <a:ext uri="{FF2B5EF4-FFF2-40B4-BE49-F238E27FC236}">
                  <a16:creationId xmlns:a16="http://schemas.microsoft.com/office/drawing/2014/main" id="{908FB6AD-6DCA-3078-E0DE-E58C4D091D05}"/>
                </a:ext>
              </a:extLst>
            </p:cNvPr>
            <p:cNvSpPr/>
            <p:nvPr/>
          </p:nvSpPr>
          <p:spPr>
            <a:xfrm>
              <a:off x="3765213" y="1736900"/>
              <a:ext cx="44675" cy="44375"/>
            </a:xfrm>
            <a:custGeom>
              <a:avLst/>
              <a:gdLst/>
              <a:ahLst/>
              <a:cxnLst/>
              <a:rect l="l" t="t" r="r" b="b"/>
              <a:pathLst>
                <a:path w="1787" h="1775" extrusionOk="0">
                  <a:moveTo>
                    <a:pt x="894" y="1"/>
                  </a:moveTo>
                  <a:cubicBezTo>
                    <a:pt x="406" y="1"/>
                    <a:pt x="1" y="394"/>
                    <a:pt x="1" y="894"/>
                  </a:cubicBezTo>
                  <a:cubicBezTo>
                    <a:pt x="1" y="1382"/>
                    <a:pt x="406" y="1775"/>
                    <a:pt x="894" y="1775"/>
                  </a:cubicBezTo>
                  <a:cubicBezTo>
                    <a:pt x="1382" y="1775"/>
                    <a:pt x="1787" y="1382"/>
                    <a:pt x="1787" y="894"/>
                  </a:cubicBezTo>
                  <a:cubicBezTo>
                    <a:pt x="1787" y="394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</p:grpSp>
      <p:sp>
        <p:nvSpPr>
          <p:cNvPr id="45" name="Google Shape;980;p35">
            <a:extLst>
              <a:ext uri="{FF2B5EF4-FFF2-40B4-BE49-F238E27FC236}">
                <a16:creationId xmlns:a16="http://schemas.microsoft.com/office/drawing/2014/main" id="{9A390F3E-3C1C-54C5-E882-A2E5BAD1FDE0}"/>
              </a:ext>
            </a:extLst>
          </p:cNvPr>
          <p:cNvSpPr/>
          <p:nvPr/>
        </p:nvSpPr>
        <p:spPr>
          <a:xfrm>
            <a:off x="6689452" y="2703454"/>
            <a:ext cx="737648" cy="738076"/>
          </a:xfrm>
          <a:custGeom>
            <a:avLst/>
            <a:gdLst/>
            <a:ahLst/>
            <a:cxnLst/>
            <a:rect l="l" t="t" r="r" b="b"/>
            <a:pathLst>
              <a:path w="20718" h="20730" extrusionOk="0">
                <a:moveTo>
                  <a:pt x="10359" y="1"/>
                </a:moveTo>
                <a:cubicBezTo>
                  <a:pt x="4632" y="1"/>
                  <a:pt x="1" y="4644"/>
                  <a:pt x="1" y="10371"/>
                </a:cubicBezTo>
                <a:cubicBezTo>
                  <a:pt x="1" y="16086"/>
                  <a:pt x="4632" y="20730"/>
                  <a:pt x="10359" y="20730"/>
                </a:cubicBezTo>
                <a:cubicBezTo>
                  <a:pt x="16086" y="20730"/>
                  <a:pt x="20718" y="16086"/>
                  <a:pt x="20718" y="10371"/>
                </a:cubicBezTo>
                <a:cubicBezTo>
                  <a:pt x="20718" y="4644"/>
                  <a:pt x="16086" y="1"/>
                  <a:pt x="10359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600" b="1" dirty="0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46" name="Google Shape;981;p35">
            <a:extLst>
              <a:ext uri="{FF2B5EF4-FFF2-40B4-BE49-F238E27FC236}">
                <a16:creationId xmlns:a16="http://schemas.microsoft.com/office/drawing/2014/main" id="{F9FC17AF-8AA4-B6FE-0957-FCC45A862E63}"/>
              </a:ext>
            </a:extLst>
          </p:cNvPr>
          <p:cNvSpPr/>
          <p:nvPr/>
        </p:nvSpPr>
        <p:spPr>
          <a:xfrm>
            <a:off x="7058276" y="2786554"/>
            <a:ext cx="511668" cy="797428"/>
          </a:xfrm>
          <a:custGeom>
            <a:avLst/>
            <a:gdLst/>
            <a:ahLst/>
            <a:cxnLst/>
            <a:rect l="l" t="t" r="r" b="b"/>
            <a:pathLst>
              <a:path w="14371" h="22397" fill="none" extrusionOk="0">
                <a:moveTo>
                  <a:pt x="11918" y="1"/>
                </a:moveTo>
                <a:cubicBezTo>
                  <a:pt x="13466" y="2298"/>
                  <a:pt x="14371" y="5061"/>
                  <a:pt x="14371" y="8037"/>
                </a:cubicBezTo>
                <a:cubicBezTo>
                  <a:pt x="14371" y="15967"/>
                  <a:pt x="7930" y="22396"/>
                  <a:pt x="0" y="22396"/>
                </a:cubicBezTo>
              </a:path>
            </a:pathLst>
          </a:custGeom>
          <a:noFill/>
          <a:ln w="81550" cap="flat" cmpd="sng">
            <a:solidFill>
              <a:schemeClr val="tx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grpSp>
        <p:nvGrpSpPr>
          <p:cNvPr id="47" name="Google Shape;982;p35">
            <a:extLst>
              <a:ext uri="{FF2B5EF4-FFF2-40B4-BE49-F238E27FC236}">
                <a16:creationId xmlns:a16="http://schemas.microsoft.com/office/drawing/2014/main" id="{DA87C47B-5E7A-7481-B800-DDEC4DC17071}"/>
              </a:ext>
            </a:extLst>
          </p:cNvPr>
          <p:cNvGrpSpPr/>
          <p:nvPr/>
        </p:nvGrpSpPr>
        <p:grpSpPr>
          <a:xfrm>
            <a:off x="5921883" y="2894043"/>
            <a:ext cx="2553678" cy="1580400"/>
            <a:chOff x="4618913" y="2023550"/>
            <a:chExt cx="1793100" cy="1395125"/>
          </a:xfrm>
        </p:grpSpPr>
        <p:sp>
          <p:nvSpPr>
            <p:cNvPr id="48" name="Google Shape;983;p35">
              <a:extLst>
                <a:ext uri="{FF2B5EF4-FFF2-40B4-BE49-F238E27FC236}">
                  <a16:creationId xmlns:a16="http://schemas.microsoft.com/office/drawing/2014/main" id="{4E2C880D-E30A-AAA1-39CC-275CC69499FE}"/>
                </a:ext>
              </a:extLst>
            </p:cNvPr>
            <p:cNvSpPr/>
            <p:nvPr/>
          </p:nvSpPr>
          <p:spPr>
            <a:xfrm>
              <a:off x="5989913" y="2088450"/>
              <a:ext cx="367025" cy="126225"/>
            </a:xfrm>
            <a:custGeom>
              <a:avLst/>
              <a:gdLst/>
              <a:ahLst/>
              <a:cxnLst/>
              <a:rect l="l" t="t" r="r" b="b"/>
              <a:pathLst>
                <a:path w="14681" h="5049" fill="none" extrusionOk="0">
                  <a:moveTo>
                    <a:pt x="14681" y="0"/>
                  </a:moveTo>
                  <a:lnTo>
                    <a:pt x="5037" y="0"/>
                  </a:lnTo>
                  <a:cubicBezTo>
                    <a:pt x="2262" y="0"/>
                    <a:pt x="0" y="2262"/>
                    <a:pt x="0" y="5048"/>
                  </a:cubicBezTo>
                </a:path>
              </a:pathLst>
            </a:custGeom>
            <a:solidFill>
              <a:schemeClr val="tx1"/>
            </a:solidFill>
            <a:ln w="40775" cap="flat" cmpd="sng">
              <a:solidFill>
                <a:schemeClr val="tx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49" name="Google Shape;984;p35">
              <a:extLst>
                <a:ext uri="{FF2B5EF4-FFF2-40B4-BE49-F238E27FC236}">
                  <a16:creationId xmlns:a16="http://schemas.microsoft.com/office/drawing/2014/main" id="{E12323C6-280E-5745-957E-43E39B94A862}"/>
                </a:ext>
              </a:extLst>
            </p:cNvPr>
            <p:cNvSpPr/>
            <p:nvPr/>
          </p:nvSpPr>
          <p:spPr>
            <a:xfrm>
              <a:off x="4618913" y="2214650"/>
              <a:ext cx="1371025" cy="1204025"/>
            </a:xfrm>
            <a:custGeom>
              <a:avLst/>
              <a:gdLst/>
              <a:ahLst/>
              <a:cxnLst/>
              <a:rect l="l" t="t" r="r" b="b"/>
              <a:pathLst>
                <a:path w="54841" h="48161" fill="none" extrusionOk="0">
                  <a:moveTo>
                    <a:pt x="13883" y="1905"/>
                  </a:moveTo>
                  <a:lnTo>
                    <a:pt x="5036" y="1905"/>
                  </a:lnTo>
                  <a:cubicBezTo>
                    <a:pt x="2250" y="1905"/>
                    <a:pt x="0" y="4167"/>
                    <a:pt x="0" y="6954"/>
                  </a:cubicBezTo>
                  <a:lnTo>
                    <a:pt x="0" y="34671"/>
                  </a:lnTo>
                  <a:cubicBezTo>
                    <a:pt x="0" y="37457"/>
                    <a:pt x="2250" y="39719"/>
                    <a:pt x="5036" y="39719"/>
                  </a:cubicBezTo>
                  <a:lnTo>
                    <a:pt x="20372" y="39719"/>
                  </a:lnTo>
                  <a:cubicBezTo>
                    <a:pt x="21027" y="39719"/>
                    <a:pt x="21634" y="40029"/>
                    <a:pt x="22015" y="40553"/>
                  </a:cubicBezTo>
                  <a:lnTo>
                    <a:pt x="25765" y="47054"/>
                  </a:lnTo>
                  <a:cubicBezTo>
                    <a:pt x="26587" y="48161"/>
                    <a:pt x="28254" y="48161"/>
                    <a:pt x="29063" y="47054"/>
                  </a:cubicBezTo>
                  <a:lnTo>
                    <a:pt x="32814" y="40553"/>
                  </a:lnTo>
                  <a:cubicBezTo>
                    <a:pt x="33207" y="40029"/>
                    <a:pt x="33814" y="39719"/>
                    <a:pt x="34469" y="39719"/>
                  </a:cubicBezTo>
                  <a:lnTo>
                    <a:pt x="49792" y="39719"/>
                  </a:lnTo>
                  <a:cubicBezTo>
                    <a:pt x="52578" y="39719"/>
                    <a:pt x="54840" y="37457"/>
                    <a:pt x="54840" y="34671"/>
                  </a:cubicBezTo>
                  <a:lnTo>
                    <a:pt x="54840" y="0"/>
                  </a:lnTo>
                </a:path>
              </a:pathLst>
            </a:custGeom>
            <a:solidFill>
              <a:schemeClr val="tx1"/>
            </a:solidFill>
            <a:ln w="40775" cap="flat" cmpd="sng">
              <a:solidFill>
                <a:schemeClr val="tx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50" name="Google Shape;985;p35">
              <a:extLst>
                <a:ext uri="{FF2B5EF4-FFF2-40B4-BE49-F238E27FC236}">
                  <a16:creationId xmlns:a16="http://schemas.microsoft.com/office/drawing/2014/main" id="{80B2D75B-3EEF-CBDC-CE5E-DEA6F39500E5}"/>
                </a:ext>
              </a:extLst>
            </p:cNvPr>
            <p:cNvSpPr/>
            <p:nvPr/>
          </p:nvSpPr>
          <p:spPr>
            <a:xfrm>
              <a:off x="6301863" y="2023550"/>
              <a:ext cx="110150" cy="129800"/>
            </a:xfrm>
            <a:custGeom>
              <a:avLst/>
              <a:gdLst/>
              <a:ahLst/>
              <a:cxnLst/>
              <a:rect l="l" t="t" r="r" b="b"/>
              <a:pathLst>
                <a:path w="4406" h="5192" extrusionOk="0">
                  <a:moveTo>
                    <a:pt x="24" y="0"/>
                  </a:moveTo>
                  <a:lnTo>
                    <a:pt x="2274" y="2572"/>
                  </a:lnTo>
                  <a:lnTo>
                    <a:pt x="0" y="5180"/>
                  </a:lnTo>
                  <a:lnTo>
                    <a:pt x="12" y="5192"/>
                  </a:lnTo>
                  <a:lnTo>
                    <a:pt x="2119" y="5192"/>
                  </a:lnTo>
                  <a:lnTo>
                    <a:pt x="3334" y="3799"/>
                  </a:lnTo>
                  <a:lnTo>
                    <a:pt x="4405" y="2572"/>
                  </a:lnTo>
                  <a:lnTo>
                    <a:pt x="216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</p:grpSp>
      <p:grpSp>
        <p:nvGrpSpPr>
          <p:cNvPr id="51" name="Google Shape;986;p35">
            <a:extLst>
              <a:ext uri="{FF2B5EF4-FFF2-40B4-BE49-F238E27FC236}">
                <a16:creationId xmlns:a16="http://schemas.microsoft.com/office/drawing/2014/main" id="{2EE6988B-AEC7-DE17-28A1-5D52AC37A0FF}"/>
              </a:ext>
            </a:extLst>
          </p:cNvPr>
          <p:cNvGrpSpPr/>
          <p:nvPr/>
        </p:nvGrpSpPr>
        <p:grpSpPr>
          <a:xfrm>
            <a:off x="6866554" y="4563511"/>
            <a:ext cx="63198" cy="375197"/>
            <a:chOff x="5282088" y="3508250"/>
            <a:chExt cx="44375" cy="263450"/>
          </a:xfrm>
        </p:grpSpPr>
        <p:sp>
          <p:nvSpPr>
            <p:cNvPr id="52" name="Google Shape;987;p35">
              <a:extLst>
                <a:ext uri="{FF2B5EF4-FFF2-40B4-BE49-F238E27FC236}">
                  <a16:creationId xmlns:a16="http://schemas.microsoft.com/office/drawing/2014/main" id="{0595C07A-2B4A-EBCB-E310-913AF47E0BEE}"/>
                </a:ext>
              </a:extLst>
            </p:cNvPr>
            <p:cNvSpPr/>
            <p:nvPr/>
          </p:nvSpPr>
          <p:spPr>
            <a:xfrm>
              <a:off x="5282088" y="3508250"/>
              <a:ext cx="44375" cy="44375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93" y="1"/>
                  </a:moveTo>
                  <a:cubicBezTo>
                    <a:pt x="405" y="1"/>
                    <a:pt x="0" y="394"/>
                    <a:pt x="0" y="894"/>
                  </a:cubicBezTo>
                  <a:cubicBezTo>
                    <a:pt x="0" y="1382"/>
                    <a:pt x="405" y="1775"/>
                    <a:pt x="893" y="1775"/>
                  </a:cubicBezTo>
                  <a:cubicBezTo>
                    <a:pt x="1381" y="1775"/>
                    <a:pt x="1774" y="1382"/>
                    <a:pt x="1774" y="894"/>
                  </a:cubicBezTo>
                  <a:cubicBezTo>
                    <a:pt x="1774" y="394"/>
                    <a:pt x="1381" y="1"/>
                    <a:pt x="8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53" name="Google Shape;988;p35">
              <a:extLst>
                <a:ext uri="{FF2B5EF4-FFF2-40B4-BE49-F238E27FC236}">
                  <a16:creationId xmlns:a16="http://schemas.microsoft.com/office/drawing/2014/main" id="{3B2B4CFC-6B02-1C54-4FE8-8FE7AFFB669A}"/>
                </a:ext>
              </a:extLst>
            </p:cNvPr>
            <p:cNvSpPr/>
            <p:nvPr/>
          </p:nvSpPr>
          <p:spPr>
            <a:xfrm>
              <a:off x="5282088" y="3584450"/>
              <a:ext cx="44375" cy="44675"/>
            </a:xfrm>
            <a:custGeom>
              <a:avLst/>
              <a:gdLst/>
              <a:ahLst/>
              <a:cxnLst/>
              <a:rect l="l" t="t" r="r" b="b"/>
              <a:pathLst>
                <a:path w="1775" h="1787" extrusionOk="0">
                  <a:moveTo>
                    <a:pt x="893" y="1"/>
                  </a:moveTo>
                  <a:cubicBezTo>
                    <a:pt x="405" y="1"/>
                    <a:pt x="0" y="406"/>
                    <a:pt x="0" y="894"/>
                  </a:cubicBezTo>
                  <a:cubicBezTo>
                    <a:pt x="0" y="1382"/>
                    <a:pt x="405" y="1787"/>
                    <a:pt x="893" y="1787"/>
                  </a:cubicBezTo>
                  <a:cubicBezTo>
                    <a:pt x="1381" y="1787"/>
                    <a:pt x="1774" y="1382"/>
                    <a:pt x="1774" y="894"/>
                  </a:cubicBezTo>
                  <a:cubicBezTo>
                    <a:pt x="1774" y="406"/>
                    <a:pt x="1381" y="1"/>
                    <a:pt x="8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54" name="Google Shape;989;p35">
              <a:extLst>
                <a:ext uri="{FF2B5EF4-FFF2-40B4-BE49-F238E27FC236}">
                  <a16:creationId xmlns:a16="http://schemas.microsoft.com/office/drawing/2014/main" id="{67C41CCC-CF09-716E-37B3-03FC004E6444}"/>
                </a:ext>
              </a:extLst>
            </p:cNvPr>
            <p:cNvSpPr/>
            <p:nvPr/>
          </p:nvSpPr>
          <p:spPr>
            <a:xfrm>
              <a:off x="5282088" y="3660650"/>
              <a:ext cx="44375" cy="44675"/>
            </a:xfrm>
            <a:custGeom>
              <a:avLst/>
              <a:gdLst/>
              <a:ahLst/>
              <a:cxnLst/>
              <a:rect l="l" t="t" r="r" b="b"/>
              <a:pathLst>
                <a:path w="1775" h="1787" extrusionOk="0">
                  <a:moveTo>
                    <a:pt x="893" y="1"/>
                  </a:moveTo>
                  <a:cubicBezTo>
                    <a:pt x="405" y="1"/>
                    <a:pt x="0" y="406"/>
                    <a:pt x="0" y="894"/>
                  </a:cubicBezTo>
                  <a:cubicBezTo>
                    <a:pt x="0" y="1382"/>
                    <a:pt x="405" y="1787"/>
                    <a:pt x="893" y="1787"/>
                  </a:cubicBezTo>
                  <a:cubicBezTo>
                    <a:pt x="1381" y="1787"/>
                    <a:pt x="1774" y="1382"/>
                    <a:pt x="1774" y="894"/>
                  </a:cubicBezTo>
                  <a:cubicBezTo>
                    <a:pt x="1774" y="406"/>
                    <a:pt x="1381" y="1"/>
                    <a:pt x="8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55" name="Google Shape;990;p35">
              <a:extLst>
                <a:ext uri="{FF2B5EF4-FFF2-40B4-BE49-F238E27FC236}">
                  <a16:creationId xmlns:a16="http://schemas.microsoft.com/office/drawing/2014/main" id="{97DE9285-FC3F-7184-724F-24161B2FFEB9}"/>
                </a:ext>
              </a:extLst>
            </p:cNvPr>
            <p:cNvSpPr/>
            <p:nvPr/>
          </p:nvSpPr>
          <p:spPr>
            <a:xfrm>
              <a:off x="5282088" y="3727025"/>
              <a:ext cx="44375" cy="44675"/>
            </a:xfrm>
            <a:custGeom>
              <a:avLst/>
              <a:gdLst/>
              <a:ahLst/>
              <a:cxnLst/>
              <a:rect l="l" t="t" r="r" b="b"/>
              <a:pathLst>
                <a:path w="1775" h="1787" extrusionOk="0">
                  <a:moveTo>
                    <a:pt x="893" y="1"/>
                  </a:moveTo>
                  <a:cubicBezTo>
                    <a:pt x="405" y="1"/>
                    <a:pt x="0" y="406"/>
                    <a:pt x="0" y="894"/>
                  </a:cubicBezTo>
                  <a:cubicBezTo>
                    <a:pt x="0" y="1382"/>
                    <a:pt x="405" y="1787"/>
                    <a:pt x="893" y="1787"/>
                  </a:cubicBezTo>
                  <a:cubicBezTo>
                    <a:pt x="1381" y="1787"/>
                    <a:pt x="1774" y="1382"/>
                    <a:pt x="1774" y="894"/>
                  </a:cubicBezTo>
                  <a:cubicBezTo>
                    <a:pt x="1774" y="406"/>
                    <a:pt x="1381" y="1"/>
                    <a:pt x="8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</p:grpSp>
      <p:sp>
        <p:nvSpPr>
          <p:cNvPr id="56" name="Google Shape;994;p35">
            <a:extLst>
              <a:ext uri="{FF2B5EF4-FFF2-40B4-BE49-F238E27FC236}">
                <a16:creationId xmlns:a16="http://schemas.microsoft.com/office/drawing/2014/main" id="{369DAABB-78D4-89F2-5B44-E915F46CBEE3}"/>
              </a:ext>
            </a:extLst>
          </p:cNvPr>
          <p:cNvSpPr/>
          <p:nvPr/>
        </p:nvSpPr>
        <p:spPr>
          <a:xfrm>
            <a:off x="9096083" y="3840545"/>
            <a:ext cx="738076" cy="737649"/>
          </a:xfrm>
          <a:custGeom>
            <a:avLst/>
            <a:gdLst/>
            <a:ahLst/>
            <a:cxnLst/>
            <a:rect l="l" t="t" r="r" b="b"/>
            <a:pathLst>
              <a:path w="20730" h="20718" extrusionOk="0">
                <a:moveTo>
                  <a:pt x="10371" y="1"/>
                </a:moveTo>
                <a:cubicBezTo>
                  <a:pt x="4644" y="1"/>
                  <a:pt x="0" y="4633"/>
                  <a:pt x="0" y="10359"/>
                </a:cubicBezTo>
                <a:cubicBezTo>
                  <a:pt x="0" y="16074"/>
                  <a:pt x="4644" y="20718"/>
                  <a:pt x="10371" y="20718"/>
                </a:cubicBezTo>
                <a:cubicBezTo>
                  <a:pt x="16086" y="20718"/>
                  <a:pt x="20729" y="16074"/>
                  <a:pt x="20729" y="10359"/>
                </a:cubicBezTo>
                <a:cubicBezTo>
                  <a:pt x="20729" y="4633"/>
                  <a:pt x="16086" y="1"/>
                  <a:pt x="10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FFFFFF"/>
                </a:solidFill>
              </a:rPr>
              <a:t>2025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57" name="Google Shape;995;p35">
            <a:extLst>
              <a:ext uri="{FF2B5EF4-FFF2-40B4-BE49-F238E27FC236}">
                <a16:creationId xmlns:a16="http://schemas.microsoft.com/office/drawing/2014/main" id="{B373124D-A429-DA02-35FF-95056B12E496}"/>
              </a:ext>
            </a:extLst>
          </p:cNvPr>
          <p:cNvSpPr/>
          <p:nvPr/>
        </p:nvSpPr>
        <p:spPr>
          <a:xfrm>
            <a:off x="8839199" y="3860484"/>
            <a:ext cx="464208" cy="863972"/>
          </a:xfrm>
          <a:custGeom>
            <a:avLst/>
            <a:gdLst/>
            <a:ahLst/>
            <a:cxnLst/>
            <a:rect l="l" t="t" r="r" b="b"/>
            <a:pathLst>
              <a:path w="13038" h="24266" fill="none" extrusionOk="0">
                <a:moveTo>
                  <a:pt x="13038" y="24265"/>
                </a:moveTo>
                <a:cubicBezTo>
                  <a:pt x="10311" y="23742"/>
                  <a:pt x="7716" y="22420"/>
                  <a:pt x="5620" y="20313"/>
                </a:cubicBezTo>
                <a:cubicBezTo>
                  <a:pt x="0" y="14705"/>
                  <a:pt x="0" y="5608"/>
                  <a:pt x="5620" y="1"/>
                </a:cubicBezTo>
              </a:path>
            </a:pathLst>
          </a:custGeom>
          <a:solidFill>
            <a:schemeClr val="accent4">
              <a:lumMod val="75000"/>
            </a:schemeClr>
          </a:solidFill>
          <a:ln w="81550" cap="flat" cmpd="sng">
            <a:solidFill>
              <a:schemeClr val="accent4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grpSp>
        <p:nvGrpSpPr>
          <p:cNvPr id="58" name="Google Shape;996;p35">
            <a:extLst>
              <a:ext uri="{FF2B5EF4-FFF2-40B4-BE49-F238E27FC236}">
                <a16:creationId xmlns:a16="http://schemas.microsoft.com/office/drawing/2014/main" id="{CD80D15B-73B8-6137-1BF1-02375D6953BE}"/>
              </a:ext>
            </a:extLst>
          </p:cNvPr>
          <p:cNvGrpSpPr/>
          <p:nvPr/>
        </p:nvGrpSpPr>
        <p:grpSpPr>
          <a:xfrm flipH="1">
            <a:off x="8127292" y="2944437"/>
            <a:ext cx="2553678" cy="1581221"/>
            <a:chOff x="5753863" y="2089625"/>
            <a:chExt cx="1793100" cy="1395450"/>
          </a:xfrm>
        </p:grpSpPr>
        <p:sp>
          <p:nvSpPr>
            <p:cNvPr id="59" name="Google Shape;997;p35">
              <a:extLst>
                <a:ext uri="{FF2B5EF4-FFF2-40B4-BE49-F238E27FC236}">
                  <a16:creationId xmlns:a16="http://schemas.microsoft.com/office/drawing/2014/main" id="{53DAB1D7-81F8-1771-95ED-6671DB188DA5}"/>
                </a:ext>
              </a:extLst>
            </p:cNvPr>
            <p:cNvSpPr/>
            <p:nvPr/>
          </p:nvSpPr>
          <p:spPr>
            <a:xfrm>
              <a:off x="5808938" y="3293950"/>
              <a:ext cx="367025" cy="126225"/>
            </a:xfrm>
            <a:custGeom>
              <a:avLst/>
              <a:gdLst/>
              <a:ahLst/>
              <a:cxnLst/>
              <a:rect l="l" t="t" r="r" b="b"/>
              <a:pathLst>
                <a:path w="14681" h="5049" fill="none" extrusionOk="0">
                  <a:moveTo>
                    <a:pt x="0" y="5048"/>
                  </a:moveTo>
                  <a:lnTo>
                    <a:pt x="9632" y="5048"/>
                  </a:lnTo>
                  <a:cubicBezTo>
                    <a:pt x="12418" y="5048"/>
                    <a:pt x="14681" y="2786"/>
                    <a:pt x="14681" y="0"/>
                  </a:cubicBezTo>
                </a:path>
              </a:pathLst>
            </a:custGeom>
            <a:noFill/>
            <a:ln w="40775" cap="flat" cmpd="sng">
              <a:solidFill>
                <a:schemeClr val="accent4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60" name="Google Shape;998;p35">
              <a:extLst>
                <a:ext uri="{FF2B5EF4-FFF2-40B4-BE49-F238E27FC236}">
                  <a16:creationId xmlns:a16="http://schemas.microsoft.com/office/drawing/2014/main" id="{7F1B6F96-B183-AD08-F700-53072A5510C2}"/>
                </a:ext>
              </a:extLst>
            </p:cNvPr>
            <p:cNvSpPr/>
            <p:nvPr/>
          </p:nvSpPr>
          <p:spPr>
            <a:xfrm>
              <a:off x="6175938" y="2089625"/>
              <a:ext cx="1371025" cy="1204350"/>
            </a:xfrm>
            <a:custGeom>
              <a:avLst/>
              <a:gdLst/>
              <a:ahLst/>
              <a:cxnLst/>
              <a:rect l="l" t="t" r="r" b="b"/>
              <a:pathLst>
                <a:path w="54841" h="48174" fill="none" extrusionOk="0">
                  <a:moveTo>
                    <a:pt x="40958" y="46268"/>
                  </a:moveTo>
                  <a:lnTo>
                    <a:pt x="49805" y="46268"/>
                  </a:lnTo>
                  <a:cubicBezTo>
                    <a:pt x="52591" y="46268"/>
                    <a:pt x="54841" y="44006"/>
                    <a:pt x="54841" y="41220"/>
                  </a:cubicBezTo>
                  <a:lnTo>
                    <a:pt x="54841" y="13490"/>
                  </a:lnTo>
                  <a:cubicBezTo>
                    <a:pt x="54841" y="10704"/>
                    <a:pt x="52591" y="8454"/>
                    <a:pt x="49805" y="8454"/>
                  </a:cubicBezTo>
                  <a:lnTo>
                    <a:pt x="34469" y="8454"/>
                  </a:lnTo>
                  <a:cubicBezTo>
                    <a:pt x="33814" y="8454"/>
                    <a:pt x="33207" y="8145"/>
                    <a:pt x="32826" y="7621"/>
                  </a:cubicBezTo>
                  <a:lnTo>
                    <a:pt x="29076" y="1120"/>
                  </a:lnTo>
                  <a:cubicBezTo>
                    <a:pt x="28254" y="1"/>
                    <a:pt x="26587" y="1"/>
                    <a:pt x="25778" y="1120"/>
                  </a:cubicBezTo>
                  <a:lnTo>
                    <a:pt x="22027" y="7621"/>
                  </a:lnTo>
                  <a:cubicBezTo>
                    <a:pt x="21634" y="8145"/>
                    <a:pt x="21027" y="8454"/>
                    <a:pt x="20372" y="8454"/>
                  </a:cubicBezTo>
                  <a:lnTo>
                    <a:pt x="5049" y="8454"/>
                  </a:lnTo>
                  <a:cubicBezTo>
                    <a:pt x="2263" y="8454"/>
                    <a:pt x="1" y="10704"/>
                    <a:pt x="1" y="13490"/>
                  </a:cubicBezTo>
                  <a:lnTo>
                    <a:pt x="1" y="48173"/>
                  </a:lnTo>
                </a:path>
              </a:pathLst>
            </a:custGeom>
            <a:noFill/>
            <a:ln w="40775" cap="flat" cmpd="sng">
              <a:solidFill>
                <a:schemeClr val="accent4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61" name="Google Shape;999;p35">
              <a:extLst>
                <a:ext uri="{FF2B5EF4-FFF2-40B4-BE49-F238E27FC236}">
                  <a16:creationId xmlns:a16="http://schemas.microsoft.com/office/drawing/2014/main" id="{4F5CD511-FB43-2BB3-A405-538A18A952DC}"/>
                </a:ext>
              </a:extLst>
            </p:cNvPr>
            <p:cNvSpPr/>
            <p:nvPr/>
          </p:nvSpPr>
          <p:spPr>
            <a:xfrm>
              <a:off x="5753863" y="3354975"/>
              <a:ext cx="110150" cy="130100"/>
            </a:xfrm>
            <a:custGeom>
              <a:avLst/>
              <a:gdLst/>
              <a:ahLst/>
              <a:cxnLst/>
              <a:rect l="l" t="t" r="r" b="b"/>
              <a:pathLst>
                <a:path w="4406" h="5204" extrusionOk="0">
                  <a:moveTo>
                    <a:pt x="2287" y="0"/>
                  </a:moveTo>
                  <a:lnTo>
                    <a:pt x="1072" y="1405"/>
                  </a:lnTo>
                  <a:lnTo>
                    <a:pt x="1" y="2631"/>
                  </a:lnTo>
                  <a:lnTo>
                    <a:pt x="2239" y="5203"/>
                  </a:lnTo>
                  <a:lnTo>
                    <a:pt x="4382" y="5203"/>
                  </a:lnTo>
                  <a:lnTo>
                    <a:pt x="2132" y="2631"/>
                  </a:lnTo>
                  <a:lnTo>
                    <a:pt x="4406" y="12"/>
                  </a:lnTo>
                  <a:lnTo>
                    <a:pt x="43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</p:grpSp>
      <p:grpSp>
        <p:nvGrpSpPr>
          <p:cNvPr id="62" name="Google Shape;1000;p35">
            <a:extLst>
              <a:ext uri="{FF2B5EF4-FFF2-40B4-BE49-F238E27FC236}">
                <a16:creationId xmlns:a16="http://schemas.microsoft.com/office/drawing/2014/main" id="{F6A54133-E4BE-37A0-55EC-06A35AC8F07D}"/>
              </a:ext>
            </a:extLst>
          </p:cNvPr>
          <p:cNvGrpSpPr/>
          <p:nvPr/>
        </p:nvGrpSpPr>
        <p:grpSpPr>
          <a:xfrm>
            <a:off x="9071773" y="2500235"/>
            <a:ext cx="63625" cy="375197"/>
            <a:chOff x="6839113" y="1736900"/>
            <a:chExt cx="44675" cy="263450"/>
          </a:xfrm>
        </p:grpSpPr>
        <p:sp>
          <p:nvSpPr>
            <p:cNvPr id="63" name="Google Shape;1001;p35">
              <a:extLst>
                <a:ext uri="{FF2B5EF4-FFF2-40B4-BE49-F238E27FC236}">
                  <a16:creationId xmlns:a16="http://schemas.microsoft.com/office/drawing/2014/main" id="{633D9793-A361-1901-BB97-78ECD27CB508}"/>
                </a:ext>
              </a:extLst>
            </p:cNvPr>
            <p:cNvSpPr/>
            <p:nvPr/>
          </p:nvSpPr>
          <p:spPr>
            <a:xfrm>
              <a:off x="6839113" y="1955675"/>
              <a:ext cx="44675" cy="4467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82"/>
                    <a:pt x="406" y="1787"/>
                    <a:pt x="894" y="1787"/>
                  </a:cubicBezTo>
                  <a:cubicBezTo>
                    <a:pt x="1382" y="1787"/>
                    <a:pt x="1787" y="1382"/>
                    <a:pt x="1787" y="894"/>
                  </a:cubicBezTo>
                  <a:cubicBezTo>
                    <a:pt x="1787" y="406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1024" name="Google Shape;1002;p35">
              <a:extLst>
                <a:ext uri="{FF2B5EF4-FFF2-40B4-BE49-F238E27FC236}">
                  <a16:creationId xmlns:a16="http://schemas.microsoft.com/office/drawing/2014/main" id="{F4207350-6489-CB3C-25DC-DF3D3830A619}"/>
                </a:ext>
              </a:extLst>
            </p:cNvPr>
            <p:cNvSpPr/>
            <p:nvPr/>
          </p:nvSpPr>
          <p:spPr>
            <a:xfrm>
              <a:off x="6839113" y="1879475"/>
              <a:ext cx="44675" cy="44375"/>
            </a:xfrm>
            <a:custGeom>
              <a:avLst/>
              <a:gdLst/>
              <a:ahLst/>
              <a:cxnLst/>
              <a:rect l="l" t="t" r="r" b="b"/>
              <a:pathLst>
                <a:path w="1787" h="1775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82"/>
                    <a:pt x="406" y="1775"/>
                    <a:pt x="894" y="1775"/>
                  </a:cubicBezTo>
                  <a:cubicBezTo>
                    <a:pt x="1382" y="1775"/>
                    <a:pt x="1787" y="1382"/>
                    <a:pt x="1787" y="894"/>
                  </a:cubicBezTo>
                  <a:cubicBezTo>
                    <a:pt x="1787" y="406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1025" name="Google Shape;1003;p35">
              <a:extLst>
                <a:ext uri="{FF2B5EF4-FFF2-40B4-BE49-F238E27FC236}">
                  <a16:creationId xmlns:a16="http://schemas.microsoft.com/office/drawing/2014/main" id="{AEB1E6FA-EC8F-4EDE-AA75-F629221F8DAE}"/>
                </a:ext>
              </a:extLst>
            </p:cNvPr>
            <p:cNvSpPr/>
            <p:nvPr/>
          </p:nvSpPr>
          <p:spPr>
            <a:xfrm>
              <a:off x="6839113" y="1803275"/>
              <a:ext cx="44675" cy="44375"/>
            </a:xfrm>
            <a:custGeom>
              <a:avLst/>
              <a:gdLst/>
              <a:ahLst/>
              <a:cxnLst/>
              <a:rect l="l" t="t" r="r" b="b"/>
              <a:pathLst>
                <a:path w="1787" h="1775" extrusionOk="0">
                  <a:moveTo>
                    <a:pt x="894" y="1"/>
                  </a:moveTo>
                  <a:cubicBezTo>
                    <a:pt x="406" y="1"/>
                    <a:pt x="1" y="394"/>
                    <a:pt x="1" y="894"/>
                  </a:cubicBezTo>
                  <a:cubicBezTo>
                    <a:pt x="1" y="1382"/>
                    <a:pt x="406" y="1775"/>
                    <a:pt x="894" y="1775"/>
                  </a:cubicBezTo>
                  <a:cubicBezTo>
                    <a:pt x="1382" y="1775"/>
                    <a:pt x="1787" y="1382"/>
                    <a:pt x="1787" y="894"/>
                  </a:cubicBezTo>
                  <a:cubicBezTo>
                    <a:pt x="1787" y="394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1026" name="Google Shape;1004;p35">
              <a:extLst>
                <a:ext uri="{FF2B5EF4-FFF2-40B4-BE49-F238E27FC236}">
                  <a16:creationId xmlns:a16="http://schemas.microsoft.com/office/drawing/2014/main" id="{AC1CE98E-90F8-079A-28AA-B7A9EBDEC9A0}"/>
                </a:ext>
              </a:extLst>
            </p:cNvPr>
            <p:cNvSpPr/>
            <p:nvPr/>
          </p:nvSpPr>
          <p:spPr>
            <a:xfrm>
              <a:off x="6839113" y="1736900"/>
              <a:ext cx="44675" cy="44375"/>
            </a:xfrm>
            <a:custGeom>
              <a:avLst/>
              <a:gdLst/>
              <a:ahLst/>
              <a:cxnLst/>
              <a:rect l="l" t="t" r="r" b="b"/>
              <a:pathLst>
                <a:path w="1787" h="1775" extrusionOk="0">
                  <a:moveTo>
                    <a:pt x="894" y="1"/>
                  </a:moveTo>
                  <a:cubicBezTo>
                    <a:pt x="406" y="1"/>
                    <a:pt x="1" y="394"/>
                    <a:pt x="1" y="894"/>
                  </a:cubicBezTo>
                  <a:cubicBezTo>
                    <a:pt x="1" y="1382"/>
                    <a:pt x="406" y="1775"/>
                    <a:pt x="894" y="1775"/>
                  </a:cubicBezTo>
                  <a:cubicBezTo>
                    <a:pt x="1382" y="1775"/>
                    <a:pt x="1787" y="1382"/>
                    <a:pt x="1787" y="894"/>
                  </a:cubicBezTo>
                  <a:cubicBezTo>
                    <a:pt x="1787" y="394"/>
                    <a:pt x="1382" y="1"/>
                    <a:pt x="8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</p:grpSp>
      <p:sp>
        <p:nvSpPr>
          <p:cNvPr id="1027" name="TextBox 37">
            <a:extLst>
              <a:ext uri="{FF2B5EF4-FFF2-40B4-BE49-F238E27FC236}">
                <a16:creationId xmlns:a16="http://schemas.microsoft.com/office/drawing/2014/main" id="{35A6025D-6655-3E90-5179-6400759D2570}"/>
              </a:ext>
            </a:extLst>
          </p:cNvPr>
          <p:cNvSpPr txBox="1"/>
          <p:nvPr/>
        </p:nvSpPr>
        <p:spPr>
          <a:xfrm>
            <a:off x="848663" y="4994806"/>
            <a:ext cx="320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Conversational AI</a:t>
            </a:r>
          </a:p>
          <a:p>
            <a:pPr algn="ctr"/>
            <a:r>
              <a:rPr lang="en-US" dirty="0"/>
              <a:t>Enterprise chatbot deployments</a:t>
            </a:r>
            <a:br>
              <a:rPr lang="en-US" dirty="0"/>
            </a:br>
            <a:r>
              <a:rPr lang="en-US" dirty="0"/>
              <a:t>Workflow-driven automation</a:t>
            </a:r>
            <a:br>
              <a:rPr lang="en-US" dirty="0"/>
            </a:br>
            <a:r>
              <a:rPr lang="en-US" dirty="0"/>
              <a:t>CRM / ITSM integrations</a:t>
            </a:r>
          </a:p>
        </p:txBody>
      </p:sp>
      <p:sp>
        <p:nvSpPr>
          <p:cNvPr id="1028" name="TextBox 37">
            <a:extLst>
              <a:ext uri="{FF2B5EF4-FFF2-40B4-BE49-F238E27FC236}">
                <a16:creationId xmlns:a16="http://schemas.microsoft.com/office/drawing/2014/main" id="{B394B3AD-7578-B750-5FC5-7C484DEE20EF}"/>
              </a:ext>
            </a:extLst>
          </p:cNvPr>
          <p:cNvSpPr txBox="1"/>
          <p:nvPr/>
        </p:nvSpPr>
        <p:spPr>
          <a:xfrm>
            <a:off x="3070505" y="1513265"/>
            <a:ext cx="3198706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400" b="1" dirty="0">
                <a:solidFill>
                  <a:schemeClr val="accent2"/>
                </a:solidFill>
              </a:rPr>
              <a:t>Knowledge AI &amp; NLP</a:t>
            </a:r>
          </a:p>
          <a:p>
            <a:pPr algn="ctr"/>
            <a:r>
              <a:rPr lang="en-US" dirty="0"/>
              <a:t>Enterprise search</a:t>
            </a:r>
            <a:br>
              <a:rPr lang="en-US" dirty="0"/>
            </a:br>
            <a:r>
              <a:rPr lang="en-US" dirty="0"/>
              <a:t>Document summarization</a:t>
            </a:r>
            <a:br>
              <a:rPr lang="en-US" dirty="0"/>
            </a:br>
            <a:r>
              <a:rPr lang="en-US" dirty="0"/>
              <a:t>Context-aware responses</a:t>
            </a:r>
            <a:endParaRPr lang="en-US" sz="1400" dirty="0"/>
          </a:p>
        </p:txBody>
      </p:sp>
      <p:sp>
        <p:nvSpPr>
          <p:cNvPr id="1030" name="TextBox 37">
            <a:extLst>
              <a:ext uri="{FF2B5EF4-FFF2-40B4-BE49-F238E27FC236}">
                <a16:creationId xmlns:a16="http://schemas.microsoft.com/office/drawing/2014/main" id="{7D6EE420-C93A-A416-EDBC-479A16CE102F}"/>
              </a:ext>
            </a:extLst>
          </p:cNvPr>
          <p:cNvSpPr txBox="1"/>
          <p:nvPr/>
        </p:nvSpPr>
        <p:spPr>
          <a:xfrm>
            <a:off x="5275161" y="4994806"/>
            <a:ext cx="320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Agentic AI</a:t>
            </a:r>
          </a:p>
          <a:p>
            <a:pPr algn="ctr"/>
            <a:r>
              <a:rPr lang="en-US" sz="1400" dirty="0"/>
              <a:t> Multi-step task execution</a:t>
            </a:r>
          </a:p>
          <a:p>
            <a:pPr algn="ctr"/>
            <a:r>
              <a:rPr lang="en-US" sz="1400" dirty="0"/>
              <a:t>Cross-system automation</a:t>
            </a:r>
          </a:p>
          <a:p>
            <a:pPr algn="ctr"/>
            <a:r>
              <a:rPr lang="en-US" sz="1400" dirty="0"/>
              <a:t>AI-driven workflow orchestration</a:t>
            </a:r>
          </a:p>
        </p:txBody>
      </p:sp>
      <p:sp>
        <p:nvSpPr>
          <p:cNvPr id="1032" name="TextBox 37">
            <a:extLst>
              <a:ext uri="{FF2B5EF4-FFF2-40B4-BE49-F238E27FC236}">
                <a16:creationId xmlns:a16="http://schemas.microsoft.com/office/drawing/2014/main" id="{E8C10AA9-E7D0-441A-6E37-4AFD3F1E0B8A}"/>
              </a:ext>
            </a:extLst>
          </p:cNvPr>
          <p:cNvSpPr txBox="1"/>
          <p:nvPr/>
        </p:nvSpPr>
        <p:spPr>
          <a:xfrm>
            <a:off x="7517776" y="1297821"/>
            <a:ext cx="3198706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</a:rPr>
              <a:t>Platform Capabilities</a:t>
            </a:r>
          </a:p>
          <a:p>
            <a:pPr algn="ctr"/>
            <a:r>
              <a:rPr lang="en-US" sz="1400" dirty="0"/>
              <a:t>Multi-LLM support</a:t>
            </a:r>
          </a:p>
          <a:p>
            <a:pPr algn="ctr"/>
            <a:r>
              <a:rPr lang="en-US" sz="1400" dirty="0"/>
              <a:t>Secure enterprise deployment</a:t>
            </a:r>
          </a:p>
          <a:p>
            <a:pPr algn="ctr"/>
            <a:r>
              <a:rPr lang="en-US" sz="1400" dirty="0"/>
              <a:t>API-first integrations</a:t>
            </a:r>
          </a:p>
          <a:p>
            <a:pPr algn="ctr"/>
            <a:r>
              <a:rPr lang="en-US" sz="1400" dirty="0"/>
              <a:t>Governance &amp; audit logging</a:t>
            </a:r>
          </a:p>
        </p:txBody>
      </p:sp>
      <p:pic>
        <p:nvPicPr>
          <p:cNvPr id="1034" name="Picture 2" descr="SmartBots AI | LinkedIn">
            <a:extLst>
              <a:ext uri="{FF2B5EF4-FFF2-40B4-BE49-F238E27FC236}">
                <a16:creationId xmlns:a16="http://schemas.microsoft.com/office/drawing/2014/main" id="{96035ACF-4941-900B-26BE-B5B4B4B4E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094" y="5125430"/>
            <a:ext cx="889148" cy="88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130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en-US" dirty="0"/>
              <a:t>Modern Data Platform on Snowflake</a:t>
            </a:r>
            <a:endParaRPr dirty="0"/>
          </a:p>
        </p:txBody>
      </p:sp>
      <p:sp>
        <p:nvSpPr>
          <p:cNvPr id="361" name="Google Shape;361;p11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grpSp>
        <p:nvGrpSpPr>
          <p:cNvPr id="362" name="Google Shape;362;p11"/>
          <p:cNvGrpSpPr/>
          <p:nvPr/>
        </p:nvGrpSpPr>
        <p:grpSpPr>
          <a:xfrm>
            <a:off x="1210953" y="1274626"/>
            <a:ext cx="2970399" cy="3401926"/>
            <a:chOff x="1210953" y="1457019"/>
            <a:chExt cx="2970399" cy="3401926"/>
          </a:xfrm>
        </p:grpSpPr>
        <p:grpSp>
          <p:nvGrpSpPr>
            <p:cNvPr id="363" name="Google Shape;363;p11"/>
            <p:cNvGrpSpPr/>
            <p:nvPr/>
          </p:nvGrpSpPr>
          <p:grpSpPr>
            <a:xfrm>
              <a:off x="1282865" y="1982988"/>
              <a:ext cx="47819" cy="510078"/>
              <a:chOff x="0" y="87338"/>
              <a:chExt cx="18896" cy="201512"/>
            </a:xfrm>
          </p:grpSpPr>
          <p:sp>
            <p:nvSpPr>
              <p:cNvPr id="364" name="Google Shape;364;p11"/>
              <p:cNvSpPr/>
              <p:nvPr/>
            </p:nvSpPr>
            <p:spPr>
              <a:xfrm>
                <a:off x="0" y="87338"/>
                <a:ext cx="18896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18896" h="149903" extrusionOk="0">
                    <a:moveTo>
                      <a:pt x="0" y="0"/>
                    </a:moveTo>
                    <a:lnTo>
                      <a:pt x="18896" y="0"/>
                    </a:lnTo>
                    <a:lnTo>
                      <a:pt x="18896" y="149903"/>
                    </a:lnTo>
                    <a:lnTo>
                      <a:pt x="0" y="149903"/>
                    </a:lnTo>
                    <a:close/>
                  </a:path>
                </a:pathLst>
              </a:custGeom>
              <a:gradFill>
                <a:gsLst>
                  <a:gs pos="0">
                    <a:srgbClr val="8C52FF"/>
                  </a:gs>
                  <a:gs pos="100000">
                    <a:srgbClr val="FF914D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Open Sans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1"/>
              <p:cNvSpPr txBox="1"/>
              <p:nvPr/>
            </p:nvSpPr>
            <p:spPr>
              <a:xfrm>
                <a:off x="0" y="91322"/>
                <a:ext cx="18896" cy="197528"/>
              </a:xfrm>
              <a:prstGeom prst="rect">
                <a:avLst/>
              </a:prstGeom>
              <a:solidFill>
                <a:srgbClr val="C58A2D"/>
              </a:solidFill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55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6" name="Google Shape;366;p11"/>
            <p:cNvSpPr txBox="1"/>
            <p:nvPr/>
          </p:nvSpPr>
          <p:spPr>
            <a:xfrm>
              <a:off x="1480157" y="1904290"/>
              <a:ext cx="2701195" cy="295465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A global clean energy platform managing solar, wind, and storage data faced data fragmentation across </a:t>
              </a:r>
              <a:r>
                <a:rPr lang="en-US" sz="1600" b="0" i="0" u="none" strike="noStrike" cap="none" err="1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InfluxDB</a:t>
              </a:r>
              <a:r>
                <a:rPr lang="en-US" sz="1600" b="0" i="0" u="none" strike="noStrike" cap="none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, SQL Server, and analytics databases.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Historical and daily data streams were siloed, and reporting was slow, error-prone, and inconsistent across teams.</a:t>
              </a:r>
              <a:endParaRPr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7" name="Google Shape;367;p11"/>
            <p:cNvSpPr txBox="1"/>
            <p:nvPr/>
          </p:nvSpPr>
          <p:spPr>
            <a:xfrm>
              <a:off x="1210953" y="1457019"/>
              <a:ext cx="2537613" cy="387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912D1B"/>
                </a:buClr>
                <a:buSzPts val="1800"/>
                <a:buFont typeface="Noto Sans Symbols"/>
                <a:buChar char="◆"/>
              </a:pPr>
              <a:r>
                <a:rPr lang="en-US" sz="1800" b="1" i="0" u="none" strike="noStrike" cap="none" dirty="0">
                  <a:solidFill>
                    <a:srgbClr val="101010"/>
                  </a:solidFill>
                  <a:latin typeface="Arial Rounded MT Bold" panose="020F0704030504030204" pitchFamily="34" charset="0"/>
                  <a:ea typeface="Montserrat"/>
                  <a:cs typeface="Montserrat"/>
                  <a:sym typeface="Montserrat"/>
                </a:rPr>
                <a:t>The Challenge</a:t>
              </a:r>
              <a:endParaRPr sz="1000" b="0" i="0" u="none" strike="noStrike" cap="none" dirty="0">
                <a:solidFill>
                  <a:srgbClr val="000000"/>
                </a:solidFill>
                <a:latin typeface="Arial Rounded MT Bold" panose="020F0704030504030204" pitchFamily="34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68" name="Google Shape;368;p11"/>
          <p:cNvGrpSpPr/>
          <p:nvPr/>
        </p:nvGrpSpPr>
        <p:grpSpPr>
          <a:xfrm>
            <a:off x="4803773" y="1274626"/>
            <a:ext cx="7337036" cy="2122736"/>
            <a:chOff x="4803773" y="1274626"/>
            <a:chExt cx="7337036" cy="2122736"/>
          </a:xfrm>
        </p:grpSpPr>
        <p:grpSp>
          <p:nvGrpSpPr>
            <p:cNvPr id="369" name="Google Shape;369;p11"/>
            <p:cNvGrpSpPr/>
            <p:nvPr/>
          </p:nvGrpSpPr>
          <p:grpSpPr>
            <a:xfrm>
              <a:off x="4879702" y="1618458"/>
              <a:ext cx="47819" cy="499993"/>
              <a:chOff x="0" y="-47625"/>
              <a:chExt cx="18896" cy="197528"/>
            </a:xfrm>
          </p:grpSpPr>
          <p:sp>
            <p:nvSpPr>
              <p:cNvPr id="370" name="Google Shape;370;p11"/>
              <p:cNvSpPr/>
              <p:nvPr/>
            </p:nvSpPr>
            <p:spPr>
              <a:xfrm>
                <a:off x="0" y="0"/>
                <a:ext cx="18896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18896" h="149903" extrusionOk="0">
                    <a:moveTo>
                      <a:pt x="0" y="0"/>
                    </a:moveTo>
                    <a:lnTo>
                      <a:pt x="18896" y="0"/>
                    </a:lnTo>
                    <a:lnTo>
                      <a:pt x="18896" y="149903"/>
                    </a:lnTo>
                    <a:lnTo>
                      <a:pt x="0" y="149903"/>
                    </a:lnTo>
                    <a:close/>
                  </a:path>
                </a:pathLst>
              </a:custGeom>
              <a:solidFill>
                <a:srgbClr val="C58A2D"/>
              </a:solidFill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1"/>
              <p:cNvSpPr txBox="1"/>
              <p:nvPr/>
            </p:nvSpPr>
            <p:spPr>
              <a:xfrm>
                <a:off x="0" y="-47625"/>
                <a:ext cx="18896" cy="197528"/>
              </a:xfrm>
              <a:prstGeom prst="rect">
                <a:avLst/>
              </a:prstGeom>
              <a:solidFill>
                <a:srgbClr val="C58A2D"/>
              </a:solidFill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55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1"/>
            <p:cNvSpPr txBox="1"/>
            <p:nvPr/>
          </p:nvSpPr>
          <p:spPr>
            <a:xfrm>
              <a:off x="5094822" y="1750757"/>
              <a:ext cx="7045987" cy="16466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We designed a robust data pipeline and reporting layer using Snowflake.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1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Migrated 35M+ records from 3 source systems in minutes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1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Set up daily incremental pipelines with limitless scaling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1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Eliminated data silos with a single reporting layer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1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Enabled real-time access via a user-friendly, low-code interface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1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Built secure, configurable metadata-driven architecture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3" name="Google Shape;373;p11"/>
            <p:cNvSpPr txBox="1"/>
            <p:nvPr/>
          </p:nvSpPr>
          <p:spPr>
            <a:xfrm>
              <a:off x="4803773" y="1274626"/>
              <a:ext cx="2537613" cy="387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912D1B"/>
                </a:buClr>
                <a:buSzPts val="1800"/>
                <a:buFont typeface="Noto Sans Symbols"/>
                <a:buChar char="◆"/>
              </a:pPr>
              <a:r>
                <a:rPr lang="en-US" sz="1800" b="1" i="0" u="none" strike="noStrike" cap="none" dirty="0">
                  <a:solidFill>
                    <a:srgbClr val="101010"/>
                  </a:solidFill>
                  <a:latin typeface="Arial Rounded MT Bold" panose="020F0704030504030204" pitchFamily="34" charset="0"/>
                  <a:ea typeface="Montserrat"/>
                  <a:cs typeface="Montserrat"/>
                  <a:sym typeface="Montserrat"/>
                </a:rPr>
                <a:t>What We Did</a:t>
              </a:r>
              <a:endParaRPr sz="1000" b="0" i="0" u="none" strike="noStrike" cap="none" dirty="0">
                <a:solidFill>
                  <a:srgbClr val="000000"/>
                </a:solidFill>
                <a:latin typeface="Arial Rounded MT Bold" panose="020F0704030504030204" pitchFamily="34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74" name="Google Shape;374;p11"/>
          <p:cNvGrpSpPr/>
          <p:nvPr/>
        </p:nvGrpSpPr>
        <p:grpSpPr>
          <a:xfrm>
            <a:off x="4803773" y="3780116"/>
            <a:ext cx="5815290" cy="2207513"/>
            <a:chOff x="4803773" y="3780116"/>
            <a:chExt cx="5815290" cy="2207513"/>
          </a:xfrm>
        </p:grpSpPr>
        <p:sp>
          <p:nvSpPr>
            <p:cNvPr id="375" name="Google Shape;375;p11"/>
            <p:cNvSpPr txBox="1"/>
            <p:nvPr/>
          </p:nvSpPr>
          <p:spPr>
            <a:xfrm>
              <a:off x="4879702" y="4113315"/>
              <a:ext cx="45720" cy="499993"/>
            </a:xfrm>
            <a:prstGeom prst="rect">
              <a:avLst/>
            </a:prstGeom>
            <a:solidFill>
              <a:srgbClr val="C58A2D"/>
            </a:solidFill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1"/>
            <p:cNvSpPr txBox="1"/>
            <p:nvPr/>
          </p:nvSpPr>
          <p:spPr>
            <a:xfrm>
              <a:off x="5094822" y="4245614"/>
              <a:ext cx="5524241" cy="1742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Clean, consolidated energy data at scale — powering faster decisions and enterprise visibility.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🔄 70% faster reporting times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🧩 3 data sources unified into a single source of truth 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📊 Real-time access via low-code platform 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💵 30% cost reduction in data infrastructure </a:t>
              </a:r>
              <a:endPara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7" name="Google Shape;377;p11"/>
            <p:cNvSpPr txBox="1"/>
            <p:nvPr/>
          </p:nvSpPr>
          <p:spPr>
            <a:xfrm>
              <a:off x="4803773" y="3780116"/>
              <a:ext cx="4497685" cy="387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912D1B"/>
                </a:buClr>
                <a:buSzPts val="1800"/>
                <a:buFont typeface="Noto Sans Symbols"/>
                <a:buChar char="◆"/>
              </a:pPr>
              <a:r>
                <a:rPr lang="en-US" sz="1800" b="1" i="0" u="none" strike="noStrike" cap="none" dirty="0">
                  <a:solidFill>
                    <a:srgbClr val="101010"/>
                  </a:solidFill>
                  <a:latin typeface="Arial Rounded MT Bold" panose="020F0704030504030204" pitchFamily="34" charset="0"/>
                  <a:ea typeface="Montserrat"/>
                  <a:cs typeface="Montserrat"/>
                  <a:sym typeface="Montserrat"/>
                </a:rPr>
                <a:t>The Transformation</a:t>
              </a:r>
              <a:endParaRPr sz="1000" b="0" i="0" u="none" strike="noStrike" cap="none" dirty="0">
                <a:solidFill>
                  <a:srgbClr val="000000"/>
                </a:solidFill>
                <a:latin typeface="Arial Rounded MT Bold" panose="020F0704030504030204" pitchFamily="34" charset="0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4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en-US" dirty="0"/>
              <a:t>Real-Time Invoice Reconciliation at Scale</a:t>
            </a:r>
            <a:endParaRPr dirty="0"/>
          </a:p>
        </p:txBody>
      </p:sp>
      <p:sp>
        <p:nvSpPr>
          <p:cNvPr id="430" name="Google Shape;430;p14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grpSp>
        <p:nvGrpSpPr>
          <p:cNvPr id="431" name="Google Shape;431;p14"/>
          <p:cNvGrpSpPr/>
          <p:nvPr/>
        </p:nvGrpSpPr>
        <p:grpSpPr>
          <a:xfrm>
            <a:off x="1210953" y="1274626"/>
            <a:ext cx="2970399" cy="3894369"/>
            <a:chOff x="1210953" y="1457019"/>
            <a:chExt cx="2970399" cy="3894369"/>
          </a:xfrm>
        </p:grpSpPr>
        <p:grpSp>
          <p:nvGrpSpPr>
            <p:cNvPr id="432" name="Google Shape;432;p14"/>
            <p:cNvGrpSpPr/>
            <p:nvPr/>
          </p:nvGrpSpPr>
          <p:grpSpPr>
            <a:xfrm>
              <a:off x="1282865" y="1982988"/>
              <a:ext cx="47819" cy="510078"/>
              <a:chOff x="0" y="87338"/>
              <a:chExt cx="18896" cy="201512"/>
            </a:xfrm>
          </p:grpSpPr>
          <p:sp>
            <p:nvSpPr>
              <p:cNvPr id="433" name="Google Shape;433;p14"/>
              <p:cNvSpPr/>
              <p:nvPr/>
            </p:nvSpPr>
            <p:spPr>
              <a:xfrm>
                <a:off x="0" y="87338"/>
                <a:ext cx="18896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18896" h="149903" extrusionOk="0">
                    <a:moveTo>
                      <a:pt x="0" y="0"/>
                    </a:moveTo>
                    <a:lnTo>
                      <a:pt x="18896" y="0"/>
                    </a:lnTo>
                    <a:lnTo>
                      <a:pt x="18896" y="149903"/>
                    </a:lnTo>
                    <a:lnTo>
                      <a:pt x="0" y="149903"/>
                    </a:lnTo>
                    <a:close/>
                  </a:path>
                </a:pathLst>
              </a:custGeom>
              <a:gradFill>
                <a:gsLst>
                  <a:gs pos="0">
                    <a:srgbClr val="8C52FF"/>
                  </a:gs>
                  <a:gs pos="100000">
                    <a:srgbClr val="FF914D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Open Sans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14"/>
              <p:cNvSpPr txBox="1"/>
              <p:nvPr/>
            </p:nvSpPr>
            <p:spPr>
              <a:xfrm>
                <a:off x="0" y="91322"/>
                <a:ext cx="18896" cy="197528"/>
              </a:xfrm>
              <a:prstGeom prst="rect">
                <a:avLst/>
              </a:prstGeom>
              <a:solidFill>
                <a:srgbClr val="C58A2D"/>
              </a:solidFill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55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" name="Google Shape;435;p14"/>
            <p:cNvSpPr txBox="1"/>
            <p:nvPr/>
          </p:nvSpPr>
          <p:spPr>
            <a:xfrm>
              <a:off x="1480157" y="1904290"/>
              <a:ext cx="2701195" cy="3447098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A major auto group was drowning in mismatched invoice formats.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Finance teams were manually reconciling Excel, PDF, and CSV invoices — all structured differently across OEMs.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This created delays, manual rework, and frequent errors that impacted payment cycles and reporting.</a:t>
              </a:r>
              <a:endParaRPr/>
            </a:p>
          </p:txBody>
        </p:sp>
        <p:sp>
          <p:nvSpPr>
            <p:cNvPr id="436" name="Google Shape;436;p14"/>
            <p:cNvSpPr txBox="1"/>
            <p:nvPr/>
          </p:nvSpPr>
          <p:spPr>
            <a:xfrm>
              <a:off x="1210953" y="1457019"/>
              <a:ext cx="2537613" cy="387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912D1B"/>
                </a:buClr>
                <a:buSzPts val="1800"/>
                <a:buFont typeface="Noto Sans Symbols"/>
                <a:buChar char="◆"/>
              </a:pPr>
              <a:r>
                <a:rPr lang="en-US" sz="1800" b="1" i="0" u="none" strike="noStrike" cap="none" dirty="0">
                  <a:solidFill>
                    <a:srgbClr val="101010"/>
                  </a:solidFill>
                  <a:latin typeface="Arial Rounded MT Bold" panose="020F0704030504030204" pitchFamily="34" charset="0"/>
                  <a:ea typeface="Montserrat"/>
                  <a:cs typeface="Montserrat"/>
                  <a:sym typeface="Montserrat"/>
                </a:rPr>
                <a:t>The Challenge</a:t>
              </a:r>
              <a:endParaRPr sz="1000" b="0" i="0" u="none" strike="noStrike" cap="none" dirty="0">
                <a:solidFill>
                  <a:srgbClr val="000000"/>
                </a:solidFill>
                <a:latin typeface="Arial Rounded MT Bold" panose="020F0704030504030204" pitchFamily="34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37" name="Google Shape;437;p14"/>
          <p:cNvGrpSpPr/>
          <p:nvPr/>
        </p:nvGrpSpPr>
        <p:grpSpPr>
          <a:xfrm>
            <a:off x="4803773" y="1274626"/>
            <a:ext cx="7337036" cy="2467445"/>
            <a:chOff x="4803773" y="1274626"/>
            <a:chExt cx="7337036" cy="2467445"/>
          </a:xfrm>
        </p:grpSpPr>
        <p:grpSp>
          <p:nvGrpSpPr>
            <p:cNvPr id="438" name="Google Shape;438;p14"/>
            <p:cNvGrpSpPr/>
            <p:nvPr/>
          </p:nvGrpSpPr>
          <p:grpSpPr>
            <a:xfrm>
              <a:off x="4879702" y="1618458"/>
              <a:ext cx="47819" cy="499993"/>
              <a:chOff x="0" y="-47625"/>
              <a:chExt cx="18896" cy="197528"/>
            </a:xfrm>
          </p:grpSpPr>
          <p:sp>
            <p:nvSpPr>
              <p:cNvPr id="439" name="Google Shape;439;p14"/>
              <p:cNvSpPr/>
              <p:nvPr/>
            </p:nvSpPr>
            <p:spPr>
              <a:xfrm>
                <a:off x="0" y="0"/>
                <a:ext cx="18896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18896" h="149903" extrusionOk="0">
                    <a:moveTo>
                      <a:pt x="0" y="0"/>
                    </a:moveTo>
                    <a:lnTo>
                      <a:pt x="18896" y="0"/>
                    </a:lnTo>
                    <a:lnTo>
                      <a:pt x="18896" y="149903"/>
                    </a:lnTo>
                    <a:lnTo>
                      <a:pt x="0" y="149903"/>
                    </a:lnTo>
                    <a:close/>
                  </a:path>
                </a:pathLst>
              </a:custGeom>
              <a:solidFill>
                <a:srgbClr val="C58A2D"/>
              </a:solidFill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4"/>
              <p:cNvSpPr txBox="1"/>
              <p:nvPr/>
            </p:nvSpPr>
            <p:spPr>
              <a:xfrm>
                <a:off x="0" y="-47625"/>
                <a:ext cx="18896" cy="197528"/>
              </a:xfrm>
              <a:prstGeom prst="rect">
                <a:avLst/>
              </a:prstGeom>
              <a:solidFill>
                <a:srgbClr val="C58A2D"/>
              </a:solidFill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55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1" name="Google Shape;441;p14"/>
            <p:cNvSpPr txBox="1"/>
            <p:nvPr/>
          </p:nvSpPr>
          <p:spPr>
            <a:xfrm>
              <a:off x="5094822" y="1750757"/>
              <a:ext cx="7045987" cy="1991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We deployed a GenAI-powered invoice reconciliation solution using OCR, NLP, and scalable cloud infrastructure.</a:t>
              </a:r>
              <a:endParaRPr sz="1600" b="0" i="0" u="none" strike="noStrike" cap="none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Automatically processed and interpreted invoices across varied formats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Standardized terminology across manufacturers (e.g., "Reference No." vs "Invoice ID")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Matched invoices against multiple external reports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Designed a low-latency, user-friendly UI with sub-2s response time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Deployed on AWS for scale and flexibility</a:t>
              </a:r>
              <a:endParaRPr/>
            </a:p>
          </p:txBody>
        </p:sp>
        <p:sp>
          <p:nvSpPr>
            <p:cNvPr id="442" name="Google Shape;442;p14"/>
            <p:cNvSpPr txBox="1"/>
            <p:nvPr/>
          </p:nvSpPr>
          <p:spPr>
            <a:xfrm>
              <a:off x="4803773" y="1274626"/>
              <a:ext cx="2537613" cy="387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912D1B"/>
                </a:buClr>
                <a:buSzPts val="1800"/>
                <a:buFont typeface="Noto Sans Symbols"/>
                <a:buChar char="◆"/>
              </a:pPr>
              <a:r>
                <a:rPr lang="en-US" sz="1800" b="1" i="0" u="none" strike="noStrike" cap="none" dirty="0">
                  <a:solidFill>
                    <a:srgbClr val="101010"/>
                  </a:solidFill>
                  <a:latin typeface="Arial Rounded MT Bold" panose="020F0704030504030204" pitchFamily="34" charset="0"/>
                  <a:ea typeface="Montserrat"/>
                  <a:cs typeface="Montserrat"/>
                  <a:sym typeface="Montserrat"/>
                </a:rPr>
                <a:t>What We Did</a:t>
              </a:r>
              <a:endParaRPr sz="1000" b="0" i="0" u="none" strike="noStrike" cap="none" dirty="0">
                <a:solidFill>
                  <a:srgbClr val="000000"/>
                </a:solidFill>
                <a:latin typeface="Arial Rounded MT Bold" panose="020F0704030504030204" pitchFamily="34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43" name="Google Shape;443;p14"/>
          <p:cNvGrpSpPr/>
          <p:nvPr/>
        </p:nvGrpSpPr>
        <p:grpSpPr>
          <a:xfrm>
            <a:off x="4803773" y="3780116"/>
            <a:ext cx="5815290" cy="2207513"/>
            <a:chOff x="4803773" y="3780116"/>
            <a:chExt cx="5815290" cy="2207513"/>
          </a:xfrm>
        </p:grpSpPr>
        <p:sp>
          <p:nvSpPr>
            <p:cNvPr id="444" name="Google Shape;444;p14"/>
            <p:cNvSpPr txBox="1"/>
            <p:nvPr/>
          </p:nvSpPr>
          <p:spPr>
            <a:xfrm>
              <a:off x="4879702" y="4113315"/>
              <a:ext cx="45720" cy="499993"/>
            </a:xfrm>
            <a:prstGeom prst="rect">
              <a:avLst/>
            </a:prstGeom>
            <a:solidFill>
              <a:srgbClr val="C58A2D"/>
            </a:solidFill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4"/>
            <p:cNvSpPr txBox="1"/>
            <p:nvPr/>
          </p:nvSpPr>
          <p:spPr>
            <a:xfrm>
              <a:off x="5094822" y="4245614"/>
              <a:ext cx="5524241" cy="1742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Finance teams now process thousands of invoices in real time — with unmatched speed and accuracy.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⚡99.6% auto-reconciliation rate across 7,970 invoices 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⏱️600+ hours saved monthly by eliminating manual entry 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📉20% reduction in payment delays 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📈15% improvement in bookkeeping accuracy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6" name="Google Shape;446;p14"/>
            <p:cNvSpPr txBox="1"/>
            <p:nvPr/>
          </p:nvSpPr>
          <p:spPr>
            <a:xfrm>
              <a:off x="4803773" y="3780116"/>
              <a:ext cx="4497685" cy="387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912D1B"/>
                </a:buClr>
                <a:buSzPts val="1800"/>
                <a:buFont typeface="Noto Sans Symbols"/>
                <a:buChar char="◆"/>
              </a:pPr>
              <a:r>
                <a:rPr lang="en-US" sz="1800" b="1" i="0" u="none" strike="noStrike" cap="none" dirty="0">
                  <a:solidFill>
                    <a:srgbClr val="101010"/>
                  </a:solidFill>
                  <a:latin typeface="Arial Rounded MT Bold" panose="020F0704030504030204" pitchFamily="34" charset="0"/>
                  <a:ea typeface="Montserrat"/>
                  <a:cs typeface="Montserrat"/>
                  <a:sym typeface="Montserrat"/>
                </a:rPr>
                <a:t>The Transformation</a:t>
              </a:r>
              <a:endParaRPr sz="1000" b="0" i="0" u="none" strike="noStrike" cap="none" dirty="0">
                <a:solidFill>
                  <a:srgbClr val="000000"/>
                </a:solidFill>
                <a:latin typeface="Arial Rounded MT Bold" panose="020F0704030504030204" pitchFamily="34" charset="0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5"/>
          <p:cNvSpPr txBox="1">
            <a:spLocks noGrp="1"/>
          </p:cNvSpPr>
          <p:nvPr>
            <p:ph type="title"/>
          </p:nvPr>
        </p:nvSpPr>
        <p:spPr>
          <a:xfrm>
            <a:off x="559906" y="365125"/>
            <a:ext cx="9935816" cy="55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en-US" dirty="0"/>
              <a:t>Voice-Enabled Sales Assistant for Field Reps</a:t>
            </a:r>
            <a:endParaRPr dirty="0"/>
          </a:p>
        </p:txBody>
      </p:sp>
      <p:sp>
        <p:nvSpPr>
          <p:cNvPr id="453" name="Google Shape;453;p15"/>
          <p:cNvSpPr txBox="1">
            <a:spLocks noGrp="1"/>
          </p:cNvSpPr>
          <p:nvPr>
            <p:ph type="sldNum" idx="12"/>
          </p:nvPr>
        </p:nvSpPr>
        <p:spPr>
          <a:xfrm>
            <a:off x="9326214" y="6492874"/>
            <a:ext cx="2743200" cy="339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pSp>
        <p:nvGrpSpPr>
          <p:cNvPr id="454" name="Google Shape;454;p15"/>
          <p:cNvGrpSpPr/>
          <p:nvPr/>
        </p:nvGrpSpPr>
        <p:grpSpPr>
          <a:xfrm>
            <a:off x="1210953" y="1274626"/>
            <a:ext cx="2970399" cy="2909484"/>
            <a:chOff x="1210953" y="1457019"/>
            <a:chExt cx="2970399" cy="2909484"/>
          </a:xfrm>
        </p:grpSpPr>
        <p:grpSp>
          <p:nvGrpSpPr>
            <p:cNvPr id="455" name="Google Shape;455;p15"/>
            <p:cNvGrpSpPr/>
            <p:nvPr/>
          </p:nvGrpSpPr>
          <p:grpSpPr>
            <a:xfrm>
              <a:off x="1282865" y="1982988"/>
              <a:ext cx="47819" cy="510078"/>
              <a:chOff x="0" y="87338"/>
              <a:chExt cx="18896" cy="201512"/>
            </a:xfrm>
          </p:grpSpPr>
          <p:sp>
            <p:nvSpPr>
              <p:cNvPr id="456" name="Google Shape;456;p15"/>
              <p:cNvSpPr/>
              <p:nvPr/>
            </p:nvSpPr>
            <p:spPr>
              <a:xfrm>
                <a:off x="0" y="87338"/>
                <a:ext cx="18896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18896" h="149903" extrusionOk="0">
                    <a:moveTo>
                      <a:pt x="0" y="0"/>
                    </a:moveTo>
                    <a:lnTo>
                      <a:pt x="18896" y="0"/>
                    </a:lnTo>
                    <a:lnTo>
                      <a:pt x="18896" y="149903"/>
                    </a:lnTo>
                    <a:lnTo>
                      <a:pt x="0" y="149903"/>
                    </a:lnTo>
                    <a:close/>
                  </a:path>
                </a:pathLst>
              </a:custGeom>
              <a:gradFill>
                <a:gsLst>
                  <a:gs pos="0">
                    <a:srgbClr val="8C52FF"/>
                  </a:gs>
                  <a:gs pos="100000">
                    <a:srgbClr val="FF914D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Open Sans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5"/>
              <p:cNvSpPr txBox="1"/>
              <p:nvPr/>
            </p:nvSpPr>
            <p:spPr>
              <a:xfrm>
                <a:off x="0" y="91322"/>
                <a:ext cx="18896" cy="197528"/>
              </a:xfrm>
              <a:prstGeom prst="rect">
                <a:avLst/>
              </a:prstGeom>
              <a:solidFill>
                <a:srgbClr val="C58A2D"/>
              </a:solidFill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55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8" name="Google Shape;458;p15"/>
            <p:cNvSpPr txBox="1"/>
            <p:nvPr/>
          </p:nvSpPr>
          <p:spPr>
            <a:xfrm>
              <a:off x="1480157" y="1904290"/>
              <a:ext cx="2701195" cy="2462213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Sales reps at a global healthcare tech firm had difficulty accessing product and customer data.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Time was lost navigating portals or calling HQ — slowing down client engagement and reducing sales efficiency.</a:t>
              </a:r>
              <a:endParaRPr/>
            </a:p>
          </p:txBody>
        </p:sp>
        <p:sp>
          <p:nvSpPr>
            <p:cNvPr id="459" name="Google Shape;459;p15"/>
            <p:cNvSpPr txBox="1"/>
            <p:nvPr/>
          </p:nvSpPr>
          <p:spPr>
            <a:xfrm>
              <a:off x="1210953" y="1457019"/>
              <a:ext cx="2537613" cy="387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912D1B"/>
                </a:buClr>
                <a:buSzPts val="1800"/>
                <a:buFont typeface="Noto Sans Symbols"/>
                <a:buChar char="◆"/>
              </a:pPr>
              <a:r>
                <a:rPr lang="en-US" sz="1800" b="1" i="0" u="none" strike="noStrike" cap="none" dirty="0">
                  <a:solidFill>
                    <a:srgbClr val="101010"/>
                  </a:solidFill>
                  <a:latin typeface="Arial Rounded MT Bold" panose="020F0704030504030204" pitchFamily="34" charset="0"/>
                  <a:ea typeface="Montserrat"/>
                  <a:cs typeface="Montserrat"/>
                  <a:sym typeface="Montserrat"/>
                </a:rPr>
                <a:t>The Challenge</a:t>
              </a:r>
              <a:endParaRPr sz="1000" b="0" i="0" u="none" strike="noStrike" cap="none" dirty="0">
                <a:solidFill>
                  <a:srgbClr val="000000"/>
                </a:solidFill>
                <a:latin typeface="Arial Rounded MT Bold" panose="020F0704030504030204" pitchFamily="34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60" name="Google Shape;460;p15"/>
          <p:cNvGrpSpPr/>
          <p:nvPr/>
        </p:nvGrpSpPr>
        <p:grpSpPr>
          <a:xfrm>
            <a:off x="4803773" y="1274626"/>
            <a:ext cx="7337036" cy="1984236"/>
            <a:chOff x="4803773" y="1274626"/>
            <a:chExt cx="7337036" cy="1984236"/>
          </a:xfrm>
        </p:grpSpPr>
        <p:grpSp>
          <p:nvGrpSpPr>
            <p:cNvPr id="461" name="Google Shape;461;p15"/>
            <p:cNvGrpSpPr/>
            <p:nvPr/>
          </p:nvGrpSpPr>
          <p:grpSpPr>
            <a:xfrm>
              <a:off x="4879702" y="1618458"/>
              <a:ext cx="47819" cy="499993"/>
              <a:chOff x="0" y="-47625"/>
              <a:chExt cx="18896" cy="197528"/>
            </a:xfrm>
          </p:grpSpPr>
          <p:sp>
            <p:nvSpPr>
              <p:cNvPr id="462" name="Google Shape;462;p15"/>
              <p:cNvSpPr/>
              <p:nvPr/>
            </p:nvSpPr>
            <p:spPr>
              <a:xfrm>
                <a:off x="0" y="0"/>
                <a:ext cx="18896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18896" h="149903" extrusionOk="0">
                    <a:moveTo>
                      <a:pt x="0" y="0"/>
                    </a:moveTo>
                    <a:lnTo>
                      <a:pt x="18896" y="0"/>
                    </a:lnTo>
                    <a:lnTo>
                      <a:pt x="18896" y="149903"/>
                    </a:lnTo>
                    <a:lnTo>
                      <a:pt x="0" y="149903"/>
                    </a:lnTo>
                    <a:close/>
                  </a:path>
                </a:pathLst>
              </a:custGeom>
              <a:solidFill>
                <a:srgbClr val="C58A2D"/>
              </a:solidFill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5"/>
              <p:cNvSpPr txBox="1"/>
              <p:nvPr/>
            </p:nvSpPr>
            <p:spPr>
              <a:xfrm>
                <a:off x="0" y="-47625"/>
                <a:ext cx="18896" cy="197528"/>
              </a:xfrm>
              <a:prstGeom prst="rect">
                <a:avLst/>
              </a:prstGeom>
              <a:solidFill>
                <a:srgbClr val="C58A2D"/>
              </a:solidFill>
              <a:ln>
                <a:noFill/>
              </a:ln>
            </p:spPr>
            <p:txBody>
              <a:bodyPr spcFirstLastPara="1" wrap="square" lIns="33850" tIns="33850" rIns="33850" bIns="338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55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4" name="Google Shape;464;p15"/>
            <p:cNvSpPr txBox="1"/>
            <p:nvPr/>
          </p:nvSpPr>
          <p:spPr>
            <a:xfrm>
              <a:off x="5094822" y="1750757"/>
              <a:ext cx="7045987" cy="1508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We built an AI-powered virtual sales assistant using Amazon Lex.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Voice-enabled mobile app for real-time rep support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Integrated with Salesforce CRM, ERP, and enterprise KB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Used Amazon Lambda and RDS to drive dynamic conversations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Delivered intuitive natural language experience with sub-second response time</a:t>
              </a:r>
              <a:endParaRPr/>
            </a:p>
            <a:p>
              <a:pPr marL="254000" marR="0" lvl="1" indent="-1270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Poppins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Fully integrated with legacy and modern systems</a:t>
              </a:r>
              <a:endParaRPr/>
            </a:p>
          </p:txBody>
        </p:sp>
        <p:sp>
          <p:nvSpPr>
            <p:cNvPr id="465" name="Google Shape;465;p15"/>
            <p:cNvSpPr txBox="1"/>
            <p:nvPr/>
          </p:nvSpPr>
          <p:spPr>
            <a:xfrm>
              <a:off x="4803773" y="1274626"/>
              <a:ext cx="2537613" cy="387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912D1B"/>
                </a:buClr>
                <a:buSzPts val="1800"/>
                <a:buFont typeface="Noto Sans Symbols"/>
                <a:buChar char="◆"/>
              </a:pPr>
              <a:r>
                <a:rPr lang="en-US" sz="1800" b="1" i="0" u="none" strike="noStrike" cap="none" dirty="0">
                  <a:solidFill>
                    <a:srgbClr val="101010"/>
                  </a:solidFill>
                  <a:latin typeface="Arial Rounded MT Bold" panose="020F0704030504030204" pitchFamily="34" charset="0"/>
                  <a:ea typeface="Montserrat"/>
                  <a:cs typeface="Montserrat"/>
                  <a:sym typeface="Montserrat"/>
                </a:rPr>
                <a:t>What We Did</a:t>
              </a:r>
              <a:endParaRPr sz="1000" b="0" i="0" u="none" strike="noStrike" cap="none" dirty="0">
                <a:solidFill>
                  <a:srgbClr val="000000"/>
                </a:solidFill>
                <a:latin typeface="Arial Rounded MT Bold" panose="020F0704030504030204" pitchFamily="34" charset="0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66" name="Google Shape;466;p15"/>
          <p:cNvGrpSpPr/>
          <p:nvPr/>
        </p:nvGrpSpPr>
        <p:grpSpPr>
          <a:xfrm>
            <a:off x="4803773" y="3780116"/>
            <a:ext cx="5815290" cy="2207513"/>
            <a:chOff x="4803773" y="3780116"/>
            <a:chExt cx="5815290" cy="2207513"/>
          </a:xfrm>
        </p:grpSpPr>
        <p:sp>
          <p:nvSpPr>
            <p:cNvPr id="467" name="Google Shape;467;p15"/>
            <p:cNvSpPr txBox="1"/>
            <p:nvPr/>
          </p:nvSpPr>
          <p:spPr>
            <a:xfrm>
              <a:off x="4879702" y="4113315"/>
              <a:ext cx="45720" cy="499993"/>
            </a:xfrm>
            <a:prstGeom prst="rect">
              <a:avLst/>
            </a:prstGeom>
            <a:solidFill>
              <a:srgbClr val="C58A2D"/>
            </a:solidFill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5"/>
            <p:cNvSpPr txBox="1"/>
            <p:nvPr/>
          </p:nvSpPr>
          <p:spPr>
            <a:xfrm>
              <a:off x="5094822" y="4245614"/>
              <a:ext cx="5524241" cy="1742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101010"/>
                  </a:solidFill>
                  <a:latin typeface="Open Sans"/>
                  <a:ea typeface="Open Sans"/>
                  <a:cs typeface="Open Sans"/>
                  <a:sym typeface="Open Sans"/>
                </a:rPr>
                <a:t>Sales reps now get answers on the go — faster decisions, smarter conversations, better outcomes.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🗣️ Voice assistant integrated with all core systems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📈 Faster rep onboarding and daily productivity gains 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🔍 No more digging — answers in seconds </a:t>
              </a:r>
              <a:endParaRPr/>
            </a:p>
            <a:p>
              <a:pPr marL="127000" marR="0" lvl="1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🤖 Seamless user experience powered by conversational AI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9" name="Google Shape;469;p15"/>
            <p:cNvSpPr txBox="1"/>
            <p:nvPr/>
          </p:nvSpPr>
          <p:spPr>
            <a:xfrm>
              <a:off x="4803773" y="3780116"/>
              <a:ext cx="4497685" cy="387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912D1B"/>
                </a:buClr>
                <a:buSzPts val="1800"/>
                <a:buFont typeface="Noto Sans Symbols"/>
                <a:buChar char="◆"/>
              </a:pPr>
              <a:r>
                <a:rPr lang="en-US" sz="1800" b="1" i="0" u="none" strike="noStrike" cap="none" dirty="0">
                  <a:solidFill>
                    <a:srgbClr val="101010"/>
                  </a:solidFill>
                  <a:latin typeface="Arial Rounded MT Bold" panose="020F0704030504030204" pitchFamily="34" charset="0"/>
                  <a:ea typeface="Montserrat"/>
                  <a:cs typeface="Montserrat"/>
                  <a:sym typeface="Montserrat"/>
                </a:rPr>
                <a:t>The Transformation</a:t>
              </a:r>
              <a:endParaRPr sz="1000" b="0" i="0" u="none" strike="noStrike" cap="none" dirty="0">
                <a:solidFill>
                  <a:srgbClr val="000000"/>
                </a:solidFill>
                <a:latin typeface="Arial Rounded MT Bold" panose="020F0704030504030204" pitchFamily="34" charset="0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0"/>
          <p:cNvSpPr txBox="1"/>
          <p:nvPr/>
        </p:nvSpPr>
        <p:spPr>
          <a:xfrm>
            <a:off x="1324660" y="3907064"/>
            <a:ext cx="9542681" cy="271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840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A3225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rebuchet MS"/>
              </a:rPr>
              <a:t>Corporate Office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Trebuchet M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8751  Collin McKinney Pkwy, Suite </a:t>
            </a:r>
            <a:r>
              <a:rPr lang="en-US" kern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801,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 McKinney, TX 75070, USA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Lucida Sa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rebuchet MS"/>
              </a:rPr>
              <a:t>Email: </a:t>
            </a:r>
            <a:r>
              <a:rPr kumimoji="0" lang="en-US" sz="1400" i="0" u="sng" strike="noStrike" kern="1200" cap="none" spc="0" normalizeH="0" baseline="0" noProof="0" dirty="0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rebuchet MS"/>
                <a:hlinkClick r:id="rId3"/>
              </a:rPr>
              <a:t>info</a:t>
            </a: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  <a:hlinkClick r:id="rId3"/>
              </a:rPr>
              <a:t>@palni.com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  <a:hlinkClick r:id="rId3"/>
              </a:rPr>
              <a:t>|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rebuchet MS"/>
              </a:rPr>
              <a:t>Phone: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+1- 469-712-4178 |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rebuchet MS"/>
              </a:rPr>
              <a:t>Website: </a:t>
            </a: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  <a:hlinkClick r:id="rId4"/>
              </a:rPr>
              <a:t>www.palni.com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Lucida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Lucida Sa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A3225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rebuchet MS"/>
              </a:rPr>
              <a:t>Locations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Trebuchet M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Techno Pearl, Plot No. 6/2 &amp; 6/3, HUDA Techno Enclave, HITEC City, Hyderabad, India 500081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3rd Floor, Building No 21, Raheja Mindspace, HITEC City, Hyderabad, India 500081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6th Floor,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iLabs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 Building, HITEC City, Hyderabad, India 500081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Lucida Sans"/>
            </a:endParaRPr>
          </a:p>
          <a:p>
            <a:pPr marL="2539" marR="0" lvl="0" indent="0" algn="ctr" defTabSz="914400" rtl="0" eaLnBrk="1" fontAlgn="auto" latinLnBrk="0" hangingPunct="1">
              <a:lnSpc>
                <a:spcPct val="100000"/>
              </a:lnSpc>
              <a:spcBef>
                <a:spcPts val="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Lucida Sans"/>
              </a:rPr>
              <a:t>109 S. Roselle Rd. Suite 201 Schaumburg, IL, 60193, USA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05" name="Google Shape;805;p50"/>
          <p:cNvSpPr/>
          <p:nvPr/>
        </p:nvSpPr>
        <p:spPr>
          <a:xfrm>
            <a:off x="3600468" y="4851384"/>
            <a:ext cx="5406675" cy="129617"/>
          </a:xfrm>
          <a:custGeom>
            <a:avLst/>
            <a:gdLst/>
            <a:ahLst/>
            <a:cxnLst/>
            <a:rect l="l" t="t" r="r" b="b"/>
            <a:pathLst>
              <a:path w="8114030" h="120000" extrusionOk="0">
                <a:moveTo>
                  <a:pt x="0" y="0"/>
                </a:moveTo>
                <a:lnTo>
                  <a:pt x="8113687" y="0"/>
                </a:lnTo>
              </a:path>
            </a:pathLst>
          </a:cu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6" name="Google Shape;806;p50"/>
          <p:cNvSpPr/>
          <p:nvPr/>
        </p:nvSpPr>
        <p:spPr>
          <a:xfrm>
            <a:off x="3583055" y="6041873"/>
            <a:ext cx="5406675" cy="0"/>
          </a:xfrm>
          <a:custGeom>
            <a:avLst/>
            <a:gdLst/>
            <a:ahLst/>
            <a:cxnLst/>
            <a:rect l="l" t="t" r="r" b="b"/>
            <a:pathLst>
              <a:path w="8112125" h="120000" extrusionOk="0">
                <a:moveTo>
                  <a:pt x="0" y="0"/>
                </a:moveTo>
                <a:lnTo>
                  <a:pt x="8112118" y="0"/>
                </a:lnTo>
              </a:path>
            </a:pathLst>
          </a:cu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7" name="Google Shape;807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8" y="895"/>
            <a:ext cx="12188826" cy="3642323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50"/>
          <p:cNvSpPr txBox="1"/>
          <p:nvPr/>
        </p:nvSpPr>
        <p:spPr>
          <a:xfrm>
            <a:off x="3300401" y="3375907"/>
            <a:ext cx="5591201" cy="479921"/>
          </a:xfrm>
          <a:prstGeom prst="rect">
            <a:avLst/>
          </a:prstGeom>
          <a:solidFill>
            <a:srgbClr val="C58A2D"/>
          </a:solidFill>
          <a:ln>
            <a:noFill/>
          </a:ln>
        </p:spPr>
        <p:txBody>
          <a:bodyPr spcFirstLastPara="1" wrap="square" lIns="121850" tIns="121850" rIns="121850" bIns="12185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2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Fira Sans Extra Condensed SemiBold"/>
                <a:cs typeface="Fira Sans Extra Condensed SemiBold"/>
                <a:sym typeface="Fira Sans Extra Condensed SemiBold"/>
              </a:rPr>
              <a:t>THANK YOU</a:t>
            </a:r>
            <a:endParaRPr kumimoji="0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09" name="Google Shape;809;p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4628" y="6041873"/>
            <a:ext cx="2078561" cy="716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9290F8-5AB1-B324-44AE-B614F57F93AB}"/>
              </a:ext>
            </a:extLst>
          </p:cNvPr>
          <p:cNvSpPr/>
          <p:nvPr/>
        </p:nvSpPr>
        <p:spPr>
          <a:xfrm>
            <a:off x="-501445" y="2481943"/>
            <a:ext cx="10107561" cy="2840199"/>
          </a:xfrm>
          <a:prstGeom prst="roundRect">
            <a:avLst/>
          </a:prstGeom>
          <a:gradFill flip="none" rotWithShape="1">
            <a:gsLst>
              <a:gs pos="50000">
                <a:srgbClr val="F5D1CB">
                  <a:alpha val="76000"/>
                </a:srgbClr>
              </a:gs>
              <a:gs pos="18000">
                <a:schemeClr val="bg1"/>
              </a:gs>
              <a:gs pos="100000">
                <a:schemeClr val="accent1">
                  <a:lumMod val="30000"/>
                  <a:lumOff val="70000"/>
                  <a:alpha val="37000"/>
                </a:scheme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Google Shape;95;p1"/>
          <p:cNvSpPr txBox="1">
            <a:spLocks noGrp="1"/>
          </p:cNvSpPr>
          <p:nvPr>
            <p:ph type="ctrTitle"/>
          </p:nvPr>
        </p:nvSpPr>
        <p:spPr>
          <a:xfrm>
            <a:off x="461211" y="20453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l"/>
            <a:r>
              <a:rPr lang="en-US" dirty="0"/>
              <a:t>AI, Custom Software Development </a:t>
            </a:r>
            <a:br>
              <a:rPr lang="en-US" dirty="0"/>
            </a:br>
            <a:r>
              <a:rPr lang="en-US" dirty="0"/>
              <a:t>&amp; Salesforce Capabilities</a:t>
            </a:r>
            <a:endParaRPr dirty="0"/>
          </a:p>
        </p:txBody>
      </p:sp>
      <p:sp>
        <p:nvSpPr>
          <p:cNvPr id="96" name="Google Shape;96;p1"/>
          <p:cNvSpPr txBox="1">
            <a:spLocks noGrp="1"/>
          </p:cNvSpPr>
          <p:nvPr>
            <p:ph type="subTitle" idx="1"/>
          </p:nvPr>
        </p:nvSpPr>
        <p:spPr>
          <a:xfrm>
            <a:off x="0" y="4685406"/>
            <a:ext cx="10003971" cy="6367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 dirty="0"/>
              <a:t>Clear. Focused. A Boutique Technology Partner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39BC-AE70-6345-DD2A-00C2E3AD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A7C4946F-D2CE-2B71-351B-49E71800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Go Deepest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D6A88ECE-AE48-1ACA-44B3-20BC48456FD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Three of our strongest practices, selected for where we add the most to your customers.</a:t>
            </a:r>
          </a:p>
        </p:txBody>
      </p:sp>
      <p:sp>
        <p:nvSpPr>
          <p:cNvPr id="9999" name="Slide Number Placeholder Marker"/>
          <p:cNvSpPr/>
          <p:nvPr/>
        </p:nvSpPr>
        <p:spPr/>
        <p:txBody>
          <a:bodyPr/>
          <a:lstStyle/>
          <a:p>
            <a:endParaRPr/>
          </a:p>
        </p:txBody>
      </p:sp>
      <p:sp>
        <p:nvSpPr>
          <p:cNvPr id="601" name="Card"/>
          <p:cNvSpPr/>
          <p:nvPr/>
        </p:nvSpPr>
        <p:spPr>
          <a:xfrm>
            <a:off x="502920" y="1828800"/>
            <a:ext cx="36118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7E4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02" name="Card Header"/>
          <p:cNvSpPr/>
          <p:nvPr/>
        </p:nvSpPr>
        <p:spPr>
          <a:xfrm>
            <a:off x="502920" y="1828800"/>
            <a:ext cx="3611880" cy="365760"/>
          </a:xfrm>
          <a:prstGeom prst="rect">
            <a:avLst/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FFFFFF"/>
                </a:solidFill>
                <a:latin typeface="Arial"/>
                <a:cs typeface="Arial"/>
              </a:rPr>
              <a:t>FOCUS AREA 01</a:t>
            </a:r>
          </a:p>
        </p:txBody>
      </p:sp>
      <p:sp>
        <p:nvSpPr>
          <p:cNvPr id="603" name="Shape"/>
          <p:cNvSpPr txBox="1"/>
          <p:nvPr/>
        </p:nvSpPr>
        <p:spPr>
          <a:xfrm>
            <a:off x="731520" y="2377440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58A2D"/>
                </a:solidFill>
                <a:latin typeface="Arial"/>
                <a:cs typeface="Arial"/>
              </a:rPr>
              <a:t>AI &amp; Data</a:t>
            </a:r>
          </a:p>
        </p:txBody>
      </p:sp>
      <p:sp>
        <p:nvSpPr>
          <p:cNvPr id="604" name="Shape"/>
          <p:cNvSpPr txBox="1"/>
          <p:nvPr/>
        </p:nvSpPr>
        <p:spPr>
          <a:xfrm>
            <a:off x="777240" y="2926080"/>
            <a:ext cx="30632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5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Modern data platforms and production AI — from lakehouse architecture to enterprise AI agents.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1100" b="1" i="0" spc="150" dirty="0">
                <a:solidFill>
                  <a:srgbClr val="912D1B"/>
                </a:solidFill>
                <a:latin typeface="Arial"/>
                <a:cs typeface="Arial"/>
              </a:rPr>
              <a:t>WHERE WE HELP</a:t>
            </a:r>
          </a:p>
          <a:p>
            <a:pPr marL="228600" indent="-228600" algn="l">
              <a:lnSpc>
                <a:spcPct val="110000"/>
              </a:lnSpc>
              <a:spcAft>
                <a:spcPts val="9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Snowflake and Databricks platform builds and migrations</a:t>
            </a:r>
          </a:p>
          <a:p>
            <a:pPr marL="228600" indent="-228600" algn="l">
              <a:lnSpc>
                <a:spcPct val="110000"/>
              </a:lnSpc>
              <a:spcAft>
                <a:spcPts val="9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AI agents, RAG and document intelligence</a:t>
            </a:r>
          </a:p>
          <a:p>
            <a:pPr marL="228600" indent="-228600" algn="l">
              <a:lnSpc>
                <a:spcPct val="110000"/>
              </a:lnSpc>
              <a:spcAft>
                <a:spcPts val="9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Data governance, security and AI readiness</a:t>
            </a:r>
          </a:p>
        </p:txBody>
      </p:sp>
      <p:sp>
        <p:nvSpPr>
          <p:cNvPr id="605" name="Card"/>
          <p:cNvSpPr/>
          <p:nvPr/>
        </p:nvSpPr>
        <p:spPr>
          <a:xfrm>
            <a:off x="4288536" y="1828800"/>
            <a:ext cx="36118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7E4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06" name="Card Header"/>
          <p:cNvSpPr/>
          <p:nvPr/>
        </p:nvSpPr>
        <p:spPr>
          <a:xfrm>
            <a:off x="4288536" y="1828800"/>
            <a:ext cx="3611880" cy="365760"/>
          </a:xfrm>
          <a:prstGeom prst="rect">
            <a:avLst/>
          </a:prstGeom>
          <a:solidFill>
            <a:srgbClr val="C58A2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FFFFFF"/>
                </a:solidFill>
                <a:latin typeface="Arial"/>
                <a:cs typeface="Arial"/>
              </a:rPr>
              <a:t>FOCUS AREA 02</a:t>
            </a:r>
          </a:p>
        </p:txBody>
      </p:sp>
      <p:sp>
        <p:nvSpPr>
          <p:cNvPr id="607" name="Shape"/>
          <p:cNvSpPr txBox="1"/>
          <p:nvPr/>
        </p:nvSpPr>
        <p:spPr>
          <a:xfrm>
            <a:off x="4517136" y="2377440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912D1B"/>
                </a:solidFill>
                <a:latin typeface="Arial"/>
                <a:cs typeface="Arial"/>
              </a:rPr>
              <a:t>Custom Software Development</a:t>
            </a:r>
          </a:p>
        </p:txBody>
      </p:sp>
      <p:sp>
        <p:nvSpPr>
          <p:cNvPr id="608" name="Shape"/>
          <p:cNvSpPr txBox="1"/>
          <p:nvPr/>
        </p:nvSpPr>
        <p:spPr>
          <a:xfrm>
            <a:off x="4562856" y="2926080"/>
            <a:ext cx="30632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5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Senior-led engineering for the applications and integrations off-the-shelf platforms can’t cover.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1100" b="1" i="0" spc="150" dirty="0">
                <a:solidFill>
                  <a:srgbClr val="C58A2D"/>
                </a:solidFill>
                <a:latin typeface="Arial"/>
                <a:cs typeface="Arial"/>
              </a:rPr>
              <a:t>WHERE WE HELP</a:t>
            </a:r>
          </a:p>
          <a:p>
            <a:pPr marL="228600" indent="-228600" algn="l">
              <a:lnSpc>
                <a:spcPct val="110000"/>
              </a:lnSpc>
              <a:spcAft>
                <a:spcPts val="900"/>
              </a:spcAft>
              <a:buClr>
                <a:srgbClr val="C58A2D"/>
              </a:buClr>
              <a:buFont typeface="Arial"/>
              <a:buChar char="•"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Enterprise backends in Java, .NET, Python and Node.js</a:t>
            </a:r>
          </a:p>
          <a:p>
            <a:pPr marL="228600" indent="-228600" algn="l">
              <a:lnSpc>
                <a:spcPct val="110000"/>
              </a:lnSpc>
              <a:spcAft>
                <a:spcPts val="900"/>
              </a:spcAft>
              <a:buClr>
                <a:srgbClr val="C58A2D"/>
              </a:buClr>
              <a:buFont typeface="Arial"/>
              <a:buChar char="•"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Native and cross-platform mobile apps</a:t>
            </a:r>
          </a:p>
          <a:p>
            <a:pPr marL="228600" indent="-228600" algn="l">
              <a:lnSpc>
                <a:spcPct val="110000"/>
              </a:lnSpc>
              <a:spcAft>
                <a:spcPts val="900"/>
              </a:spcAft>
              <a:buClr>
                <a:srgbClr val="C58A2D"/>
              </a:buClr>
              <a:buFont typeface="Arial"/>
              <a:buChar char="•"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Integrations and APIs across enterprise platforms</a:t>
            </a:r>
          </a:p>
        </p:txBody>
      </p:sp>
      <p:sp>
        <p:nvSpPr>
          <p:cNvPr id="609" name="Card"/>
          <p:cNvSpPr/>
          <p:nvPr/>
        </p:nvSpPr>
        <p:spPr>
          <a:xfrm>
            <a:off x="8074152" y="1828800"/>
            <a:ext cx="36118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7E4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610" name="Card Header"/>
          <p:cNvSpPr/>
          <p:nvPr/>
        </p:nvSpPr>
        <p:spPr>
          <a:xfrm>
            <a:off x="8074152" y="1828800"/>
            <a:ext cx="3611880" cy="365760"/>
          </a:xfrm>
          <a:prstGeom prst="rect">
            <a:avLst/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FFFFFF"/>
                </a:solidFill>
                <a:latin typeface="Arial"/>
                <a:cs typeface="Arial"/>
              </a:rPr>
              <a:t>FOCUS AREA 03</a:t>
            </a:r>
          </a:p>
        </p:txBody>
      </p:sp>
      <p:sp>
        <p:nvSpPr>
          <p:cNvPr id="611" name="Shape"/>
          <p:cNvSpPr txBox="1"/>
          <p:nvPr/>
        </p:nvSpPr>
        <p:spPr>
          <a:xfrm>
            <a:off x="8302752" y="2377440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58A2D"/>
                </a:solidFill>
                <a:latin typeface="Arial"/>
                <a:cs typeface="Arial"/>
              </a:rPr>
              <a:t>Salesforce</a:t>
            </a:r>
          </a:p>
        </p:txBody>
      </p:sp>
      <p:sp>
        <p:nvSpPr>
          <p:cNvPr id="612" name="Shape"/>
          <p:cNvSpPr txBox="1"/>
          <p:nvPr/>
        </p:nvSpPr>
        <p:spPr>
          <a:xfrm>
            <a:off x="8348472" y="2926080"/>
            <a:ext cx="30632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5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Certified Salesforce delivery across core clouds, Agentforce and industry solutions.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1100" b="1" i="0" spc="150" dirty="0">
                <a:solidFill>
                  <a:srgbClr val="912D1B"/>
                </a:solidFill>
                <a:latin typeface="Arial"/>
                <a:cs typeface="Arial"/>
              </a:rPr>
              <a:t>WHERE WE HELP</a:t>
            </a:r>
          </a:p>
          <a:p>
            <a:pPr marL="228600" indent="-228600" algn="l">
              <a:lnSpc>
                <a:spcPct val="110000"/>
              </a:lnSpc>
              <a:spcAft>
                <a:spcPts val="9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Sales, Service and Experience Cloud</a:t>
            </a:r>
          </a:p>
          <a:p>
            <a:pPr marL="228600" indent="-228600" algn="l">
              <a:lnSpc>
                <a:spcPct val="110000"/>
              </a:lnSpc>
              <a:spcAft>
                <a:spcPts val="9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Agentforce and workflow automation</a:t>
            </a:r>
          </a:p>
          <a:p>
            <a:pPr marL="228600" indent="-228600" algn="l">
              <a:lnSpc>
                <a:spcPct val="110000"/>
              </a:lnSpc>
              <a:spcAft>
                <a:spcPts val="9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Health Cloud, CPQ and CRM data foundations</a:t>
            </a:r>
          </a:p>
        </p:txBody>
      </p:sp>
    </p:spTree>
    <p:extLst>
      <p:ext uri="{BB962C8B-B14F-4D97-AF65-F5344CB8AC3E}">
        <p14:creationId xmlns:p14="http://schemas.microsoft.com/office/powerpoint/2010/main" val="2615760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39BC-AE70-6345-DD2A-00C2E3AD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A7C4946F-D2CE-2B71-351B-49E71800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Proven Partner Delivery: Healthcare JSM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D6A88ECE-AE48-1ACA-44B3-20BC48456FD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JSM project consolidation for a healthcare provider, delivered as a partner.</a:t>
            </a:r>
          </a:p>
        </p:txBody>
      </p:sp>
      <p:sp>
        <p:nvSpPr>
          <p:cNvPr id="701" name="Cap Row Bg 1"/>
          <p:cNvSpPr/>
          <p:nvPr/>
        </p:nvSpPr>
        <p:spPr>
          <a:xfrm>
            <a:off x="502920" y="1891389"/>
            <a:ext cx="1118616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2" name="Cap Row Bar 1"/>
          <p:cNvSpPr/>
          <p:nvPr/>
        </p:nvSpPr>
        <p:spPr>
          <a:xfrm>
            <a:off x="502920" y="1891389"/>
            <a:ext cx="45720" cy="850000"/>
          </a:xfrm>
          <a:prstGeom prst="rect">
            <a:avLst/>
          </a:prstGeom>
          <a:solidFill>
            <a:srgbClr val="912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03" name="Cap Tag 1"/>
          <p:cNvSpPr txBox="1"/>
          <p:nvPr/>
        </p:nvSpPr>
        <p:spPr>
          <a:xfrm>
            <a:off x="722920" y="2027389"/>
            <a:ext cx="2880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b="1" i="0" spc="100" dirty="0">
                <a:solidFill>
                  <a:srgbClr val="C58A2D"/>
                </a:solidFill>
                <a:latin typeface="Arial"/>
              </a:rPr>
              <a:t>WHAT WE DELIVERED 01</a:t>
            </a:r>
          </a:p>
        </p:txBody>
      </p:sp>
      <p:sp>
        <p:nvSpPr>
          <p:cNvPr id="704" name="Cap Headline 1"/>
          <p:cNvSpPr txBox="1"/>
          <p:nvPr/>
        </p:nvSpPr>
        <p:spPr>
          <a:xfrm>
            <a:off x="722920" y="2265389"/>
            <a:ext cx="376510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600" b="1" dirty="0">
                <a:solidFill>
                  <a:srgbClr val="912D1B"/>
                </a:solidFill>
              </a:rPr>
              <a:t>Discovery &amp; Workflow Design</a:t>
            </a:r>
          </a:p>
        </p:txBody>
      </p:sp>
      <p:sp>
        <p:nvSpPr>
          <p:cNvPr id="705" name="Cap Desc 1"/>
          <p:cNvSpPr txBox="1"/>
          <p:nvPr/>
        </p:nvSpPr>
        <p:spPr>
          <a:xfrm>
            <a:off x="4996340" y="2027389"/>
            <a:ext cx="6472740" cy="57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dirty="0">
                <a:solidFill>
                  <a:srgbClr val="6E625A"/>
                </a:solidFill>
                <a:latin typeface="Arial"/>
              </a:rPr>
              <a:t>Current-state assessment, discovery, and service management process design.</a:t>
            </a:r>
          </a:p>
        </p:txBody>
      </p:sp>
      <p:sp>
        <p:nvSpPr>
          <p:cNvPr id="706" name="Cap Row Bg 2"/>
          <p:cNvSpPr/>
          <p:nvPr/>
        </p:nvSpPr>
        <p:spPr>
          <a:xfrm>
            <a:off x="502920" y="2881389"/>
            <a:ext cx="1118616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7" name="Cap Row Bar 2"/>
          <p:cNvSpPr/>
          <p:nvPr/>
        </p:nvSpPr>
        <p:spPr>
          <a:xfrm>
            <a:off x="502920" y="2881389"/>
            <a:ext cx="45720" cy="850000"/>
          </a:xfrm>
          <a:prstGeom prst="rect">
            <a:avLst/>
          </a:prstGeom>
          <a:solidFill>
            <a:srgbClr val="912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08" name="Cap Tag 2"/>
          <p:cNvSpPr txBox="1"/>
          <p:nvPr/>
        </p:nvSpPr>
        <p:spPr>
          <a:xfrm>
            <a:off x="722920" y="3017389"/>
            <a:ext cx="2880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b="1" i="0" spc="100" dirty="0">
                <a:solidFill>
                  <a:srgbClr val="C58A2D"/>
                </a:solidFill>
                <a:latin typeface="Arial"/>
              </a:rPr>
              <a:t>WHAT WE DELIVERED 02</a:t>
            </a:r>
          </a:p>
        </p:txBody>
      </p:sp>
      <p:sp>
        <p:nvSpPr>
          <p:cNvPr id="709" name="Cap Headline 2"/>
          <p:cNvSpPr txBox="1"/>
          <p:nvPr/>
        </p:nvSpPr>
        <p:spPr>
          <a:xfrm>
            <a:off x="722920" y="3255389"/>
            <a:ext cx="376510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600" b="1" dirty="0">
                <a:solidFill>
                  <a:srgbClr val="912D1B"/>
                </a:solidFill>
              </a:rPr>
              <a:t>Security &amp; Access Workflows</a:t>
            </a:r>
          </a:p>
        </p:txBody>
      </p:sp>
      <p:sp>
        <p:nvSpPr>
          <p:cNvPr id="710" name="Cap Desc 2"/>
          <p:cNvSpPr txBox="1"/>
          <p:nvPr/>
        </p:nvSpPr>
        <p:spPr>
          <a:xfrm>
            <a:off x="4996340" y="3017389"/>
            <a:ext cx="6472740" cy="57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dirty="0">
                <a:solidFill>
                  <a:srgbClr val="6E625A"/>
                </a:solidFill>
                <a:latin typeface="Arial"/>
              </a:rPr>
              <a:t>Security incident and request workflows, approval gates and permission schemes.</a:t>
            </a:r>
          </a:p>
        </p:txBody>
      </p:sp>
      <p:sp>
        <p:nvSpPr>
          <p:cNvPr id="711" name="Cap Row Bg 3"/>
          <p:cNvSpPr/>
          <p:nvPr/>
        </p:nvSpPr>
        <p:spPr>
          <a:xfrm>
            <a:off x="502920" y="3871389"/>
            <a:ext cx="1118616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2" name="Cap Row Bar 3"/>
          <p:cNvSpPr/>
          <p:nvPr/>
        </p:nvSpPr>
        <p:spPr>
          <a:xfrm>
            <a:off x="502920" y="3871389"/>
            <a:ext cx="45720" cy="850000"/>
          </a:xfrm>
          <a:prstGeom prst="rect">
            <a:avLst/>
          </a:prstGeom>
          <a:solidFill>
            <a:srgbClr val="912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13" name="Cap Tag 3"/>
          <p:cNvSpPr txBox="1"/>
          <p:nvPr/>
        </p:nvSpPr>
        <p:spPr>
          <a:xfrm>
            <a:off x="722920" y="4007389"/>
            <a:ext cx="2880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b="1" i="0" spc="100" dirty="0">
                <a:solidFill>
                  <a:srgbClr val="C58A2D"/>
                </a:solidFill>
                <a:latin typeface="Arial"/>
              </a:rPr>
              <a:t>WHAT WE DELIVERED 03</a:t>
            </a:r>
          </a:p>
        </p:txBody>
      </p:sp>
      <p:sp>
        <p:nvSpPr>
          <p:cNvPr id="714" name="Cap Headline 3"/>
          <p:cNvSpPr txBox="1"/>
          <p:nvPr/>
        </p:nvSpPr>
        <p:spPr>
          <a:xfrm>
            <a:off x="722920" y="4245389"/>
            <a:ext cx="376510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600" b="1" dirty="0">
                <a:solidFill>
                  <a:srgbClr val="912D1B"/>
                </a:solidFill>
              </a:rPr>
              <a:t>Healthcare Security Operations</a:t>
            </a:r>
          </a:p>
        </p:txBody>
      </p:sp>
      <p:sp>
        <p:nvSpPr>
          <p:cNvPr id="715" name="Cap Desc 3"/>
          <p:cNvSpPr txBox="1"/>
          <p:nvPr/>
        </p:nvSpPr>
        <p:spPr>
          <a:xfrm>
            <a:off x="4996340" y="4007389"/>
            <a:ext cx="6472740" cy="57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dirty="0">
                <a:solidFill>
                  <a:srgbClr val="6E625A"/>
                </a:solidFill>
                <a:latin typeface="Arial"/>
              </a:rPr>
              <a:t>Governed intake and audit history for healthcare security operations.</a:t>
            </a:r>
          </a:p>
        </p:txBody>
      </p:sp>
      <p:sp>
        <p:nvSpPr>
          <p:cNvPr id="716" name="Cap Row Bg 4"/>
          <p:cNvSpPr/>
          <p:nvPr/>
        </p:nvSpPr>
        <p:spPr>
          <a:xfrm>
            <a:off x="502920" y="4861389"/>
            <a:ext cx="1118616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7" name="Cap Row Bar 4"/>
          <p:cNvSpPr/>
          <p:nvPr/>
        </p:nvSpPr>
        <p:spPr>
          <a:xfrm>
            <a:off x="502920" y="4861389"/>
            <a:ext cx="45720" cy="850000"/>
          </a:xfrm>
          <a:prstGeom prst="rect">
            <a:avLst/>
          </a:prstGeom>
          <a:solidFill>
            <a:srgbClr val="912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18" name="Cap Tag 4"/>
          <p:cNvSpPr txBox="1"/>
          <p:nvPr/>
        </p:nvSpPr>
        <p:spPr>
          <a:xfrm>
            <a:off x="722920" y="4997389"/>
            <a:ext cx="2880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b="1" i="0" spc="100" dirty="0">
                <a:solidFill>
                  <a:srgbClr val="C58A2D"/>
                </a:solidFill>
                <a:latin typeface="Arial"/>
              </a:rPr>
              <a:t>WHAT WE DELIVERED 04</a:t>
            </a:r>
          </a:p>
        </p:txBody>
      </p:sp>
      <p:sp>
        <p:nvSpPr>
          <p:cNvPr id="719" name="Cap Headline 4"/>
          <p:cNvSpPr txBox="1"/>
          <p:nvPr/>
        </p:nvSpPr>
        <p:spPr>
          <a:xfrm>
            <a:off x="722920" y="5235389"/>
            <a:ext cx="376510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600" b="1" dirty="0">
                <a:solidFill>
                  <a:srgbClr val="912D1B"/>
                </a:solidFill>
              </a:rPr>
              <a:t>Project Consolidation</a:t>
            </a:r>
          </a:p>
        </p:txBody>
      </p:sp>
      <p:sp>
        <p:nvSpPr>
          <p:cNvPr id="720" name="Cap Desc 4"/>
          <p:cNvSpPr txBox="1"/>
          <p:nvPr/>
        </p:nvSpPr>
        <p:spPr>
          <a:xfrm>
            <a:off x="4996340" y="4997389"/>
            <a:ext cx="6472740" cy="57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dirty="0">
                <a:solidFill>
                  <a:srgbClr val="6E625A"/>
                </a:solidFill>
                <a:latin typeface="Arial"/>
              </a:rPr>
              <a:t>Consolidated projects into a governed JSM structure — and a repeatable partner delivery model for AI, software and Salesforce work.</a:t>
            </a:r>
          </a:p>
        </p:txBody>
      </p:sp>
      <p:sp>
        <p:nvSpPr>
          <p:cNvPr id="2" name="Slide Number Placeholder Marker"/>
          <p:cNvSpPr/>
          <p:nvPr/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82763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Work Together</a:t>
            </a:r>
          </a:p>
        </p:txBody>
      </p:sp>
      <p:sp>
        <p:nvSpPr>
          <p:cNvPr id="101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You own the customer relationship — choose how much delivery Palni leads.</a:t>
            </a:r>
          </a:p>
        </p:txBody>
      </p:sp>
      <p:sp>
        <p:nvSpPr>
          <p:cNvPr id="9999" name="Slide Number Placeholder Marker"/>
          <p:cNvSpPr/>
          <p:nvPr/>
        </p:nvSpPr>
        <p:spPr/>
        <p:txBody>
          <a:bodyPr/>
          <a:lstStyle/>
          <a:p>
            <a:endParaRPr/>
          </a:p>
        </p:txBody>
      </p:sp>
      <p:sp>
        <p:nvSpPr>
          <p:cNvPr id="801" name="Model Header"/>
          <p:cNvSpPr/>
          <p:nvPr/>
        </p:nvSpPr>
        <p:spPr>
          <a:xfrm>
            <a:off x="3200400" y="1691640"/>
            <a:ext cx="4187952" cy="777240"/>
          </a:xfrm>
          <a:prstGeom prst="roundRect">
            <a:avLst>
              <a:gd name="adj" fmla="val 10000"/>
            </a:avLst>
          </a:prstGeom>
          <a:solidFill>
            <a:srgbClr val="C58A2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500" b="1" i="0" spc="150" dirty="0">
                <a:solidFill>
                  <a:srgbClr val="FFFFFF"/>
                </a:solidFill>
                <a:latin typeface="Arial"/>
                <a:cs typeface="Arial"/>
              </a:rPr>
              <a:t>PARTNER SUPPORT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FFFFFF"/>
                </a:solidFill>
                <a:latin typeface="Arial"/>
                <a:cs typeface="Arial"/>
              </a:rPr>
              <a:t>Palni extends your delivery team</a:t>
            </a:r>
          </a:p>
        </p:txBody>
      </p:sp>
      <p:sp>
        <p:nvSpPr>
          <p:cNvPr id="802" name="Model Header"/>
          <p:cNvSpPr/>
          <p:nvPr/>
        </p:nvSpPr>
        <p:spPr>
          <a:xfrm>
            <a:off x="7498080" y="1691640"/>
            <a:ext cx="4187952" cy="777240"/>
          </a:xfrm>
          <a:prstGeom prst="roundRect">
            <a:avLst>
              <a:gd name="adj" fmla="val 10000"/>
            </a:avLst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500" b="1" i="0" spc="150" dirty="0">
                <a:solidFill>
                  <a:srgbClr val="FFFFFF"/>
                </a:solidFill>
                <a:latin typeface="Arial"/>
                <a:cs typeface="Arial"/>
              </a:rPr>
              <a:t>PARTNER LED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FFFFFF"/>
                </a:solidFill>
                <a:latin typeface="Arial"/>
                <a:cs typeface="Arial"/>
              </a:rPr>
              <a:t>Palni delivers the engagement for you</a:t>
            </a:r>
          </a:p>
        </p:txBody>
      </p:sp>
      <p:sp>
        <p:nvSpPr>
          <p:cNvPr id="803" name="Shape"/>
          <p:cNvSpPr txBox="1"/>
          <p:nvPr/>
        </p:nvSpPr>
        <p:spPr>
          <a:xfrm>
            <a:off x="502920" y="169164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 i="0" spc="150" dirty="0">
                <a:solidFill>
                  <a:srgbClr val="6E625A"/>
                </a:solidFill>
                <a:latin typeface="Arial"/>
                <a:cs typeface="Arial"/>
              </a:rPr>
              <a:t>WHO LEADS EACH STEP</a:t>
            </a:r>
          </a:p>
        </p:txBody>
      </p:sp>
      <p:sp>
        <p:nvSpPr>
          <p:cNvPr id="804" name="Shape"/>
          <p:cNvSpPr txBox="1"/>
          <p:nvPr/>
        </p:nvSpPr>
        <p:spPr>
          <a:xfrm>
            <a:off x="502920" y="26517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3F3833"/>
                </a:solidFill>
                <a:latin typeface="Arial"/>
                <a:cs typeface="Arial"/>
              </a:rPr>
              <a:t>Client-facing delivery</a:t>
            </a:r>
          </a:p>
        </p:txBody>
      </p:sp>
      <p:sp>
        <p:nvSpPr>
          <p:cNvPr id="805" name="Lead Pill"/>
          <p:cNvSpPr/>
          <p:nvPr/>
        </p:nvSpPr>
        <p:spPr>
          <a:xfrm>
            <a:off x="3337560" y="27889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8079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50" b="1" i="0" spc="100" dirty="0">
                <a:solidFill>
                  <a:srgbClr val="3F3833"/>
                </a:solidFill>
                <a:latin typeface="Arial"/>
                <a:cs typeface="Arial"/>
              </a:rPr>
              <a:t>YOU</a:t>
            </a:r>
          </a:p>
        </p:txBody>
      </p:sp>
      <p:sp>
        <p:nvSpPr>
          <p:cNvPr id="806" name="Shape"/>
          <p:cNvSpPr txBox="1"/>
          <p:nvPr/>
        </p:nvSpPr>
        <p:spPr>
          <a:xfrm>
            <a:off x="4297680" y="265176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F3833"/>
                </a:solidFill>
                <a:latin typeface="Arial"/>
                <a:cs typeface="Arial"/>
              </a:rPr>
              <a:t>Your team stays prime and client-facing</a:t>
            </a:r>
          </a:p>
        </p:txBody>
      </p:sp>
      <p:sp>
        <p:nvSpPr>
          <p:cNvPr id="807" name="Lead Pill"/>
          <p:cNvSpPr/>
          <p:nvPr/>
        </p:nvSpPr>
        <p:spPr>
          <a:xfrm>
            <a:off x="7635240" y="27889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50" b="1" i="0" spc="100" dirty="0">
                <a:solidFill>
                  <a:srgbClr val="FFFFFF"/>
                </a:solidFill>
                <a:latin typeface="Arial"/>
                <a:cs typeface="Arial"/>
              </a:rPr>
              <a:t>PALNI</a:t>
            </a:r>
          </a:p>
        </p:txBody>
      </p:sp>
      <p:sp>
        <p:nvSpPr>
          <p:cNvPr id="808" name="Shape"/>
          <p:cNvSpPr txBox="1"/>
          <p:nvPr/>
        </p:nvSpPr>
        <p:spPr>
          <a:xfrm>
            <a:off x="8595360" y="265176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F3833"/>
                </a:solidFill>
                <a:latin typeface="Arial"/>
                <a:cs typeface="Arial"/>
              </a:rPr>
              <a:t>Palni leads, co-branded for your client</a:t>
            </a:r>
          </a:p>
        </p:txBody>
      </p:sp>
      <p:cxnSp>
        <p:nvCxnSpPr>
          <p:cNvPr id="809" name="Row Rule"/>
          <p:cNvCxnSpPr/>
          <p:nvPr/>
        </p:nvCxnSpPr>
        <p:spPr>
          <a:xfrm>
            <a:off x="502920" y="3200400"/>
            <a:ext cx="11183112" cy="0"/>
          </a:xfrm>
          <a:prstGeom prst="line">
            <a:avLst/>
          </a:prstGeom>
          <a:ln w="9525">
            <a:solidFill>
              <a:srgbClr val="DDD6D1"/>
            </a:solidFill>
          </a:ln>
        </p:spPr>
      </p:cxnSp>
      <p:sp>
        <p:nvSpPr>
          <p:cNvPr id="810" name="Shape"/>
          <p:cNvSpPr txBox="1"/>
          <p:nvPr/>
        </p:nvSpPr>
        <p:spPr>
          <a:xfrm>
            <a:off x="502920" y="320040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3F3833"/>
                </a:solidFill>
                <a:latin typeface="Arial"/>
                <a:cs typeface="Arial"/>
              </a:rPr>
              <a:t>Scope &amp; success measures</a:t>
            </a:r>
          </a:p>
        </p:txBody>
      </p:sp>
      <p:sp>
        <p:nvSpPr>
          <p:cNvPr id="811" name="Lead Pill"/>
          <p:cNvSpPr/>
          <p:nvPr/>
        </p:nvSpPr>
        <p:spPr>
          <a:xfrm>
            <a:off x="3337560" y="33375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8079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50" b="1" i="0" spc="100" dirty="0">
                <a:solidFill>
                  <a:srgbClr val="3F3833"/>
                </a:solidFill>
                <a:latin typeface="Arial"/>
                <a:cs typeface="Arial"/>
              </a:rPr>
              <a:t>YOU</a:t>
            </a:r>
          </a:p>
        </p:txBody>
      </p:sp>
      <p:sp>
        <p:nvSpPr>
          <p:cNvPr id="812" name="Shape"/>
          <p:cNvSpPr txBox="1"/>
          <p:nvPr/>
        </p:nvSpPr>
        <p:spPr>
          <a:xfrm>
            <a:off x="4297680" y="320040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F3833"/>
                </a:solidFill>
                <a:latin typeface="Arial"/>
                <a:cs typeface="Arial"/>
              </a:rPr>
              <a:t>You set scope; Palni advises on approach</a:t>
            </a:r>
          </a:p>
        </p:txBody>
      </p:sp>
      <p:sp>
        <p:nvSpPr>
          <p:cNvPr id="813" name="Lead Pill"/>
          <p:cNvSpPr/>
          <p:nvPr/>
        </p:nvSpPr>
        <p:spPr>
          <a:xfrm>
            <a:off x="7635240" y="33375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EE8E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50" b="1" i="0" spc="100" dirty="0">
                <a:solidFill>
                  <a:srgbClr val="3F3833"/>
                </a:solidFill>
                <a:latin typeface="Arial"/>
                <a:cs typeface="Arial"/>
              </a:rPr>
              <a:t>SHARED</a:t>
            </a:r>
          </a:p>
        </p:txBody>
      </p:sp>
      <p:sp>
        <p:nvSpPr>
          <p:cNvPr id="814" name="Shape"/>
          <p:cNvSpPr txBox="1"/>
          <p:nvPr/>
        </p:nvSpPr>
        <p:spPr>
          <a:xfrm>
            <a:off x="8595360" y="320040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F3833"/>
                </a:solidFill>
                <a:latin typeface="Arial"/>
                <a:cs typeface="Arial"/>
              </a:rPr>
              <a:t>Agreed jointly with you and the customer</a:t>
            </a:r>
          </a:p>
        </p:txBody>
      </p:sp>
      <p:cxnSp>
        <p:nvCxnSpPr>
          <p:cNvPr id="815" name="Row Rule"/>
          <p:cNvCxnSpPr/>
          <p:nvPr/>
        </p:nvCxnSpPr>
        <p:spPr>
          <a:xfrm>
            <a:off x="502920" y="3749040"/>
            <a:ext cx="11183112" cy="0"/>
          </a:xfrm>
          <a:prstGeom prst="line">
            <a:avLst/>
          </a:prstGeom>
          <a:ln w="9525">
            <a:solidFill>
              <a:srgbClr val="DDD6D1"/>
            </a:solidFill>
          </a:ln>
        </p:spPr>
      </p:cxnSp>
      <p:sp>
        <p:nvSpPr>
          <p:cNvPr id="816" name="Shape"/>
          <p:cNvSpPr txBox="1"/>
          <p:nvPr/>
        </p:nvSpPr>
        <p:spPr>
          <a:xfrm>
            <a:off x="502920" y="374904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3F3833"/>
                </a:solidFill>
                <a:latin typeface="Arial"/>
                <a:cs typeface="Arial"/>
              </a:rPr>
              <a:t>Assessment &amp; design</a:t>
            </a:r>
          </a:p>
        </p:txBody>
      </p:sp>
      <p:sp>
        <p:nvSpPr>
          <p:cNvPr id="817" name="Lead Pill"/>
          <p:cNvSpPr/>
          <p:nvPr/>
        </p:nvSpPr>
        <p:spPr>
          <a:xfrm>
            <a:off x="3337560" y="38862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50" b="1" i="0" spc="100" dirty="0">
                <a:solidFill>
                  <a:srgbClr val="FFFFFF"/>
                </a:solidFill>
                <a:latin typeface="Arial"/>
                <a:cs typeface="Arial"/>
              </a:rPr>
              <a:t>PALNI</a:t>
            </a:r>
          </a:p>
        </p:txBody>
      </p:sp>
      <p:sp>
        <p:nvSpPr>
          <p:cNvPr id="818" name="Shape"/>
          <p:cNvSpPr txBox="1"/>
          <p:nvPr/>
        </p:nvSpPr>
        <p:spPr>
          <a:xfrm>
            <a:off x="4297680" y="374904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F3833"/>
                </a:solidFill>
                <a:latin typeface="Arial"/>
                <a:cs typeface="Arial"/>
              </a:rPr>
              <a:t>Palni designs behind the scenes</a:t>
            </a:r>
          </a:p>
        </p:txBody>
      </p:sp>
      <p:sp>
        <p:nvSpPr>
          <p:cNvPr id="819" name="Lead Pill"/>
          <p:cNvSpPr/>
          <p:nvPr/>
        </p:nvSpPr>
        <p:spPr>
          <a:xfrm>
            <a:off x="7635240" y="38862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50" b="1" i="0" spc="100" dirty="0">
                <a:solidFill>
                  <a:srgbClr val="FFFFFF"/>
                </a:solidFill>
                <a:latin typeface="Arial"/>
                <a:cs typeface="Arial"/>
              </a:rPr>
              <a:t>PALNI</a:t>
            </a:r>
          </a:p>
        </p:txBody>
      </p:sp>
      <p:sp>
        <p:nvSpPr>
          <p:cNvPr id="820" name="Shape"/>
          <p:cNvSpPr txBox="1"/>
          <p:nvPr/>
        </p:nvSpPr>
        <p:spPr>
          <a:xfrm>
            <a:off x="8595360" y="374904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F3833"/>
                </a:solidFill>
                <a:latin typeface="Arial"/>
                <a:cs typeface="Arial"/>
              </a:rPr>
              <a:t>Palni assesses and designs the solution</a:t>
            </a:r>
          </a:p>
        </p:txBody>
      </p:sp>
      <p:cxnSp>
        <p:nvCxnSpPr>
          <p:cNvPr id="821" name="Row Rule"/>
          <p:cNvCxnSpPr/>
          <p:nvPr/>
        </p:nvCxnSpPr>
        <p:spPr>
          <a:xfrm>
            <a:off x="502920" y="4297680"/>
            <a:ext cx="11183112" cy="0"/>
          </a:xfrm>
          <a:prstGeom prst="line">
            <a:avLst/>
          </a:prstGeom>
          <a:ln w="9525">
            <a:solidFill>
              <a:srgbClr val="DDD6D1"/>
            </a:solidFill>
          </a:ln>
        </p:spPr>
      </p:cxnSp>
      <p:sp>
        <p:nvSpPr>
          <p:cNvPr id="822" name="Shape"/>
          <p:cNvSpPr txBox="1"/>
          <p:nvPr/>
        </p:nvSpPr>
        <p:spPr>
          <a:xfrm>
            <a:off x="502920" y="429768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3F3833"/>
                </a:solidFill>
                <a:latin typeface="Arial"/>
                <a:cs typeface="Arial"/>
              </a:rPr>
              <a:t>Build, testing &amp; enablement</a:t>
            </a:r>
          </a:p>
        </p:txBody>
      </p:sp>
      <p:sp>
        <p:nvSpPr>
          <p:cNvPr id="823" name="Lead Pill"/>
          <p:cNvSpPr/>
          <p:nvPr/>
        </p:nvSpPr>
        <p:spPr>
          <a:xfrm>
            <a:off x="3337560" y="44348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50" b="1" i="0" spc="100" dirty="0">
                <a:solidFill>
                  <a:srgbClr val="FFFFFF"/>
                </a:solidFill>
                <a:latin typeface="Arial"/>
                <a:cs typeface="Arial"/>
              </a:rPr>
              <a:t>PALNI</a:t>
            </a:r>
          </a:p>
        </p:txBody>
      </p:sp>
      <p:sp>
        <p:nvSpPr>
          <p:cNvPr id="824" name="Shape"/>
          <p:cNvSpPr txBox="1"/>
          <p:nvPr/>
        </p:nvSpPr>
        <p:spPr>
          <a:xfrm>
            <a:off x="4297680" y="429768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F3833"/>
                </a:solidFill>
                <a:latin typeface="Arial"/>
                <a:cs typeface="Arial"/>
              </a:rPr>
              <a:t>Palni works under your delivery lead</a:t>
            </a:r>
          </a:p>
        </p:txBody>
      </p:sp>
      <p:sp>
        <p:nvSpPr>
          <p:cNvPr id="825" name="Lead Pill"/>
          <p:cNvSpPr/>
          <p:nvPr/>
        </p:nvSpPr>
        <p:spPr>
          <a:xfrm>
            <a:off x="7635240" y="44348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50" b="1" i="0" spc="100" dirty="0">
                <a:solidFill>
                  <a:srgbClr val="FFFFFF"/>
                </a:solidFill>
                <a:latin typeface="Arial"/>
                <a:cs typeface="Arial"/>
              </a:rPr>
              <a:t>PALNI</a:t>
            </a:r>
          </a:p>
        </p:txBody>
      </p:sp>
      <p:sp>
        <p:nvSpPr>
          <p:cNvPr id="826" name="Shape"/>
          <p:cNvSpPr txBox="1"/>
          <p:nvPr/>
        </p:nvSpPr>
        <p:spPr>
          <a:xfrm>
            <a:off x="8595360" y="429768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F3833"/>
                </a:solidFill>
                <a:latin typeface="Arial"/>
                <a:cs typeface="Arial"/>
              </a:rPr>
              <a:t>Palni owns execution end-to-end</a:t>
            </a:r>
          </a:p>
        </p:txBody>
      </p:sp>
      <p:cxnSp>
        <p:nvCxnSpPr>
          <p:cNvPr id="827" name="Row Rule"/>
          <p:cNvCxnSpPr/>
          <p:nvPr/>
        </p:nvCxnSpPr>
        <p:spPr>
          <a:xfrm>
            <a:off x="502920" y="4846320"/>
            <a:ext cx="11183112" cy="0"/>
          </a:xfrm>
          <a:prstGeom prst="line">
            <a:avLst/>
          </a:prstGeom>
          <a:ln w="9525">
            <a:solidFill>
              <a:srgbClr val="DDD6D1"/>
            </a:solidFill>
          </a:ln>
        </p:spPr>
      </p:cxnSp>
      <p:sp>
        <p:nvSpPr>
          <p:cNvPr id="828" name="Shape"/>
          <p:cNvSpPr txBox="1"/>
          <p:nvPr/>
        </p:nvSpPr>
        <p:spPr>
          <a:xfrm>
            <a:off x="502920" y="48463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3F3833"/>
                </a:solidFill>
                <a:latin typeface="Arial"/>
                <a:cs typeface="Arial"/>
              </a:rPr>
              <a:t>Handover &amp; growth</a:t>
            </a:r>
          </a:p>
        </p:txBody>
      </p:sp>
      <p:sp>
        <p:nvSpPr>
          <p:cNvPr id="829" name="Lead Pill"/>
          <p:cNvSpPr/>
          <p:nvPr/>
        </p:nvSpPr>
        <p:spPr>
          <a:xfrm>
            <a:off x="3337560" y="4983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EE8E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50" b="1" i="0" spc="100" dirty="0">
                <a:solidFill>
                  <a:srgbClr val="3F3833"/>
                </a:solidFill>
                <a:latin typeface="Arial"/>
                <a:cs typeface="Arial"/>
              </a:rPr>
              <a:t>SHARED</a:t>
            </a:r>
          </a:p>
        </p:txBody>
      </p:sp>
      <p:sp>
        <p:nvSpPr>
          <p:cNvPr id="830" name="Shape"/>
          <p:cNvSpPr txBox="1"/>
          <p:nvPr/>
        </p:nvSpPr>
        <p:spPr>
          <a:xfrm>
            <a:off x="4297680" y="484632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F3833"/>
                </a:solidFill>
                <a:latin typeface="Arial"/>
                <a:cs typeface="Arial"/>
              </a:rPr>
              <a:t>Palni documents; you run follow-on</a:t>
            </a:r>
          </a:p>
        </p:txBody>
      </p:sp>
      <p:sp>
        <p:nvSpPr>
          <p:cNvPr id="831" name="Lead Pill"/>
          <p:cNvSpPr/>
          <p:nvPr/>
        </p:nvSpPr>
        <p:spPr>
          <a:xfrm>
            <a:off x="7635240" y="4983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8079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950" b="1" i="0" spc="100" dirty="0">
                <a:solidFill>
                  <a:srgbClr val="3F3833"/>
                </a:solidFill>
                <a:latin typeface="Arial"/>
                <a:cs typeface="Arial"/>
              </a:rPr>
              <a:t>YOU</a:t>
            </a:r>
          </a:p>
        </p:txBody>
      </p:sp>
      <p:sp>
        <p:nvSpPr>
          <p:cNvPr id="832" name="Shape"/>
          <p:cNvSpPr txBox="1"/>
          <p:nvPr/>
        </p:nvSpPr>
        <p:spPr>
          <a:xfrm>
            <a:off x="8595360" y="4846320"/>
            <a:ext cx="29992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3F3833"/>
                </a:solidFill>
                <a:latin typeface="Arial"/>
                <a:cs typeface="Arial"/>
              </a:rPr>
              <a:t>Your team focuses on account growth</a:t>
            </a:r>
          </a:p>
        </p:txBody>
      </p:sp>
      <p:cxnSp>
        <p:nvCxnSpPr>
          <p:cNvPr id="833" name="Row Rule"/>
          <p:cNvCxnSpPr/>
          <p:nvPr/>
        </p:nvCxnSpPr>
        <p:spPr>
          <a:xfrm>
            <a:off x="502920" y="5394960"/>
            <a:ext cx="11183112" cy="0"/>
          </a:xfrm>
          <a:prstGeom prst="line">
            <a:avLst/>
          </a:prstGeom>
          <a:ln w="9525">
            <a:solidFill>
              <a:srgbClr val="DDD6D1"/>
            </a:solidFill>
          </a:ln>
        </p:spPr>
      </p:cxnSp>
      <p:sp>
        <p:nvSpPr>
          <p:cNvPr id="834" name="Shape"/>
          <p:cNvSpPr txBox="1"/>
          <p:nvPr/>
        </p:nvSpPr>
        <p:spPr>
          <a:xfrm>
            <a:off x="502920" y="550468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 i="0" spc="150" dirty="0">
                <a:solidFill>
                  <a:srgbClr val="912D1B"/>
                </a:solidFill>
                <a:latin typeface="Arial"/>
                <a:cs typeface="Arial"/>
              </a:rPr>
              <a:t>BEST FOR</a:t>
            </a:r>
          </a:p>
        </p:txBody>
      </p:sp>
      <p:sp>
        <p:nvSpPr>
          <p:cNvPr id="835" name="Best For"/>
          <p:cNvSpPr/>
          <p:nvPr/>
        </p:nvSpPr>
        <p:spPr>
          <a:xfrm>
            <a:off x="3200400" y="5504688"/>
            <a:ext cx="4187952" cy="502920"/>
          </a:xfrm>
          <a:prstGeom prst="roundRect">
            <a:avLst>
              <a:gd name="adj" fmla="val 20000"/>
            </a:avLst>
          </a:prstGeom>
          <a:solidFill>
            <a:srgbClr val="F6F2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3F3833"/>
                </a:solidFill>
                <a:latin typeface="Arial"/>
                <a:cs typeface="Arial"/>
              </a:rPr>
              <a:t>Augmenting active engagements</a:t>
            </a:r>
          </a:p>
        </p:txBody>
      </p:sp>
      <p:sp>
        <p:nvSpPr>
          <p:cNvPr id="836" name="Best For"/>
          <p:cNvSpPr/>
          <p:nvPr/>
        </p:nvSpPr>
        <p:spPr>
          <a:xfrm>
            <a:off x="7498080" y="5504688"/>
            <a:ext cx="4187952" cy="502920"/>
          </a:xfrm>
          <a:prstGeom prst="roundRect">
            <a:avLst>
              <a:gd name="adj" fmla="val 20000"/>
            </a:avLst>
          </a:prstGeom>
          <a:solidFill>
            <a:srgbClr val="F6F2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3F3833"/>
                </a:solidFill>
                <a:latin typeface="Arial"/>
                <a:cs typeface="Arial"/>
              </a:rPr>
              <a:t>Scaling new capability without new hires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Opportunities to Explore Together</a:t>
            </a:r>
          </a:p>
        </p:txBody>
      </p:sp>
      <p:sp>
        <p:nvSpPr>
          <p:cNvPr id="101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Start with one opportunity, a defined scope and a joint discovery.</a:t>
            </a:r>
          </a:p>
        </p:txBody>
      </p:sp>
      <p:sp>
        <p:nvSpPr>
          <p:cNvPr id="101" name="Col Header"/>
          <p:cNvSpPr/>
          <p:nvPr/>
        </p:nvSpPr>
        <p:spPr>
          <a:xfrm>
            <a:off x="502920" y="1700000"/>
            <a:ext cx="5455768" cy="502920"/>
          </a:xfrm>
          <a:prstGeom prst="roundRect">
            <a:avLst>
              <a:gd name="adj" fmla="val 20000"/>
            </a:avLst>
          </a:prstGeom>
          <a:solidFill>
            <a:srgbClr val="C58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spc="80" dirty="0">
                <a:solidFill>
                  <a:srgbClr val="FFFFFF"/>
                </a:solidFill>
                <a:latin typeface="Arial"/>
              </a:rPr>
              <a:t>DATA &amp; AI</a:t>
            </a:r>
          </a:p>
        </p:txBody>
      </p:sp>
      <p:sp>
        <p:nvSpPr>
          <p:cNvPr id="102" name="Col Header"/>
          <p:cNvSpPr/>
          <p:nvPr/>
        </p:nvSpPr>
        <p:spPr>
          <a:xfrm>
            <a:off x="6233008" y="1700000"/>
            <a:ext cx="5455768" cy="502920"/>
          </a:xfrm>
          <a:prstGeom prst="roundRect">
            <a:avLst>
              <a:gd name="adj" fmla="val 20000"/>
            </a:avLst>
          </a:prstGeom>
          <a:solidFill>
            <a:srgbClr val="912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spc="80" dirty="0">
                <a:solidFill>
                  <a:srgbClr val="FFFFFF"/>
                </a:solidFill>
                <a:latin typeface="Arial"/>
              </a:rPr>
              <a:t>SALESFORCE &amp; CUSTOM DEV</a:t>
            </a:r>
          </a:p>
        </p:txBody>
      </p:sp>
      <p:sp>
        <p:nvSpPr>
          <p:cNvPr id="103" name="Row Bg"/>
          <p:cNvSpPr/>
          <p:nvPr/>
        </p:nvSpPr>
        <p:spPr>
          <a:xfrm>
            <a:off x="502920" y="2477240"/>
            <a:ext cx="5455768" cy="69494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w Bar"/>
          <p:cNvSpPr/>
          <p:nvPr/>
        </p:nvSpPr>
        <p:spPr>
          <a:xfrm>
            <a:off x="502920" y="2477240"/>
            <a:ext cx="45720" cy="694944"/>
          </a:xfrm>
          <a:prstGeom prst="rect">
            <a:avLst/>
          </a:prstGeom>
          <a:solidFill>
            <a:srgbClr val="C58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w Text"/>
          <p:cNvSpPr txBox="1"/>
          <p:nvPr/>
        </p:nvSpPr>
        <p:spPr>
          <a:xfrm>
            <a:off x="594360" y="2477240"/>
            <a:ext cx="5315768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300" b="1" dirty="0">
                <a:solidFill>
                  <a:srgbClr val="2C2C2C"/>
                </a:solidFill>
                <a:latin typeface="Arial"/>
              </a:rPr>
              <a:t>Data platform modernization</a:t>
            </a:r>
          </a:p>
        </p:txBody>
      </p:sp>
      <p:sp>
        <p:nvSpPr>
          <p:cNvPr id="106" name="Row Bg"/>
          <p:cNvSpPr/>
          <p:nvPr/>
        </p:nvSpPr>
        <p:spPr>
          <a:xfrm>
            <a:off x="6233008" y="2477240"/>
            <a:ext cx="5455768" cy="69494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w Bar"/>
          <p:cNvSpPr/>
          <p:nvPr/>
        </p:nvSpPr>
        <p:spPr>
          <a:xfrm>
            <a:off x="6233008" y="2477240"/>
            <a:ext cx="45720" cy="694944"/>
          </a:xfrm>
          <a:prstGeom prst="rect">
            <a:avLst/>
          </a:prstGeom>
          <a:solidFill>
            <a:srgbClr val="912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w Text"/>
          <p:cNvSpPr txBox="1"/>
          <p:nvPr/>
        </p:nvSpPr>
        <p:spPr>
          <a:xfrm>
            <a:off x="6324448" y="2477240"/>
            <a:ext cx="5315768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300" b="1" dirty="0">
                <a:solidFill>
                  <a:srgbClr val="2C2C2C"/>
                </a:solidFill>
                <a:latin typeface="Arial"/>
              </a:rPr>
              <a:t>Salesforce health and integration review</a:t>
            </a:r>
          </a:p>
        </p:txBody>
      </p:sp>
      <p:sp>
        <p:nvSpPr>
          <p:cNvPr id="109" name="Row Bg"/>
          <p:cNvSpPr/>
          <p:nvPr/>
        </p:nvSpPr>
        <p:spPr>
          <a:xfrm>
            <a:off x="502920" y="3318488"/>
            <a:ext cx="5455768" cy="69494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w Bar"/>
          <p:cNvSpPr/>
          <p:nvPr/>
        </p:nvSpPr>
        <p:spPr>
          <a:xfrm>
            <a:off x="502920" y="3318488"/>
            <a:ext cx="45720" cy="694944"/>
          </a:xfrm>
          <a:prstGeom prst="rect">
            <a:avLst/>
          </a:prstGeom>
          <a:solidFill>
            <a:srgbClr val="C58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w Text"/>
          <p:cNvSpPr txBox="1"/>
          <p:nvPr/>
        </p:nvSpPr>
        <p:spPr>
          <a:xfrm>
            <a:off x="594360" y="3318488"/>
            <a:ext cx="5315768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300" b="1" dirty="0">
                <a:solidFill>
                  <a:srgbClr val="2C2C2C"/>
                </a:solidFill>
                <a:latin typeface="Arial"/>
              </a:rPr>
              <a:t>AI readiness and use-case assessment</a:t>
            </a:r>
          </a:p>
        </p:txBody>
      </p:sp>
      <p:sp>
        <p:nvSpPr>
          <p:cNvPr id="112" name="Row Bg"/>
          <p:cNvSpPr/>
          <p:nvPr/>
        </p:nvSpPr>
        <p:spPr>
          <a:xfrm>
            <a:off x="6233008" y="3318488"/>
            <a:ext cx="5455768" cy="69494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w Bar"/>
          <p:cNvSpPr/>
          <p:nvPr/>
        </p:nvSpPr>
        <p:spPr>
          <a:xfrm>
            <a:off x="6233008" y="3318488"/>
            <a:ext cx="45720" cy="694944"/>
          </a:xfrm>
          <a:prstGeom prst="rect">
            <a:avLst/>
          </a:prstGeom>
          <a:solidFill>
            <a:srgbClr val="912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w Text"/>
          <p:cNvSpPr txBox="1"/>
          <p:nvPr/>
        </p:nvSpPr>
        <p:spPr>
          <a:xfrm>
            <a:off x="6324448" y="3318488"/>
            <a:ext cx="5315768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300" b="1" dirty="0">
                <a:solidFill>
                  <a:srgbClr val="2C2C2C"/>
                </a:solidFill>
                <a:latin typeface="Arial"/>
              </a:rPr>
              <a:t>Agentforce sales or service use case</a:t>
            </a:r>
          </a:p>
        </p:txBody>
      </p:sp>
      <p:sp>
        <p:nvSpPr>
          <p:cNvPr id="115" name="Row Bg"/>
          <p:cNvSpPr/>
          <p:nvPr/>
        </p:nvSpPr>
        <p:spPr>
          <a:xfrm>
            <a:off x="502920" y="4159736"/>
            <a:ext cx="5455768" cy="69494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w Bar"/>
          <p:cNvSpPr/>
          <p:nvPr/>
        </p:nvSpPr>
        <p:spPr>
          <a:xfrm>
            <a:off x="502920" y="4159736"/>
            <a:ext cx="45720" cy="694944"/>
          </a:xfrm>
          <a:prstGeom prst="rect">
            <a:avLst/>
          </a:prstGeom>
          <a:solidFill>
            <a:srgbClr val="C58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w Text"/>
          <p:cNvSpPr txBox="1"/>
          <p:nvPr/>
        </p:nvSpPr>
        <p:spPr>
          <a:xfrm>
            <a:off x="594360" y="4159736"/>
            <a:ext cx="5315768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300" b="1" dirty="0">
                <a:solidFill>
                  <a:srgbClr val="2C2C2C"/>
                </a:solidFill>
                <a:latin typeface="Arial"/>
              </a:rPr>
              <a:t>Document or knowledge assistant pilot</a:t>
            </a:r>
          </a:p>
        </p:txBody>
      </p:sp>
      <p:sp>
        <p:nvSpPr>
          <p:cNvPr id="118" name="Row Bg"/>
          <p:cNvSpPr/>
          <p:nvPr/>
        </p:nvSpPr>
        <p:spPr>
          <a:xfrm>
            <a:off x="6233008" y="4159736"/>
            <a:ext cx="5455768" cy="69494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w Bar"/>
          <p:cNvSpPr/>
          <p:nvPr/>
        </p:nvSpPr>
        <p:spPr>
          <a:xfrm>
            <a:off x="6233008" y="4159736"/>
            <a:ext cx="45720" cy="694944"/>
          </a:xfrm>
          <a:prstGeom prst="rect">
            <a:avLst/>
          </a:prstGeom>
          <a:solidFill>
            <a:srgbClr val="912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w Text"/>
          <p:cNvSpPr txBox="1"/>
          <p:nvPr/>
        </p:nvSpPr>
        <p:spPr>
          <a:xfrm>
            <a:off x="6324448" y="4159736"/>
            <a:ext cx="5315768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300" b="1" dirty="0">
                <a:solidFill>
                  <a:srgbClr val="2C2C2C"/>
                </a:solidFill>
                <a:latin typeface="Arial"/>
              </a:rPr>
              <a:t>Custom application or integration build</a:t>
            </a:r>
          </a:p>
        </p:txBody>
      </p:sp>
      <p:sp>
        <p:nvSpPr>
          <p:cNvPr id="121" name="Row Bg"/>
          <p:cNvSpPr/>
          <p:nvPr/>
        </p:nvSpPr>
        <p:spPr>
          <a:xfrm>
            <a:off x="502920" y="5000984"/>
            <a:ext cx="5455768" cy="69494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w Bar"/>
          <p:cNvSpPr/>
          <p:nvPr/>
        </p:nvSpPr>
        <p:spPr>
          <a:xfrm>
            <a:off x="502920" y="5000984"/>
            <a:ext cx="45720" cy="694944"/>
          </a:xfrm>
          <a:prstGeom prst="rect">
            <a:avLst/>
          </a:prstGeom>
          <a:solidFill>
            <a:srgbClr val="C58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w Text"/>
          <p:cNvSpPr txBox="1"/>
          <p:nvPr/>
        </p:nvSpPr>
        <p:spPr>
          <a:xfrm>
            <a:off x="594360" y="5000984"/>
            <a:ext cx="5315768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300" b="1" dirty="0">
                <a:solidFill>
                  <a:srgbClr val="2C2C2C"/>
                </a:solidFill>
                <a:latin typeface="Arial"/>
              </a:rPr>
              <a:t>Production integration of an AI workflow</a:t>
            </a:r>
          </a:p>
        </p:txBody>
      </p:sp>
      <p:sp>
        <p:nvSpPr>
          <p:cNvPr id="124" name="Row Bg"/>
          <p:cNvSpPr/>
          <p:nvPr/>
        </p:nvSpPr>
        <p:spPr>
          <a:xfrm>
            <a:off x="6233008" y="5000984"/>
            <a:ext cx="5455768" cy="69494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w Bar"/>
          <p:cNvSpPr/>
          <p:nvPr/>
        </p:nvSpPr>
        <p:spPr>
          <a:xfrm>
            <a:off x="6233008" y="5000984"/>
            <a:ext cx="45720" cy="694944"/>
          </a:xfrm>
          <a:prstGeom prst="rect">
            <a:avLst/>
          </a:prstGeom>
          <a:solidFill>
            <a:srgbClr val="912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w Text"/>
          <p:cNvSpPr txBox="1"/>
          <p:nvPr/>
        </p:nvSpPr>
        <p:spPr>
          <a:xfrm>
            <a:off x="6324448" y="5000984"/>
            <a:ext cx="5315768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300" b="1" dirty="0">
                <a:solidFill>
                  <a:srgbClr val="2C2C2C"/>
                </a:solidFill>
                <a:latin typeface="Arial"/>
              </a:rPr>
              <a:t>CRM data and automation improvements</a:t>
            </a:r>
          </a:p>
        </p:txBody>
      </p:sp>
      <p:sp>
        <p:nvSpPr>
          <p:cNvPr id="9999" name="Slide Number Placeholder Marker"/>
          <p:cNvSpPr/>
          <p:nvPr/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39BC-AE70-6345-DD2A-00C2E3AD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A7C4946F-D2CE-2B71-351B-49E71800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 Specialist Partner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D6A88ECE-AE48-1ACA-44B3-20BC48456FD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We extend your bench where depth matters — not duplicate what you deliver.</a:t>
            </a:r>
          </a:p>
        </p:txBody>
      </p:sp>
      <p:sp>
        <p:nvSpPr>
          <p:cNvPr id="9999" name="Slide Number Placeholder Marker"/>
          <p:cNvSpPr/>
          <p:nvPr/>
        </p:nvSpPr>
        <p:spPr/>
        <p:txBody>
          <a:bodyPr/>
          <a:lstStyle/>
          <a:p>
            <a:endParaRPr/>
          </a:p>
        </p:txBody>
      </p:sp>
      <p:sp>
        <p:nvSpPr>
          <p:cNvPr id="701" name="Shape"/>
          <p:cNvSpPr txBox="1"/>
          <p:nvPr/>
        </p:nvSpPr>
        <p:spPr>
          <a:xfrm>
            <a:off x="502920" y="17830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9C6A1C"/>
                </a:solidFill>
                <a:latin typeface="Arial"/>
                <a:cs typeface="Arial"/>
              </a:rPr>
              <a:t>ENTERPRISE AI</a:t>
            </a:r>
          </a:p>
        </p:txBody>
      </p:sp>
      <p:sp>
        <p:nvSpPr>
          <p:cNvPr id="702" name="Shape"/>
          <p:cNvSpPr txBox="1"/>
          <p:nvPr/>
        </p:nvSpPr>
        <p:spPr>
          <a:xfrm>
            <a:off x="502920" y="2029968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4400" b="1" i="0" dirty="0">
                <a:solidFill>
                  <a:srgbClr val="912D1B"/>
                </a:solidFill>
                <a:latin typeface="Arial"/>
                <a:cs typeface="Arial"/>
              </a:rPr>
              <a:t>Since 2019</a:t>
            </a:r>
          </a:p>
        </p:txBody>
      </p:sp>
      <p:sp>
        <p:nvSpPr>
          <p:cNvPr id="703" name="Shape"/>
          <p:cNvSpPr txBox="1"/>
          <p:nvPr/>
        </p:nvSpPr>
        <p:spPr>
          <a:xfrm>
            <a:off x="502920" y="2880360"/>
            <a:ext cx="34290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500" b="1" i="0" dirty="0">
                <a:solidFill>
                  <a:srgbClr val="3F3833"/>
                </a:solidFill>
                <a:latin typeface="Arial"/>
                <a:cs typeface="Arial"/>
              </a:rPr>
              <a:t>Enterprise AI in production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Our dedicated AI practice has shipped conversational, knowledge and agentic AI for years — not months.</a:t>
            </a:r>
          </a:p>
        </p:txBody>
      </p:sp>
      <p:sp>
        <p:nvSpPr>
          <p:cNvPr id="704" name="Shape"/>
          <p:cNvSpPr txBox="1"/>
          <p:nvPr/>
        </p:nvSpPr>
        <p:spPr>
          <a:xfrm>
            <a:off x="4379976" y="17830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9C6A1C"/>
                </a:solidFill>
                <a:latin typeface="Arial"/>
                <a:cs typeface="Arial"/>
              </a:rPr>
              <a:t>SALESFORCE</a:t>
            </a:r>
          </a:p>
        </p:txBody>
      </p:sp>
      <p:sp>
        <p:nvSpPr>
          <p:cNvPr id="705" name="Shape"/>
          <p:cNvSpPr txBox="1"/>
          <p:nvPr/>
        </p:nvSpPr>
        <p:spPr>
          <a:xfrm>
            <a:off x="4379976" y="2029968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4400" b="1" i="0" dirty="0">
                <a:solidFill>
                  <a:srgbClr val="912D1B"/>
                </a:solidFill>
                <a:latin typeface="Arial"/>
                <a:cs typeface="Arial"/>
              </a:rPr>
              <a:t>90+</a:t>
            </a:r>
          </a:p>
        </p:txBody>
      </p:sp>
      <p:sp>
        <p:nvSpPr>
          <p:cNvPr id="706" name="Shape"/>
          <p:cNvSpPr txBox="1"/>
          <p:nvPr/>
        </p:nvSpPr>
        <p:spPr>
          <a:xfrm>
            <a:off x="4379976" y="2880360"/>
            <a:ext cx="34290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500" b="1" i="0" dirty="0">
                <a:solidFill>
                  <a:srgbClr val="3F3833"/>
                </a:solidFill>
                <a:latin typeface="Arial"/>
                <a:cs typeface="Arial"/>
              </a:rPr>
              <a:t>Salesforce certifications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Certified talent across architecture, platform, marketing and DevOps, ready for complex programs.</a:t>
            </a:r>
          </a:p>
        </p:txBody>
      </p:sp>
      <p:sp>
        <p:nvSpPr>
          <p:cNvPr id="707" name="Shape"/>
          <p:cNvSpPr txBox="1"/>
          <p:nvPr/>
        </p:nvSpPr>
        <p:spPr>
          <a:xfrm>
            <a:off x="8257032" y="17830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9C6A1C"/>
                </a:solidFill>
                <a:latin typeface="Arial"/>
                <a:cs typeface="Arial"/>
              </a:rPr>
              <a:t>DELIVERY MODEL</a:t>
            </a:r>
          </a:p>
        </p:txBody>
      </p:sp>
      <p:sp>
        <p:nvSpPr>
          <p:cNvPr id="708" name="Shape"/>
          <p:cNvSpPr txBox="1"/>
          <p:nvPr/>
        </p:nvSpPr>
        <p:spPr>
          <a:xfrm>
            <a:off x="8257032" y="2029968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4400" b="1" i="0" dirty="0">
                <a:solidFill>
                  <a:srgbClr val="912D1B"/>
                </a:solidFill>
                <a:latin typeface="Arial"/>
                <a:cs typeface="Arial"/>
              </a:rPr>
              <a:t>US + India</a:t>
            </a:r>
          </a:p>
        </p:txBody>
      </p:sp>
      <p:sp>
        <p:nvSpPr>
          <p:cNvPr id="709" name="Shape"/>
          <p:cNvSpPr txBox="1"/>
          <p:nvPr/>
        </p:nvSpPr>
        <p:spPr>
          <a:xfrm>
            <a:off x="8257032" y="2880360"/>
            <a:ext cx="34290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1500" b="1" i="0" dirty="0">
                <a:solidFill>
                  <a:srgbClr val="3F3833"/>
                </a:solidFill>
                <a:latin typeface="Arial"/>
                <a:cs typeface="Arial"/>
              </a:rPr>
              <a:t>Onshore leadership, scalable delivery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6E625A"/>
                </a:solidFill>
                <a:latin typeface="Arial"/>
                <a:cs typeface="Arial"/>
              </a:rPr>
              <a:t>U.S. offices in Texas and Illinois, with delivery centers in Hyderabad.</a:t>
            </a:r>
          </a:p>
        </p:txBody>
      </p:sp>
      <p:cxnSp>
        <p:nvCxnSpPr>
          <p:cNvPr id="710" name="Divider"/>
          <p:cNvCxnSpPr/>
          <p:nvPr/>
        </p:nvCxnSpPr>
        <p:spPr>
          <a:xfrm>
            <a:off x="4160520" y="1828800"/>
            <a:ext cx="0" cy="2194560"/>
          </a:xfrm>
          <a:prstGeom prst="line">
            <a:avLst/>
          </a:prstGeom>
          <a:ln w="9525">
            <a:solidFill>
              <a:srgbClr val="DDD6D1"/>
            </a:solidFill>
          </a:ln>
        </p:spPr>
      </p:cxnSp>
      <p:cxnSp>
        <p:nvCxnSpPr>
          <p:cNvPr id="711" name="Divider"/>
          <p:cNvCxnSpPr/>
          <p:nvPr/>
        </p:nvCxnSpPr>
        <p:spPr>
          <a:xfrm>
            <a:off x="8037576" y="1828800"/>
            <a:ext cx="0" cy="2194560"/>
          </a:xfrm>
          <a:prstGeom prst="line">
            <a:avLst/>
          </a:prstGeom>
          <a:ln w="9525">
            <a:solidFill>
              <a:srgbClr val="DDD6D1"/>
            </a:solidFill>
          </a:ln>
        </p:spPr>
      </p:cxnSp>
      <p:sp>
        <p:nvSpPr>
          <p:cNvPr id="712" name="Benefit Band"/>
          <p:cNvSpPr/>
          <p:nvPr/>
        </p:nvSpPr>
        <p:spPr>
          <a:xfrm>
            <a:off x="502920" y="434340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6F2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13" name="Shape"/>
          <p:cNvSpPr txBox="1"/>
          <p:nvPr/>
        </p:nvSpPr>
        <p:spPr>
          <a:xfrm>
            <a:off x="777240" y="4498848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912D1B"/>
                </a:solidFill>
                <a:latin typeface="Arial"/>
                <a:cs typeface="Arial"/>
              </a:rPr>
              <a:t>WHAT THAT MEANS FOR YOU</a:t>
            </a:r>
          </a:p>
        </p:txBody>
      </p:sp>
      <p:sp>
        <p:nvSpPr>
          <p:cNvPr id="714" name="Shape"/>
          <p:cNvSpPr txBox="1"/>
          <p:nvPr/>
        </p:nvSpPr>
        <p:spPr>
          <a:xfrm>
            <a:off x="777240" y="4846320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lnSpc>
                <a:spcPct val="105000"/>
              </a:lnSpc>
              <a:spcAft>
                <a:spcPts val="5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F3833"/>
                </a:solidFill>
                <a:latin typeface="Arial"/>
                <a:cs typeface="Arial"/>
              </a:rPr>
              <a:t>Multi-LLM, secure enterprise deployment</a:t>
            </a:r>
          </a:p>
          <a:p>
            <a:pPr marL="228600" indent="-228600" algn="l">
              <a:lnSpc>
                <a:spcPct val="105000"/>
              </a:lnSpc>
              <a:spcAft>
                <a:spcPts val="5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F3833"/>
                </a:solidFill>
                <a:latin typeface="Arial"/>
                <a:cs typeface="Arial"/>
              </a:rPr>
              <a:t>Governance and audit logging built in</a:t>
            </a:r>
          </a:p>
          <a:p>
            <a:pPr marL="228600" indent="-228600" algn="l">
              <a:lnSpc>
                <a:spcPct val="105000"/>
              </a:lnSpc>
              <a:spcAft>
                <a:spcPts val="5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F3833"/>
                </a:solidFill>
                <a:latin typeface="Arial"/>
                <a:cs typeface="Arial"/>
              </a:rPr>
              <a:t>Proven: 99.6% invoice auto-reconciliation</a:t>
            </a:r>
          </a:p>
        </p:txBody>
      </p:sp>
      <p:sp>
        <p:nvSpPr>
          <p:cNvPr id="715" name="Shape"/>
          <p:cNvSpPr txBox="1"/>
          <p:nvPr/>
        </p:nvSpPr>
        <p:spPr>
          <a:xfrm>
            <a:off x="4379976" y="4846320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lnSpc>
                <a:spcPct val="105000"/>
              </a:lnSpc>
              <a:spcAft>
                <a:spcPts val="5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F3833"/>
                </a:solidFill>
                <a:latin typeface="Arial"/>
                <a:cs typeface="Arial"/>
              </a:rPr>
              <a:t>Architect-level design authority</a:t>
            </a:r>
          </a:p>
          <a:p>
            <a:pPr marL="228600" indent="-228600" algn="l">
              <a:lnSpc>
                <a:spcPct val="105000"/>
              </a:lnSpc>
              <a:spcAft>
                <a:spcPts val="5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F3833"/>
                </a:solidFill>
                <a:latin typeface="Arial"/>
                <a:cs typeface="Arial"/>
              </a:rPr>
              <a:t>Core, Agentforce and industry clouds</a:t>
            </a:r>
          </a:p>
          <a:p>
            <a:pPr marL="228600" indent="-228600" algn="l">
              <a:lnSpc>
                <a:spcPct val="105000"/>
              </a:lnSpc>
              <a:spcAft>
                <a:spcPts val="5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F3833"/>
                </a:solidFill>
                <a:latin typeface="Arial"/>
                <a:cs typeface="Arial"/>
              </a:rPr>
              <a:t>Integration with data and custom apps</a:t>
            </a:r>
          </a:p>
        </p:txBody>
      </p:sp>
      <p:sp>
        <p:nvSpPr>
          <p:cNvPr id="716" name="Shape"/>
          <p:cNvSpPr txBox="1"/>
          <p:nvPr/>
        </p:nvSpPr>
        <p:spPr>
          <a:xfrm>
            <a:off x="8257032" y="4846320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lnSpc>
                <a:spcPct val="105000"/>
              </a:lnSpc>
              <a:spcAft>
                <a:spcPts val="5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F3833"/>
                </a:solidFill>
                <a:latin typeface="Arial"/>
                <a:cs typeface="Arial"/>
              </a:rPr>
              <a:t>Senior, U.S.-based engagement leads</a:t>
            </a:r>
          </a:p>
          <a:p>
            <a:pPr marL="228600" indent="-228600" algn="l">
              <a:lnSpc>
                <a:spcPct val="105000"/>
              </a:lnSpc>
              <a:spcAft>
                <a:spcPts val="5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F3833"/>
                </a:solidFill>
                <a:latin typeface="Arial"/>
                <a:cs typeface="Arial"/>
              </a:rPr>
              <a:t>Delivers under your customer relationship</a:t>
            </a:r>
          </a:p>
          <a:p>
            <a:pPr marL="228600" indent="-228600" algn="l">
              <a:lnSpc>
                <a:spcPct val="105000"/>
              </a:lnSpc>
              <a:spcAft>
                <a:spcPts val="500"/>
              </a:spcAft>
              <a:buClr>
                <a:srgbClr val="912D1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F3833"/>
                </a:solidFill>
                <a:latin typeface="Arial"/>
                <a:cs typeface="Arial"/>
              </a:rPr>
              <a:t>Fast mobilization for defined scopes</a:t>
            </a:r>
          </a:p>
        </p:txBody>
      </p:sp>
    </p:spTree>
    <p:extLst>
      <p:ext uri="{BB962C8B-B14F-4D97-AF65-F5344CB8AC3E}">
        <p14:creationId xmlns:p14="http://schemas.microsoft.com/office/powerpoint/2010/main" val="21727470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B598B-887F-3A79-F14B-1FD11F59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47CA18-341A-0D56-C355-7B057C8C209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Montserrat"/>
              </a:rPr>
              <a:t>Custom Software Capabilities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144D8-BE70-93B4-8552-0F2B96E10D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lang="en" sz="13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C2471B54-46EA-CD83-742C-F8D30D69B76E}"/>
              </a:ext>
            </a:extLst>
          </p:cNvPr>
          <p:cNvSpPr/>
          <p:nvPr/>
        </p:nvSpPr>
        <p:spPr>
          <a:xfrm rot="8100000">
            <a:off x="5136348" y="4448749"/>
            <a:ext cx="3665631" cy="109680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AA7587F-5029-0488-22B5-A0DAC26A8C2E}"/>
              </a:ext>
            </a:extLst>
          </p:cNvPr>
          <p:cNvSpPr/>
          <p:nvPr/>
        </p:nvSpPr>
        <p:spPr>
          <a:xfrm rot="2700000">
            <a:off x="5290228" y="2696054"/>
            <a:ext cx="3508353" cy="1096804"/>
          </a:xfrm>
          <a:custGeom>
            <a:avLst/>
            <a:gdLst>
              <a:gd name="connsiteX0" fmla="*/ 3344 w 3508353"/>
              <a:gd name="connsiteY0" fmla="*/ 160623 h 1096804"/>
              <a:gd name="connsiteX1" fmla="*/ 391123 w 3508353"/>
              <a:gd name="connsiteY1" fmla="*/ 0 h 1096804"/>
              <a:gd name="connsiteX2" fmla="*/ 2959951 w 3508353"/>
              <a:gd name="connsiteY2" fmla="*/ 0 h 1096804"/>
              <a:gd name="connsiteX3" fmla="*/ 3508353 w 3508353"/>
              <a:gd name="connsiteY3" fmla="*/ 548402 h 1096804"/>
              <a:gd name="connsiteX4" fmla="*/ 3508352 w 3508353"/>
              <a:gd name="connsiteY4" fmla="*/ 548402 h 1096804"/>
              <a:gd name="connsiteX5" fmla="*/ 2959950 w 3508353"/>
              <a:gd name="connsiteY5" fmla="*/ 1096804 h 1096804"/>
              <a:gd name="connsiteX6" fmla="*/ 932135 w 3508353"/>
              <a:gd name="connsiteY6" fmla="*/ 1096803 h 1096804"/>
              <a:gd name="connsiteX7" fmla="*/ 932135 w 3508353"/>
              <a:gd name="connsiteY7" fmla="*/ 555793 h 1096804"/>
              <a:gd name="connsiteX8" fmla="*/ 383733 w 3508353"/>
              <a:gd name="connsiteY8" fmla="*/ 7391 h 1096804"/>
              <a:gd name="connsiteX9" fmla="*/ 383733 w 3508353"/>
              <a:gd name="connsiteY9" fmla="*/ 7391 h 1096804"/>
              <a:gd name="connsiteX10" fmla="*/ 77117 w 3508353"/>
              <a:gd name="connsiteY10" fmla="*/ 101049 h 1096804"/>
              <a:gd name="connsiteX11" fmla="*/ 0 w 3508353"/>
              <a:gd name="connsiteY11" fmla="*/ 164676 h 109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8353" h="1096804">
                <a:moveTo>
                  <a:pt x="3344" y="160623"/>
                </a:moveTo>
                <a:cubicBezTo>
                  <a:pt x="102586" y="61382"/>
                  <a:pt x="239686" y="0"/>
                  <a:pt x="391123" y="0"/>
                </a:cubicBezTo>
                <a:lnTo>
                  <a:pt x="2959951" y="0"/>
                </a:lnTo>
                <a:cubicBezTo>
                  <a:pt x="3262825" y="0"/>
                  <a:pt x="3508353" y="245528"/>
                  <a:pt x="3508353" y="548402"/>
                </a:cubicBezTo>
                <a:lnTo>
                  <a:pt x="3508352" y="548402"/>
                </a:lnTo>
                <a:cubicBezTo>
                  <a:pt x="3508352" y="851276"/>
                  <a:pt x="3262824" y="1096804"/>
                  <a:pt x="2959950" y="1096804"/>
                </a:cubicBezTo>
                <a:lnTo>
                  <a:pt x="932135" y="1096803"/>
                </a:lnTo>
                <a:lnTo>
                  <a:pt x="932135" y="555793"/>
                </a:lnTo>
                <a:cubicBezTo>
                  <a:pt x="932134" y="252919"/>
                  <a:pt x="686606" y="7391"/>
                  <a:pt x="383733" y="7391"/>
                </a:cubicBezTo>
                <a:lnTo>
                  <a:pt x="383733" y="7391"/>
                </a:lnTo>
                <a:cubicBezTo>
                  <a:pt x="270156" y="7391"/>
                  <a:pt x="164642" y="41919"/>
                  <a:pt x="77117" y="101049"/>
                </a:cubicBezTo>
                <a:lnTo>
                  <a:pt x="0" y="1646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6001635-1802-02CB-ECCF-C8F1F9F6661F}"/>
              </a:ext>
            </a:extLst>
          </p:cNvPr>
          <p:cNvSpPr/>
          <p:nvPr/>
        </p:nvSpPr>
        <p:spPr>
          <a:xfrm rot="8100000">
            <a:off x="3329094" y="2640448"/>
            <a:ext cx="3665632" cy="1096804"/>
          </a:xfrm>
          <a:custGeom>
            <a:avLst/>
            <a:gdLst>
              <a:gd name="connsiteX0" fmla="*/ 3504465 w 3665632"/>
              <a:gd name="connsiteY0" fmla="*/ 936628 h 1096804"/>
              <a:gd name="connsiteX1" fmla="*/ 3570969 w 3665632"/>
              <a:gd name="connsiteY1" fmla="*/ 856025 h 1096804"/>
              <a:gd name="connsiteX2" fmla="*/ 3664627 w 3665632"/>
              <a:gd name="connsiteY2" fmla="*/ 549409 h 1096804"/>
              <a:gd name="connsiteX3" fmla="*/ 3664627 w 3665632"/>
              <a:gd name="connsiteY3" fmla="*/ 538433 h 1096804"/>
              <a:gd name="connsiteX4" fmla="*/ 3665632 w 3665632"/>
              <a:gd name="connsiteY4" fmla="*/ 548402 h 1096804"/>
              <a:gd name="connsiteX5" fmla="*/ 3665631 w 3665632"/>
              <a:gd name="connsiteY5" fmla="*/ 548402 h 1096804"/>
              <a:gd name="connsiteX6" fmla="*/ 3505008 w 3665632"/>
              <a:gd name="connsiteY6" fmla="*/ 936181 h 1096804"/>
              <a:gd name="connsiteX7" fmla="*/ 160623 w 3665632"/>
              <a:gd name="connsiteY7" fmla="*/ 936180 h 1096804"/>
              <a:gd name="connsiteX8" fmla="*/ 0 w 3665632"/>
              <a:gd name="connsiteY8" fmla="*/ 548401 h 1096804"/>
              <a:gd name="connsiteX9" fmla="*/ 0 w 3665632"/>
              <a:gd name="connsiteY9" fmla="*/ 548402 h 1096804"/>
              <a:gd name="connsiteX10" fmla="*/ 548402 w 3665632"/>
              <a:gd name="connsiteY10" fmla="*/ 0 h 1096804"/>
              <a:gd name="connsiteX11" fmla="*/ 2567824 w 3665632"/>
              <a:gd name="connsiteY11" fmla="*/ 0 h 1096804"/>
              <a:gd name="connsiteX12" fmla="*/ 2567823 w 3665632"/>
              <a:gd name="connsiteY12" fmla="*/ 549408 h 1096804"/>
              <a:gd name="connsiteX13" fmla="*/ 3005703 w 3665632"/>
              <a:gd name="connsiteY13" fmla="*/ 1086668 h 1096804"/>
              <a:gd name="connsiteX14" fmla="*/ 3106249 w 3665632"/>
              <a:gd name="connsiteY14" fmla="*/ 1096804 h 1096804"/>
              <a:gd name="connsiteX15" fmla="*/ 548402 w 3665632"/>
              <a:gd name="connsiteY15" fmla="*/ 1096803 h 1096804"/>
              <a:gd name="connsiteX16" fmla="*/ 160623 w 3665632"/>
              <a:gd name="connsiteY16" fmla="*/ 936180 h 109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65632" h="1096804">
                <a:moveTo>
                  <a:pt x="3504465" y="936628"/>
                </a:moveTo>
                <a:lnTo>
                  <a:pt x="3570969" y="856025"/>
                </a:lnTo>
                <a:cubicBezTo>
                  <a:pt x="3630100" y="768500"/>
                  <a:pt x="3664627" y="662987"/>
                  <a:pt x="3664627" y="549409"/>
                </a:cubicBezTo>
                <a:lnTo>
                  <a:pt x="3664627" y="538433"/>
                </a:lnTo>
                <a:lnTo>
                  <a:pt x="3665632" y="548402"/>
                </a:lnTo>
                <a:lnTo>
                  <a:pt x="3665631" y="548402"/>
                </a:lnTo>
                <a:cubicBezTo>
                  <a:pt x="3665631" y="699839"/>
                  <a:pt x="3604249" y="836939"/>
                  <a:pt x="3505008" y="936181"/>
                </a:cubicBezTo>
                <a:close/>
                <a:moveTo>
                  <a:pt x="160623" y="936180"/>
                </a:moveTo>
                <a:cubicBezTo>
                  <a:pt x="61382" y="836938"/>
                  <a:pt x="0" y="699838"/>
                  <a:pt x="0" y="548401"/>
                </a:cubicBezTo>
                <a:lnTo>
                  <a:pt x="0" y="548402"/>
                </a:lnTo>
                <a:cubicBezTo>
                  <a:pt x="0" y="245528"/>
                  <a:pt x="245528" y="0"/>
                  <a:pt x="548402" y="0"/>
                </a:cubicBezTo>
                <a:lnTo>
                  <a:pt x="2567824" y="0"/>
                </a:lnTo>
                <a:lnTo>
                  <a:pt x="2567823" y="549408"/>
                </a:lnTo>
                <a:cubicBezTo>
                  <a:pt x="2567823" y="814422"/>
                  <a:pt x="2755806" y="1035532"/>
                  <a:pt x="3005703" y="1086668"/>
                </a:cubicBezTo>
                <a:lnTo>
                  <a:pt x="3106249" y="1096804"/>
                </a:lnTo>
                <a:lnTo>
                  <a:pt x="548402" y="1096803"/>
                </a:lnTo>
                <a:cubicBezTo>
                  <a:pt x="396965" y="1096803"/>
                  <a:pt x="259865" y="1035421"/>
                  <a:pt x="160623" y="9361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DDB66C5-EA7A-5307-9255-3D89C8D7650B}"/>
              </a:ext>
            </a:extLst>
          </p:cNvPr>
          <p:cNvSpPr/>
          <p:nvPr/>
        </p:nvSpPr>
        <p:spPr>
          <a:xfrm rot="13500000">
            <a:off x="3351685" y="4400917"/>
            <a:ext cx="3511357" cy="1096804"/>
          </a:xfrm>
          <a:custGeom>
            <a:avLst/>
            <a:gdLst>
              <a:gd name="connsiteX0" fmla="*/ 3350733 w 3511357"/>
              <a:gd name="connsiteY0" fmla="*/ 936181 h 1096804"/>
              <a:gd name="connsiteX1" fmla="*/ 2962954 w 3511357"/>
              <a:gd name="connsiteY1" fmla="*/ 1096804 h 1096804"/>
              <a:gd name="connsiteX2" fmla="*/ 928495 w 3511357"/>
              <a:gd name="connsiteY2" fmla="*/ 1096803 h 1096804"/>
              <a:gd name="connsiteX3" fmla="*/ 928495 w 3511357"/>
              <a:gd name="connsiteY3" fmla="*/ 562438 h 1096804"/>
              <a:gd name="connsiteX4" fmla="*/ 380093 w 3511357"/>
              <a:gd name="connsiteY4" fmla="*/ 14036 h 1096804"/>
              <a:gd name="connsiteX5" fmla="*/ 380094 w 3511357"/>
              <a:gd name="connsiteY5" fmla="*/ 14035 h 1096804"/>
              <a:gd name="connsiteX6" fmla="*/ 73477 w 3511357"/>
              <a:gd name="connsiteY6" fmla="*/ 107694 h 1096804"/>
              <a:gd name="connsiteX7" fmla="*/ 0 w 3511357"/>
              <a:gd name="connsiteY7" fmla="*/ 168317 h 1096804"/>
              <a:gd name="connsiteX8" fmla="*/ 6348 w 3511357"/>
              <a:gd name="connsiteY8" fmla="*/ 160623 h 1096804"/>
              <a:gd name="connsiteX9" fmla="*/ 394127 w 3511357"/>
              <a:gd name="connsiteY9" fmla="*/ 0 h 1096804"/>
              <a:gd name="connsiteX10" fmla="*/ 2962955 w 3511357"/>
              <a:gd name="connsiteY10" fmla="*/ 0 h 1096804"/>
              <a:gd name="connsiteX11" fmla="*/ 3511357 w 3511357"/>
              <a:gd name="connsiteY11" fmla="*/ 548402 h 1096804"/>
              <a:gd name="connsiteX12" fmla="*/ 3511356 w 3511357"/>
              <a:gd name="connsiteY12" fmla="*/ 548402 h 1096804"/>
              <a:gd name="connsiteX13" fmla="*/ 3350733 w 3511357"/>
              <a:gd name="connsiteY13" fmla="*/ 936181 h 109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11357" h="1096804">
                <a:moveTo>
                  <a:pt x="3350733" y="936181"/>
                </a:moveTo>
                <a:cubicBezTo>
                  <a:pt x="3251491" y="1035422"/>
                  <a:pt x="3114391" y="1096804"/>
                  <a:pt x="2962954" y="1096804"/>
                </a:cubicBezTo>
                <a:lnTo>
                  <a:pt x="928495" y="1096803"/>
                </a:lnTo>
                <a:lnTo>
                  <a:pt x="928495" y="562438"/>
                </a:lnTo>
                <a:cubicBezTo>
                  <a:pt x="928496" y="259564"/>
                  <a:pt x="682968" y="14036"/>
                  <a:pt x="380093" y="14036"/>
                </a:cubicBezTo>
                <a:lnTo>
                  <a:pt x="380094" y="14035"/>
                </a:lnTo>
                <a:cubicBezTo>
                  <a:pt x="266516" y="14036"/>
                  <a:pt x="161002" y="48563"/>
                  <a:pt x="73477" y="107694"/>
                </a:cubicBezTo>
                <a:lnTo>
                  <a:pt x="0" y="168317"/>
                </a:lnTo>
                <a:lnTo>
                  <a:pt x="6348" y="160623"/>
                </a:lnTo>
                <a:cubicBezTo>
                  <a:pt x="105590" y="61382"/>
                  <a:pt x="242690" y="0"/>
                  <a:pt x="394127" y="0"/>
                </a:cubicBezTo>
                <a:lnTo>
                  <a:pt x="2962955" y="0"/>
                </a:lnTo>
                <a:cubicBezTo>
                  <a:pt x="3265829" y="0"/>
                  <a:pt x="3511357" y="245528"/>
                  <a:pt x="3511357" y="548402"/>
                </a:cubicBezTo>
                <a:lnTo>
                  <a:pt x="3511356" y="548402"/>
                </a:lnTo>
                <a:cubicBezTo>
                  <a:pt x="3511356" y="699839"/>
                  <a:pt x="3449974" y="836939"/>
                  <a:pt x="3350733" y="93618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FBEA4AD-3524-5A53-0650-5F2822FFE486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3769763" y="3639798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09E22B1-F27D-0ACE-16AE-7AD1E7F00427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602417" y="5440245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7F70326-0AFA-C1BB-C77D-6FC99269F863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7456026" y="3639798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BA068C8-93E1-1B7E-36EB-D76B76072478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577740" y="1814542"/>
            <a:ext cx="923636" cy="923636"/>
          </a:xfrm>
          <a:prstGeom prst="ellipse">
            <a:avLst/>
          </a:prstGeom>
          <a:solidFill>
            <a:schemeClr val="lt1"/>
          </a:solidFill>
          <a:ln w="571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  <a:scene3d>
              <a:camera prst="orthographicFront">
                <a:rot lat="0" lon="0" rev="0"/>
              </a:camera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glow>
                  <a:scrgbClr r="0" g="0" b="0"/>
                </a:glow>
              </a:effectLst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6FFDBCE-910D-1238-2D34-DD210EACF5A1}"/>
              </a:ext>
            </a:extLst>
          </p:cNvPr>
          <p:cNvSpPr/>
          <p:nvPr/>
        </p:nvSpPr>
        <p:spPr bwMode="auto">
          <a:xfrm>
            <a:off x="681668" y="1750389"/>
            <a:ext cx="3336578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912D1B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Enterprise Backend</a:t>
            </a:r>
            <a:endParaRPr kumimoji="0" lang="en-US" sz="20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Java, .NET, Python &amp; Node.js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Scalable, API-first architecture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Cloud deployment on AWS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Performance &amp; security by design</a:t>
            </a:r>
          </a:p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  <a:sym typeface="Arial"/>
              </a:rPr>
              <a:t>Architecture through delivery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92C3DA7-44D8-8B23-82E8-DCBF0792466B}"/>
              </a:ext>
            </a:extLst>
          </p:cNvPr>
          <p:cNvSpPr/>
          <p:nvPr/>
        </p:nvSpPr>
        <p:spPr bwMode="auto">
          <a:xfrm>
            <a:off x="8205522" y="1750389"/>
            <a:ext cx="3707478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lvl="0" fontAlgn="base">
              <a:lnSpc>
                <a:spcPct val="90000"/>
              </a:lnSpc>
              <a:spcAft>
                <a:spcPts val="600"/>
              </a:spcAft>
              <a:buClrTx/>
              <a:defRPr/>
            </a:pPr>
            <a:r>
              <a:rPr lang="en-US" sz="2400" b="1" u="sng" dirty="0">
                <a:solidFill>
                  <a:srgbClr val="C58A2D"/>
                </a:solidFill>
                <a:cs typeface="Arial" pitchFamily="34" charset="0"/>
              </a:rPr>
              <a:t>Web &amp; Frontend</a:t>
            </a:r>
            <a:endParaRPr kumimoji="0" lang="en-US" sz="2400" b="1" i="0" u="sng" strike="noStrike" kern="0" cap="none" spc="0" normalizeH="0" baseline="0" noProof="0" dirty="0">
              <a:ln>
                <a:noFill/>
              </a:ln>
              <a:solidFill>
                <a:srgbClr val="C58A2D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React &amp; Angular applications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PHP / Magento commerce builds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Responsive, low-latency UI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Customer &amp; internal portals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Front ends on existing platforms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7E39E46-EA14-56C1-0245-C6BD4B25DB1A}"/>
              </a:ext>
            </a:extLst>
          </p:cNvPr>
          <p:cNvSpPr/>
          <p:nvPr/>
        </p:nvSpPr>
        <p:spPr bwMode="auto">
          <a:xfrm>
            <a:off x="685205" y="4627556"/>
            <a:ext cx="3557375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lvl="0" fontAlgn="base">
              <a:lnSpc>
                <a:spcPct val="90000"/>
              </a:lnSpc>
              <a:spcAft>
                <a:spcPts val="600"/>
              </a:spcAft>
              <a:buClrTx/>
              <a:defRPr/>
            </a:pPr>
            <a:r>
              <a:rPr lang="en-US" sz="2400" b="1" u="sng" dirty="0">
                <a:solidFill>
                  <a:srgbClr val="F2B800"/>
                </a:solidFill>
                <a:cs typeface="Arial" pitchFamily="34" charset="0"/>
              </a:rPr>
              <a:t>Mobile Applications</a:t>
            </a:r>
            <a:endParaRPr kumimoji="0" lang="en-US" sz="2400" b="1" i="0" u="sng" strike="noStrike" kern="0" cap="none" spc="0" normalizeH="0" baseline="0" noProof="0" dirty="0">
              <a:ln>
                <a:noFill/>
              </a:ln>
              <a:solidFill>
                <a:srgbClr val="F2B800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Native iOS &amp; Android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React Native &amp; Flutter cross-platform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Voice &amp; conversational experiences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Field and customer-facing apps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Senior-led, single-team delivery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F286EF4-C8FC-C78B-75EE-B5C30E7E19F5}"/>
              </a:ext>
            </a:extLst>
          </p:cNvPr>
          <p:cNvSpPr/>
          <p:nvPr/>
        </p:nvSpPr>
        <p:spPr bwMode="auto">
          <a:xfrm>
            <a:off x="8205522" y="4627556"/>
            <a:ext cx="3585422" cy="1644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t"/>
          <a:lstStyle/>
          <a:p>
            <a:pPr lvl="0" fontAlgn="base">
              <a:lnSpc>
                <a:spcPct val="90000"/>
              </a:lnSpc>
              <a:spcAft>
                <a:spcPts val="600"/>
              </a:spcAft>
              <a:buClrTx/>
              <a:defRPr/>
            </a:pPr>
            <a:r>
              <a:rPr lang="en-IN" sz="2400" b="1" u="sng" dirty="0">
                <a:solidFill>
                  <a:srgbClr val="2C2C2C">
                    <a:lumMod val="75000"/>
                    <a:lumOff val="25000"/>
                  </a:srgbClr>
                </a:solidFill>
                <a:cs typeface="Arial" pitchFamily="34" charset="0"/>
              </a:rPr>
              <a:t>Integration &amp; APIs</a:t>
            </a:r>
            <a:endParaRPr kumimoji="0" lang="en-IN" sz="2000" b="1" i="0" u="sng" strike="noStrike" kern="0" cap="none" spc="0" normalizeH="0" baseline="0" noProof="0" dirty="0">
              <a:ln>
                <a:noFill/>
              </a:ln>
              <a:solidFill>
                <a:srgbClr val="2C2C2C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REST APIs &amp; middleware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ServiceNow, Salesforce &amp; Snowflake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CRM, ERP &amp; knowledge-base connectivity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Legacy-to-modern system bridging</a:t>
            </a:r>
          </a:p>
          <a:p>
            <a:pPr marL="285750" lvl="0" indent="-285750" fontAlgn="base">
              <a:lnSpc>
                <a:spcPct val="9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C2C2C"/>
                </a:solidFill>
                <a:cs typeface="Arial" pitchFamily="34" charset="0"/>
              </a:rPr>
              <a:t>Secure authentication &amp; access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Arial"/>
              <a:ea typeface="+mn-ea"/>
              <a:cs typeface="Arial" pitchFamily="34" charset="0"/>
              <a:sym typeface="Arial"/>
            </a:endParaRPr>
          </a:p>
        </p:txBody>
      </p:sp>
      <p:pic>
        <p:nvPicPr>
          <p:cNvPr id="6" name="Picture 5" descr="Mobile phone">
            <a:extLst>
              <a:ext uri="{FF2B5EF4-FFF2-40B4-BE49-F238E27FC236}">
                <a16:creationId xmlns:a16="http://schemas.microsoft.com/office/drawing/2014/main" id="{70574B7B-396F-3931-5090-2FD66BF0A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87782" y="3631084"/>
            <a:ext cx="923636" cy="923636"/>
          </a:xfrm>
          <a:prstGeom prst="rect">
            <a:avLst/>
          </a:prstGeom>
        </p:spPr>
      </p:pic>
      <p:pic>
        <p:nvPicPr>
          <p:cNvPr id="8" name="Picture 7" descr="Server">
            <a:extLst>
              <a:ext uri="{FF2B5EF4-FFF2-40B4-BE49-F238E27FC236}">
                <a16:creationId xmlns:a16="http://schemas.microsoft.com/office/drawing/2014/main" id="{ED82DF94-D778-F2FE-F517-885C289E5D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627286" y="1890234"/>
            <a:ext cx="824543" cy="824543"/>
          </a:xfrm>
          <a:prstGeom prst="rect">
            <a:avLst/>
          </a:prstGeom>
        </p:spPr>
      </p:pic>
      <p:pic>
        <p:nvPicPr>
          <p:cNvPr id="10" name="Picture 9" descr="Connected nodes">
            <a:extLst>
              <a:ext uri="{FF2B5EF4-FFF2-40B4-BE49-F238E27FC236}">
                <a16:creationId xmlns:a16="http://schemas.microsoft.com/office/drawing/2014/main" id="{EFFE49CC-D3B8-41A5-2851-762C881F7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558699" y="5399692"/>
            <a:ext cx="1011072" cy="1011072"/>
          </a:xfrm>
          <a:prstGeom prst="rect">
            <a:avLst/>
          </a:prstGeom>
        </p:spPr>
      </p:pic>
      <p:pic>
        <p:nvPicPr>
          <p:cNvPr id="12" name="Picture 11" descr="Laptop with solid fill">
            <a:extLst>
              <a:ext uri="{FF2B5EF4-FFF2-40B4-BE49-F238E27FC236}">
                <a16:creationId xmlns:a16="http://schemas.microsoft.com/office/drawing/2014/main" id="{5CBCD47D-4CFE-C740-81BF-C59FBBAAE6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571929" y="3743081"/>
            <a:ext cx="720906" cy="72090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C76E31F-4DC2-5EE7-2538-091B964C4407}"/>
              </a:ext>
            </a:extLst>
          </p:cNvPr>
          <p:cNvSpPr txBox="1">
            <a:spLocks/>
          </p:cNvSpPr>
          <p:nvPr/>
        </p:nvSpPr>
        <p:spPr>
          <a:xfrm>
            <a:off x="559906" y="1067912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 dirty="0"/>
              <a:t>From enterprise backends to the apps and integrations around them.</a:t>
            </a:r>
          </a:p>
        </p:txBody>
      </p:sp>
      <p:sp>
        <p:nvSpPr>
          <p:cNvPr id="200" name="Tech Stack"/>
          <p:cNvSpPr txBox="1"/>
          <p:nvPr/>
        </p:nvSpPr>
        <p:spPr>
          <a:xfrm>
            <a:off x="5176310" y="3606687"/>
            <a:ext cx="1812790" cy="93857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300"/>
              </a:spcAft>
            </a:pPr>
            <a:r>
              <a:rPr lang="en-US" sz="1100" b="1" spc="60" dirty="0">
                <a:solidFill>
                  <a:srgbClr val="5A4F48"/>
                </a:solidFill>
                <a:latin typeface="Arial"/>
                <a:cs typeface="Arial"/>
              </a:rPr>
              <a:t>JAVA · .NET</a:t>
            </a:r>
          </a:p>
          <a:p>
            <a:pPr algn="ctr">
              <a:spcAft>
                <a:spcPts val="300"/>
              </a:spcAft>
            </a:pPr>
            <a:r>
              <a:rPr lang="en-US" sz="1100" b="1" spc="60" dirty="0">
                <a:solidFill>
                  <a:srgbClr val="5A4F48"/>
                </a:solidFill>
                <a:latin typeface="Arial"/>
                <a:cs typeface="Arial"/>
              </a:rPr>
              <a:t>PYTHON · NODE.JS</a:t>
            </a:r>
          </a:p>
          <a:p>
            <a:pPr algn="ctr">
              <a:spcAft>
                <a:spcPts val="300"/>
              </a:spcAft>
            </a:pPr>
            <a:r>
              <a:rPr lang="en-US" sz="1100" b="1" spc="60" dirty="0">
                <a:solidFill>
                  <a:srgbClr val="5A4F48"/>
                </a:solidFill>
                <a:latin typeface="Arial"/>
                <a:cs typeface="Arial"/>
              </a:rPr>
              <a:t>REACT · FLUTTER</a:t>
            </a:r>
          </a:p>
        </p:txBody>
      </p:sp>
    </p:spTree>
    <p:extLst>
      <p:ext uri="{BB962C8B-B14F-4D97-AF65-F5344CB8AC3E}">
        <p14:creationId xmlns:p14="http://schemas.microsoft.com/office/powerpoint/2010/main" val="12416256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39BC-AE70-6345-DD2A-00C2E3AD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ection Panel"/>
          <p:cNvSpPr/>
          <p:nvPr/>
        </p:nvSpPr>
        <p:spPr>
          <a:xfrm>
            <a:off x="0" y="0"/>
            <a:ext cx="4069080" cy="6473952"/>
          </a:xfrm>
          <a:prstGeom prst="rect">
            <a:avLst/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2" name="Shape"/>
          <p:cNvSpPr txBox="1"/>
          <p:nvPr/>
        </p:nvSpPr>
        <p:spPr>
          <a:xfrm>
            <a:off x="548640" y="1097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F2C46D"/>
                </a:solidFill>
                <a:latin typeface="Arial"/>
                <a:cs typeface="Arial"/>
              </a:rPr>
              <a:t>FOCUS AREA</a:t>
            </a:r>
          </a:p>
        </p:txBody>
      </p:sp>
      <p:sp>
        <p:nvSpPr>
          <p:cNvPr id="303" name="Shape"/>
          <p:cNvSpPr txBox="1"/>
          <p:nvPr/>
        </p:nvSpPr>
        <p:spPr>
          <a:xfrm>
            <a:off x="548640" y="1325880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000" b="1" i="0" dirty="0">
                <a:solidFill>
                  <a:srgbClr val="F2C46D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304" name="Shape"/>
          <p:cNvSpPr txBox="1"/>
          <p:nvPr/>
        </p:nvSpPr>
        <p:spPr>
          <a:xfrm>
            <a:off x="548640" y="2606040"/>
            <a:ext cx="3200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18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Arial"/>
                <a:cs typeface="Arial"/>
              </a:rPr>
              <a:t>Custom Software Development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F5E3DE"/>
                </a:solidFill>
                <a:latin typeface="Arial"/>
                <a:cs typeface="Arial"/>
              </a:rPr>
              <a:t>Senior-led engineering for the applications and integrations off-the-shelf platforms can’t cover.</a:t>
            </a:r>
          </a:p>
        </p:txBody>
      </p:sp>
      <p:sp>
        <p:nvSpPr>
          <p:cNvPr id="305" name="Chip"/>
          <p:cNvSpPr/>
          <p:nvPr/>
        </p:nvSpPr>
        <p:spPr>
          <a:xfrm>
            <a:off x="548640" y="5120640"/>
            <a:ext cx="596189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</a:p>
        </p:txBody>
      </p:sp>
      <p:sp>
        <p:nvSpPr>
          <p:cNvPr id="306" name="Chip"/>
          <p:cNvSpPr/>
          <p:nvPr/>
        </p:nvSpPr>
        <p:spPr>
          <a:xfrm>
            <a:off x="1254557" y="5120640"/>
            <a:ext cx="596189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.NET</a:t>
            </a:r>
          </a:p>
        </p:txBody>
      </p:sp>
      <p:sp>
        <p:nvSpPr>
          <p:cNvPr id="307" name="Chip"/>
          <p:cNvSpPr/>
          <p:nvPr/>
        </p:nvSpPr>
        <p:spPr>
          <a:xfrm>
            <a:off x="1960474" y="5120640"/>
            <a:ext cx="757123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</a:p>
        </p:txBody>
      </p:sp>
      <p:sp>
        <p:nvSpPr>
          <p:cNvPr id="308" name="Chip"/>
          <p:cNvSpPr/>
          <p:nvPr/>
        </p:nvSpPr>
        <p:spPr>
          <a:xfrm>
            <a:off x="2827325" y="5120640"/>
            <a:ext cx="837590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Node.js</a:t>
            </a:r>
          </a:p>
        </p:txBody>
      </p:sp>
      <p:sp>
        <p:nvSpPr>
          <p:cNvPr id="309" name="Chip"/>
          <p:cNvSpPr/>
          <p:nvPr/>
        </p:nvSpPr>
        <p:spPr>
          <a:xfrm>
            <a:off x="548640" y="5532120"/>
            <a:ext cx="676656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</a:p>
        </p:txBody>
      </p:sp>
      <p:sp>
        <p:nvSpPr>
          <p:cNvPr id="310" name="Chip"/>
          <p:cNvSpPr/>
          <p:nvPr/>
        </p:nvSpPr>
        <p:spPr>
          <a:xfrm>
            <a:off x="1335024" y="5532120"/>
            <a:ext cx="837590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Angular</a:t>
            </a:r>
          </a:p>
        </p:txBody>
      </p:sp>
      <p:sp>
        <p:nvSpPr>
          <p:cNvPr id="311" name="Chip"/>
          <p:cNvSpPr/>
          <p:nvPr/>
        </p:nvSpPr>
        <p:spPr>
          <a:xfrm>
            <a:off x="2282342" y="5532120"/>
            <a:ext cx="837590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Flutter</a:t>
            </a:r>
          </a:p>
        </p:txBody>
      </p:sp>
      <p:sp>
        <p:nvSpPr>
          <p:cNvPr id="312" name="Shape"/>
          <p:cNvSpPr txBox="1"/>
          <p:nvPr/>
        </p:nvSpPr>
        <p:spPr>
          <a:xfrm>
            <a:off x="4526280" y="10972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1" i="0" spc="150" dirty="0">
                <a:solidFill>
                  <a:srgbClr val="912D1B"/>
                </a:solidFill>
                <a:latin typeface="Arial"/>
                <a:cs typeface="Arial"/>
              </a:rPr>
              <a:t>HOW OUR BUILD CAPABILITIES FIT TOGETHER</a:t>
            </a:r>
          </a:p>
        </p:txBody>
      </p:sp>
      <p:sp>
        <p:nvSpPr>
          <p:cNvPr id="313" name="Shape"/>
          <p:cNvSpPr txBox="1"/>
          <p:nvPr/>
        </p:nvSpPr>
        <p:spPr>
          <a:xfrm>
            <a:off x="4526280" y="1508760"/>
            <a:ext cx="11887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EXPERIENCE</a:t>
            </a:r>
          </a:p>
        </p:txBody>
      </p:sp>
      <p:sp>
        <p:nvSpPr>
          <p:cNvPr id="314" name="Layer Tile"/>
          <p:cNvSpPr/>
          <p:nvPr/>
        </p:nvSpPr>
        <p:spPr>
          <a:xfrm>
            <a:off x="5852160" y="1508760"/>
            <a:ext cx="28117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5" name="Icon Ring"/>
          <p:cNvSpPr/>
          <p:nvPr/>
        </p:nvSpPr>
        <p:spPr>
          <a:xfrm>
            <a:off x="5989320" y="176022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16" name="Icon" descr="ic_mobil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04534" y="1875434"/>
            <a:ext cx="318211" cy="318211"/>
          </a:xfrm>
          <a:prstGeom prst="rect">
            <a:avLst/>
          </a:prstGeom>
        </p:spPr>
      </p:pic>
      <p:sp>
        <p:nvSpPr>
          <p:cNvPr id="317" name="Shape"/>
          <p:cNvSpPr txBox="1"/>
          <p:nvPr/>
        </p:nvSpPr>
        <p:spPr>
          <a:xfrm>
            <a:off x="6675120" y="1508760"/>
            <a:ext cx="18516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Mobile Apps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Native iOS &amp; Android, React Native, Flutter</a:t>
            </a:r>
          </a:p>
        </p:txBody>
      </p:sp>
      <p:sp>
        <p:nvSpPr>
          <p:cNvPr id="318" name="Layer Tile"/>
          <p:cNvSpPr/>
          <p:nvPr/>
        </p:nvSpPr>
        <p:spPr>
          <a:xfrm>
            <a:off x="8892540" y="1508760"/>
            <a:ext cx="28117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9" name="Icon Ring"/>
          <p:cNvSpPr/>
          <p:nvPr/>
        </p:nvSpPr>
        <p:spPr>
          <a:xfrm>
            <a:off x="9029700" y="176022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20" name="Icon" descr="ic_lapto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914" y="1875434"/>
            <a:ext cx="318211" cy="318211"/>
          </a:xfrm>
          <a:prstGeom prst="rect">
            <a:avLst/>
          </a:prstGeom>
        </p:spPr>
      </p:pic>
      <p:sp>
        <p:nvSpPr>
          <p:cNvPr id="321" name="Shape"/>
          <p:cNvSpPr txBox="1"/>
          <p:nvPr/>
        </p:nvSpPr>
        <p:spPr>
          <a:xfrm>
            <a:off x="9715500" y="1508760"/>
            <a:ext cx="18516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Web &amp; Frontend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React, Angular, PHP / Magento</a:t>
            </a:r>
          </a:p>
        </p:txBody>
      </p:sp>
      <p:cxnSp>
        <p:nvCxnSpPr>
          <p:cNvPr id="322" name="Connector"/>
          <p:cNvCxnSpPr/>
          <p:nvPr/>
        </p:nvCxnSpPr>
        <p:spPr>
          <a:xfrm>
            <a:off x="7258050" y="2560320"/>
            <a:ext cx="0" cy="292608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cxnSp>
        <p:nvCxnSpPr>
          <p:cNvPr id="323" name="Connector"/>
          <p:cNvCxnSpPr/>
          <p:nvPr/>
        </p:nvCxnSpPr>
        <p:spPr>
          <a:xfrm>
            <a:off x="10298430" y="2560320"/>
            <a:ext cx="0" cy="292608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24" name="Shape"/>
          <p:cNvSpPr txBox="1"/>
          <p:nvPr/>
        </p:nvSpPr>
        <p:spPr>
          <a:xfrm>
            <a:off x="4526280" y="2852928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SERVICES</a:t>
            </a:r>
          </a:p>
        </p:txBody>
      </p:sp>
      <p:sp>
        <p:nvSpPr>
          <p:cNvPr id="325" name="Layer Tile"/>
          <p:cNvSpPr/>
          <p:nvPr/>
        </p:nvSpPr>
        <p:spPr>
          <a:xfrm>
            <a:off x="5852160" y="2852928"/>
            <a:ext cx="5852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6" name="Icon Ring"/>
          <p:cNvSpPr/>
          <p:nvPr/>
        </p:nvSpPr>
        <p:spPr>
          <a:xfrm>
            <a:off x="6035040" y="2980944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27" name="Icon" descr="ic_serve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3297" y="3119201"/>
            <a:ext cx="381853" cy="381853"/>
          </a:xfrm>
          <a:prstGeom prst="rect">
            <a:avLst/>
          </a:prstGeom>
        </p:spPr>
      </p:pic>
      <p:sp>
        <p:nvSpPr>
          <p:cNvPr id="328" name="Shape"/>
          <p:cNvSpPr txBox="1"/>
          <p:nvPr/>
        </p:nvSpPr>
        <p:spPr>
          <a:xfrm>
            <a:off x="6876288" y="2852928"/>
            <a:ext cx="46908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Enterprise Backend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Java, .NET, Python &amp; Node.js — architecture through delivery, built to scale</a:t>
            </a:r>
          </a:p>
        </p:txBody>
      </p:sp>
      <p:cxnSp>
        <p:nvCxnSpPr>
          <p:cNvPr id="329" name="Connector"/>
          <p:cNvCxnSpPr/>
          <p:nvPr/>
        </p:nvCxnSpPr>
        <p:spPr>
          <a:xfrm>
            <a:off x="8778240" y="3767328"/>
            <a:ext cx="0" cy="292608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30" name="Shape"/>
          <p:cNvSpPr txBox="1"/>
          <p:nvPr/>
        </p:nvSpPr>
        <p:spPr>
          <a:xfrm>
            <a:off x="4526280" y="4059936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INTEGRATION</a:t>
            </a:r>
          </a:p>
        </p:txBody>
      </p:sp>
      <p:sp>
        <p:nvSpPr>
          <p:cNvPr id="331" name="Layer Tile"/>
          <p:cNvSpPr/>
          <p:nvPr/>
        </p:nvSpPr>
        <p:spPr>
          <a:xfrm>
            <a:off x="5852160" y="4059936"/>
            <a:ext cx="5852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32" name="Icon Ring"/>
          <p:cNvSpPr/>
          <p:nvPr/>
        </p:nvSpPr>
        <p:spPr>
          <a:xfrm>
            <a:off x="6035040" y="4187952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33" name="Icon" descr="ic_node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3297" y="4326209"/>
            <a:ext cx="381853" cy="381853"/>
          </a:xfrm>
          <a:prstGeom prst="rect">
            <a:avLst/>
          </a:prstGeom>
        </p:spPr>
      </p:pic>
      <p:sp>
        <p:nvSpPr>
          <p:cNvPr id="334" name="Shape"/>
          <p:cNvSpPr txBox="1"/>
          <p:nvPr/>
        </p:nvSpPr>
        <p:spPr>
          <a:xfrm>
            <a:off x="6876288" y="4059936"/>
            <a:ext cx="46908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Integration &amp; APIs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APIs and middleware connecting custom apps to your enterprise platforms</a:t>
            </a:r>
          </a:p>
        </p:txBody>
      </p:sp>
      <p:sp>
        <p:nvSpPr>
          <p:cNvPr id="335" name="Shape"/>
          <p:cNvSpPr txBox="1"/>
          <p:nvPr/>
        </p:nvSpPr>
        <p:spPr>
          <a:xfrm>
            <a:off x="4526280" y="532180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YOUR PLATFORMS</a:t>
            </a:r>
          </a:p>
        </p:txBody>
      </p:sp>
      <p:cxnSp>
        <p:nvCxnSpPr>
          <p:cNvPr id="336" name="Connector"/>
          <p:cNvCxnSpPr/>
          <p:nvPr/>
        </p:nvCxnSpPr>
        <p:spPr>
          <a:xfrm>
            <a:off x="651510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37" name="Platform Chip"/>
          <p:cNvSpPr/>
          <p:nvPr/>
        </p:nvSpPr>
        <p:spPr>
          <a:xfrm>
            <a:off x="585216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ServiceNow</a:t>
            </a:r>
          </a:p>
        </p:txBody>
      </p:sp>
      <p:cxnSp>
        <p:nvCxnSpPr>
          <p:cNvPr id="338" name="Connector"/>
          <p:cNvCxnSpPr/>
          <p:nvPr/>
        </p:nvCxnSpPr>
        <p:spPr>
          <a:xfrm>
            <a:off x="802386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39" name="Platform Chip"/>
          <p:cNvSpPr/>
          <p:nvPr/>
        </p:nvSpPr>
        <p:spPr>
          <a:xfrm>
            <a:off x="736092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Salesforce</a:t>
            </a:r>
          </a:p>
        </p:txBody>
      </p:sp>
      <p:cxnSp>
        <p:nvCxnSpPr>
          <p:cNvPr id="340" name="Connector"/>
          <p:cNvCxnSpPr/>
          <p:nvPr/>
        </p:nvCxnSpPr>
        <p:spPr>
          <a:xfrm>
            <a:off x="953262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41" name="Platform Chip"/>
          <p:cNvSpPr/>
          <p:nvPr/>
        </p:nvSpPr>
        <p:spPr>
          <a:xfrm>
            <a:off x="886968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Snowflake</a:t>
            </a:r>
          </a:p>
        </p:txBody>
      </p:sp>
      <p:cxnSp>
        <p:nvCxnSpPr>
          <p:cNvPr id="342" name="Connector"/>
          <p:cNvCxnSpPr/>
          <p:nvPr/>
        </p:nvCxnSpPr>
        <p:spPr>
          <a:xfrm>
            <a:off x="1104138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43" name="Platform Chip"/>
          <p:cNvSpPr/>
          <p:nvPr/>
        </p:nvSpPr>
        <p:spPr>
          <a:xfrm>
            <a:off x="1037844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ERP &amp; CRM</a:t>
            </a:r>
          </a:p>
        </p:txBody>
      </p:sp>
    </p:spTree>
    <p:extLst>
      <p:ext uri="{BB962C8B-B14F-4D97-AF65-F5344CB8AC3E}">
        <p14:creationId xmlns:p14="http://schemas.microsoft.com/office/powerpoint/2010/main" val="28614668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39BC-AE70-6345-DD2A-00C2E3AD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ection Panel"/>
          <p:cNvSpPr/>
          <p:nvPr/>
        </p:nvSpPr>
        <p:spPr>
          <a:xfrm>
            <a:off x="0" y="0"/>
            <a:ext cx="4069080" cy="6473952"/>
          </a:xfrm>
          <a:prstGeom prst="rect">
            <a:avLst/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2" name="Shape"/>
          <p:cNvSpPr txBox="1"/>
          <p:nvPr/>
        </p:nvSpPr>
        <p:spPr>
          <a:xfrm>
            <a:off x="548640" y="1097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F2C46D"/>
                </a:solidFill>
                <a:latin typeface="Arial"/>
                <a:cs typeface="Arial"/>
              </a:rPr>
              <a:t>FOCUS AREA</a:t>
            </a:r>
          </a:p>
        </p:txBody>
      </p:sp>
      <p:sp>
        <p:nvSpPr>
          <p:cNvPr id="303" name="Shape"/>
          <p:cNvSpPr txBox="1"/>
          <p:nvPr/>
        </p:nvSpPr>
        <p:spPr>
          <a:xfrm>
            <a:off x="548640" y="1325880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000" b="1" i="0" dirty="0">
                <a:solidFill>
                  <a:srgbClr val="F2C46D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304" name="Shape"/>
          <p:cNvSpPr txBox="1"/>
          <p:nvPr/>
        </p:nvSpPr>
        <p:spPr>
          <a:xfrm>
            <a:off x="548640" y="2606040"/>
            <a:ext cx="3200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18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Arial"/>
                <a:cs typeface="Arial"/>
              </a:rPr>
              <a:t>AI &amp; Data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F5E3DE"/>
                </a:solidFill>
                <a:latin typeface="Arial"/>
                <a:cs typeface="Arial"/>
              </a:rPr>
              <a:t>Modern data platforms and production AI — from lakehouse architecture to enterprise AI agents.</a:t>
            </a:r>
          </a:p>
        </p:txBody>
      </p:sp>
      <p:sp>
        <p:nvSpPr>
          <p:cNvPr id="305" name="Chip"/>
          <p:cNvSpPr/>
          <p:nvPr/>
        </p:nvSpPr>
        <p:spPr>
          <a:xfrm>
            <a:off x="548640" y="5120640"/>
            <a:ext cx="998525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Snowflake</a:t>
            </a:r>
          </a:p>
        </p:txBody>
      </p:sp>
      <p:sp>
        <p:nvSpPr>
          <p:cNvPr id="306" name="Chip"/>
          <p:cNvSpPr/>
          <p:nvPr/>
        </p:nvSpPr>
        <p:spPr>
          <a:xfrm>
            <a:off x="1656893" y="5120640"/>
            <a:ext cx="1078992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Databricks</a:t>
            </a:r>
          </a:p>
        </p:txBody>
      </p:sp>
      <p:sp>
        <p:nvSpPr>
          <p:cNvPr id="307" name="Chip"/>
          <p:cNvSpPr/>
          <p:nvPr/>
        </p:nvSpPr>
        <p:spPr>
          <a:xfrm>
            <a:off x="2845613" y="5120640"/>
            <a:ext cx="515722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AWS</a:t>
            </a:r>
          </a:p>
        </p:txBody>
      </p:sp>
      <p:sp>
        <p:nvSpPr>
          <p:cNvPr id="308" name="Chip"/>
          <p:cNvSpPr/>
          <p:nvPr/>
        </p:nvSpPr>
        <p:spPr>
          <a:xfrm>
            <a:off x="548640" y="5532120"/>
            <a:ext cx="757123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Claude</a:t>
            </a:r>
          </a:p>
        </p:txBody>
      </p:sp>
      <p:sp>
        <p:nvSpPr>
          <p:cNvPr id="309" name="Chip"/>
          <p:cNvSpPr/>
          <p:nvPr/>
        </p:nvSpPr>
        <p:spPr>
          <a:xfrm>
            <a:off x="1415491" y="5532120"/>
            <a:ext cx="757123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OpenAI</a:t>
            </a:r>
          </a:p>
        </p:txBody>
      </p:sp>
      <p:sp>
        <p:nvSpPr>
          <p:cNvPr id="310" name="Chip"/>
          <p:cNvSpPr/>
          <p:nvPr/>
        </p:nvSpPr>
        <p:spPr>
          <a:xfrm>
            <a:off x="2282342" y="5532120"/>
            <a:ext cx="515722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RAG</a:t>
            </a:r>
          </a:p>
        </p:txBody>
      </p:sp>
      <p:sp>
        <p:nvSpPr>
          <p:cNvPr id="311" name="Shape"/>
          <p:cNvSpPr txBox="1"/>
          <p:nvPr/>
        </p:nvSpPr>
        <p:spPr>
          <a:xfrm>
            <a:off x="4526280" y="10972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1" i="0" spc="150" dirty="0">
                <a:solidFill>
                  <a:srgbClr val="912D1B"/>
                </a:solidFill>
                <a:latin typeface="Arial"/>
                <a:cs typeface="Arial"/>
              </a:rPr>
              <a:t>HOW OUR DATA &amp; AI CAPABILITIES FIT TOGETHER</a:t>
            </a:r>
          </a:p>
        </p:txBody>
      </p:sp>
      <p:sp>
        <p:nvSpPr>
          <p:cNvPr id="312" name="Shape"/>
          <p:cNvSpPr txBox="1"/>
          <p:nvPr/>
        </p:nvSpPr>
        <p:spPr>
          <a:xfrm>
            <a:off x="4526280" y="1508760"/>
            <a:ext cx="11887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AI &amp; APPS</a:t>
            </a:r>
          </a:p>
        </p:txBody>
      </p:sp>
      <p:sp>
        <p:nvSpPr>
          <p:cNvPr id="313" name="Layer Tile"/>
          <p:cNvSpPr/>
          <p:nvPr/>
        </p:nvSpPr>
        <p:spPr>
          <a:xfrm>
            <a:off x="5852160" y="1508760"/>
            <a:ext cx="28117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4" name="Icon Ring"/>
          <p:cNvSpPr/>
          <p:nvPr/>
        </p:nvSpPr>
        <p:spPr>
          <a:xfrm>
            <a:off x="5989320" y="176022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15" name="Icon" descr="ic_a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04534" y="1875434"/>
            <a:ext cx="318211" cy="318211"/>
          </a:xfrm>
          <a:prstGeom prst="rect">
            <a:avLst/>
          </a:prstGeom>
        </p:spPr>
      </p:pic>
      <p:sp>
        <p:nvSpPr>
          <p:cNvPr id="316" name="Shape"/>
          <p:cNvSpPr txBox="1"/>
          <p:nvPr/>
        </p:nvSpPr>
        <p:spPr>
          <a:xfrm>
            <a:off x="6675120" y="1508760"/>
            <a:ext cx="18516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AI Agents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Domain agents, RAG and conversational AI</a:t>
            </a:r>
          </a:p>
        </p:txBody>
      </p:sp>
      <p:sp>
        <p:nvSpPr>
          <p:cNvPr id="317" name="Layer Tile"/>
          <p:cNvSpPr/>
          <p:nvPr/>
        </p:nvSpPr>
        <p:spPr>
          <a:xfrm>
            <a:off x="8892540" y="1508760"/>
            <a:ext cx="28117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8" name="Icon Ring"/>
          <p:cNvSpPr/>
          <p:nvPr/>
        </p:nvSpPr>
        <p:spPr>
          <a:xfrm>
            <a:off x="9029700" y="176022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19" name="Icon" descr="ic_do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914" y="1875434"/>
            <a:ext cx="318211" cy="318211"/>
          </a:xfrm>
          <a:prstGeom prst="rect">
            <a:avLst/>
          </a:prstGeom>
        </p:spPr>
      </p:pic>
      <p:sp>
        <p:nvSpPr>
          <p:cNvPr id="320" name="Shape"/>
          <p:cNvSpPr txBox="1"/>
          <p:nvPr/>
        </p:nvSpPr>
        <p:spPr>
          <a:xfrm>
            <a:off x="9715500" y="1508760"/>
            <a:ext cx="18516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Document AI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OCR, NLP, search and summarization</a:t>
            </a:r>
          </a:p>
        </p:txBody>
      </p:sp>
      <p:cxnSp>
        <p:nvCxnSpPr>
          <p:cNvPr id="321" name="Connector"/>
          <p:cNvCxnSpPr/>
          <p:nvPr/>
        </p:nvCxnSpPr>
        <p:spPr>
          <a:xfrm>
            <a:off x="7258050" y="2560320"/>
            <a:ext cx="0" cy="292608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cxnSp>
        <p:nvCxnSpPr>
          <p:cNvPr id="322" name="Connector"/>
          <p:cNvCxnSpPr/>
          <p:nvPr/>
        </p:nvCxnSpPr>
        <p:spPr>
          <a:xfrm>
            <a:off x="10298430" y="2560320"/>
            <a:ext cx="0" cy="292608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23" name="Shape"/>
          <p:cNvSpPr txBox="1"/>
          <p:nvPr/>
        </p:nvSpPr>
        <p:spPr>
          <a:xfrm>
            <a:off x="4526280" y="2852928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PLATFORM</a:t>
            </a:r>
          </a:p>
        </p:txBody>
      </p:sp>
      <p:sp>
        <p:nvSpPr>
          <p:cNvPr id="324" name="Layer Tile"/>
          <p:cNvSpPr/>
          <p:nvPr/>
        </p:nvSpPr>
        <p:spPr>
          <a:xfrm>
            <a:off x="5852160" y="2852928"/>
            <a:ext cx="5852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5" name="Icon Ring"/>
          <p:cNvSpPr/>
          <p:nvPr/>
        </p:nvSpPr>
        <p:spPr>
          <a:xfrm>
            <a:off x="6035040" y="2980944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26" name="Icon" descr="ic_db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3297" y="3119201"/>
            <a:ext cx="381853" cy="381853"/>
          </a:xfrm>
          <a:prstGeom prst="rect">
            <a:avLst/>
          </a:prstGeom>
        </p:spPr>
      </p:pic>
      <p:sp>
        <p:nvSpPr>
          <p:cNvPr id="327" name="Shape"/>
          <p:cNvSpPr txBox="1"/>
          <p:nvPr/>
        </p:nvSpPr>
        <p:spPr>
          <a:xfrm>
            <a:off x="6876288" y="2852928"/>
            <a:ext cx="46908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Modern Data Platform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Lakehouse and medallion architecture on Snowflake and Databricks</a:t>
            </a:r>
          </a:p>
        </p:txBody>
      </p:sp>
      <p:cxnSp>
        <p:nvCxnSpPr>
          <p:cNvPr id="328" name="Connector"/>
          <p:cNvCxnSpPr/>
          <p:nvPr/>
        </p:nvCxnSpPr>
        <p:spPr>
          <a:xfrm>
            <a:off x="8778240" y="3767328"/>
            <a:ext cx="0" cy="292608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29" name="Shape"/>
          <p:cNvSpPr txBox="1"/>
          <p:nvPr/>
        </p:nvSpPr>
        <p:spPr>
          <a:xfrm>
            <a:off x="4526280" y="4059936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FOUNDATION</a:t>
            </a:r>
          </a:p>
        </p:txBody>
      </p:sp>
      <p:sp>
        <p:nvSpPr>
          <p:cNvPr id="330" name="Layer Tile"/>
          <p:cNvSpPr/>
          <p:nvPr/>
        </p:nvSpPr>
        <p:spPr>
          <a:xfrm>
            <a:off x="5852160" y="4059936"/>
            <a:ext cx="5852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31" name="Icon Ring"/>
          <p:cNvSpPr/>
          <p:nvPr/>
        </p:nvSpPr>
        <p:spPr>
          <a:xfrm>
            <a:off x="6035040" y="4187952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32" name="Icon" descr="ic_lock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3297" y="4326209"/>
            <a:ext cx="381853" cy="381853"/>
          </a:xfrm>
          <a:prstGeom prst="rect">
            <a:avLst/>
          </a:prstGeom>
        </p:spPr>
      </p:pic>
      <p:sp>
        <p:nvSpPr>
          <p:cNvPr id="333" name="Shape"/>
          <p:cNvSpPr txBox="1"/>
          <p:nvPr/>
        </p:nvSpPr>
        <p:spPr>
          <a:xfrm>
            <a:off x="6876288" y="4059936"/>
            <a:ext cx="46908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Engineering &amp; Governance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Migrations, ELT pipelines, lineage, RBAC and PII controls</a:t>
            </a:r>
          </a:p>
        </p:txBody>
      </p:sp>
      <p:sp>
        <p:nvSpPr>
          <p:cNvPr id="334" name="Shape"/>
          <p:cNvSpPr txBox="1"/>
          <p:nvPr/>
        </p:nvSpPr>
        <p:spPr>
          <a:xfrm>
            <a:off x="4526280" y="532180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YOUR DATA</a:t>
            </a:r>
          </a:p>
        </p:txBody>
      </p:sp>
      <p:cxnSp>
        <p:nvCxnSpPr>
          <p:cNvPr id="335" name="Connector"/>
          <p:cNvCxnSpPr/>
          <p:nvPr/>
        </p:nvCxnSpPr>
        <p:spPr>
          <a:xfrm>
            <a:off x="651510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36" name="Platform Chip"/>
          <p:cNvSpPr/>
          <p:nvPr/>
        </p:nvSpPr>
        <p:spPr>
          <a:xfrm>
            <a:off x="585216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ERP &amp; CRM</a:t>
            </a:r>
          </a:p>
        </p:txBody>
      </p:sp>
      <p:cxnSp>
        <p:nvCxnSpPr>
          <p:cNvPr id="337" name="Connector"/>
          <p:cNvCxnSpPr/>
          <p:nvPr/>
        </p:nvCxnSpPr>
        <p:spPr>
          <a:xfrm>
            <a:off x="802386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38" name="Platform Chip"/>
          <p:cNvSpPr/>
          <p:nvPr/>
        </p:nvSpPr>
        <p:spPr>
          <a:xfrm>
            <a:off x="736092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SQL Databases</a:t>
            </a:r>
          </a:p>
        </p:txBody>
      </p:sp>
      <p:cxnSp>
        <p:nvCxnSpPr>
          <p:cNvPr id="339" name="Connector"/>
          <p:cNvCxnSpPr/>
          <p:nvPr/>
        </p:nvCxnSpPr>
        <p:spPr>
          <a:xfrm>
            <a:off x="953262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40" name="Platform Chip"/>
          <p:cNvSpPr/>
          <p:nvPr/>
        </p:nvSpPr>
        <p:spPr>
          <a:xfrm>
            <a:off x="886968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IoT &amp; Time-Series</a:t>
            </a:r>
          </a:p>
        </p:txBody>
      </p:sp>
      <p:cxnSp>
        <p:nvCxnSpPr>
          <p:cNvPr id="341" name="Connector"/>
          <p:cNvCxnSpPr/>
          <p:nvPr/>
        </p:nvCxnSpPr>
        <p:spPr>
          <a:xfrm>
            <a:off x="1104138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42" name="Platform Chip"/>
          <p:cNvSpPr/>
          <p:nvPr/>
        </p:nvSpPr>
        <p:spPr>
          <a:xfrm>
            <a:off x="1037844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Documents</a:t>
            </a:r>
          </a:p>
        </p:txBody>
      </p:sp>
    </p:spTree>
    <p:extLst>
      <p:ext uri="{BB962C8B-B14F-4D97-AF65-F5344CB8AC3E}">
        <p14:creationId xmlns:p14="http://schemas.microsoft.com/office/powerpoint/2010/main" val="23085604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39BC-AE70-6345-DD2A-00C2E3AD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ection Panel"/>
          <p:cNvSpPr/>
          <p:nvPr/>
        </p:nvSpPr>
        <p:spPr>
          <a:xfrm>
            <a:off x="0" y="0"/>
            <a:ext cx="4069080" cy="6473952"/>
          </a:xfrm>
          <a:prstGeom prst="rect">
            <a:avLst/>
          </a:prstGeom>
          <a:solidFill>
            <a:srgbClr val="912D1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2" name="Shape"/>
          <p:cNvSpPr txBox="1"/>
          <p:nvPr/>
        </p:nvSpPr>
        <p:spPr>
          <a:xfrm>
            <a:off x="548640" y="1097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F2C46D"/>
                </a:solidFill>
                <a:latin typeface="Arial"/>
                <a:cs typeface="Arial"/>
              </a:rPr>
              <a:t>FOCUS AREA</a:t>
            </a:r>
          </a:p>
        </p:txBody>
      </p:sp>
      <p:sp>
        <p:nvSpPr>
          <p:cNvPr id="303" name="Shape"/>
          <p:cNvSpPr txBox="1"/>
          <p:nvPr/>
        </p:nvSpPr>
        <p:spPr>
          <a:xfrm>
            <a:off x="548640" y="1325880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000" b="1" i="0" dirty="0">
                <a:solidFill>
                  <a:srgbClr val="F2C46D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304" name="Shape"/>
          <p:cNvSpPr txBox="1"/>
          <p:nvPr/>
        </p:nvSpPr>
        <p:spPr>
          <a:xfrm>
            <a:off x="548640" y="2606040"/>
            <a:ext cx="3200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18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Arial"/>
                <a:cs typeface="Arial"/>
              </a:rPr>
              <a:t>Salesforce</a:t>
            </a: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F5E3DE"/>
                </a:solidFill>
                <a:latin typeface="Arial"/>
                <a:cs typeface="Arial"/>
              </a:rPr>
              <a:t>Certified Salesforce delivery across core clouds, Agentforce and industry solutions.</a:t>
            </a:r>
          </a:p>
        </p:txBody>
      </p:sp>
      <p:sp>
        <p:nvSpPr>
          <p:cNvPr id="305" name="Chip"/>
          <p:cNvSpPr/>
          <p:nvPr/>
        </p:nvSpPr>
        <p:spPr>
          <a:xfrm>
            <a:off x="548640" y="5120640"/>
            <a:ext cx="1078992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Agentforce</a:t>
            </a:r>
          </a:p>
        </p:txBody>
      </p:sp>
      <p:sp>
        <p:nvSpPr>
          <p:cNvPr id="306" name="Chip"/>
          <p:cNvSpPr/>
          <p:nvPr/>
        </p:nvSpPr>
        <p:spPr>
          <a:xfrm>
            <a:off x="1737360" y="5120640"/>
            <a:ext cx="596189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Apex</a:t>
            </a:r>
          </a:p>
        </p:txBody>
      </p:sp>
      <p:sp>
        <p:nvSpPr>
          <p:cNvPr id="307" name="Chip"/>
          <p:cNvSpPr/>
          <p:nvPr/>
        </p:nvSpPr>
        <p:spPr>
          <a:xfrm>
            <a:off x="2443277" y="5120640"/>
            <a:ext cx="998525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Lightning</a:t>
            </a:r>
          </a:p>
        </p:txBody>
      </p:sp>
      <p:sp>
        <p:nvSpPr>
          <p:cNvPr id="308" name="Chip"/>
          <p:cNvSpPr/>
          <p:nvPr/>
        </p:nvSpPr>
        <p:spPr>
          <a:xfrm>
            <a:off x="548640" y="5532120"/>
            <a:ext cx="1239926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Health Cloud</a:t>
            </a:r>
          </a:p>
        </p:txBody>
      </p:sp>
      <p:sp>
        <p:nvSpPr>
          <p:cNvPr id="309" name="Chip"/>
          <p:cNvSpPr/>
          <p:nvPr/>
        </p:nvSpPr>
        <p:spPr>
          <a:xfrm>
            <a:off x="1898294" y="5532120"/>
            <a:ext cx="515722" cy="3017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B8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CPQ</a:t>
            </a:r>
          </a:p>
        </p:txBody>
      </p:sp>
      <p:sp>
        <p:nvSpPr>
          <p:cNvPr id="310" name="Shape"/>
          <p:cNvSpPr txBox="1"/>
          <p:nvPr/>
        </p:nvSpPr>
        <p:spPr>
          <a:xfrm>
            <a:off x="4526280" y="10972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1" i="0" spc="150" dirty="0">
                <a:solidFill>
                  <a:srgbClr val="912D1B"/>
                </a:solidFill>
                <a:latin typeface="Arial"/>
                <a:cs typeface="Arial"/>
              </a:rPr>
              <a:t>HOW OUR SALESFORCE CAPABILITIES FIT TOGETHER</a:t>
            </a:r>
          </a:p>
        </p:txBody>
      </p:sp>
      <p:sp>
        <p:nvSpPr>
          <p:cNvPr id="311" name="Shape"/>
          <p:cNvSpPr txBox="1"/>
          <p:nvPr/>
        </p:nvSpPr>
        <p:spPr>
          <a:xfrm>
            <a:off x="4526280" y="1508760"/>
            <a:ext cx="11887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CLOUDS</a:t>
            </a:r>
          </a:p>
        </p:txBody>
      </p:sp>
      <p:sp>
        <p:nvSpPr>
          <p:cNvPr id="312" name="Layer Tile"/>
          <p:cNvSpPr/>
          <p:nvPr/>
        </p:nvSpPr>
        <p:spPr>
          <a:xfrm>
            <a:off x="5852160" y="1508760"/>
            <a:ext cx="28117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3" name="Icon Ring"/>
          <p:cNvSpPr/>
          <p:nvPr/>
        </p:nvSpPr>
        <p:spPr>
          <a:xfrm>
            <a:off x="5989320" y="176022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14" name="Icon" descr="ic_char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04534" y="1875434"/>
            <a:ext cx="318211" cy="318211"/>
          </a:xfrm>
          <a:prstGeom prst="rect">
            <a:avLst/>
          </a:prstGeom>
        </p:spPr>
      </p:pic>
      <p:sp>
        <p:nvSpPr>
          <p:cNvPr id="315" name="Shape"/>
          <p:cNvSpPr txBox="1"/>
          <p:nvPr/>
        </p:nvSpPr>
        <p:spPr>
          <a:xfrm>
            <a:off x="6675120" y="1508760"/>
            <a:ext cx="18516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Sales &amp; Revenue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Sales Cloud, CPQ and quote-to-cash</a:t>
            </a:r>
          </a:p>
        </p:txBody>
      </p:sp>
      <p:sp>
        <p:nvSpPr>
          <p:cNvPr id="316" name="Layer Tile"/>
          <p:cNvSpPr/>
          <p:nvPr/>
        </p:nvSpPr>
        <p:spPr>
          <a:xfrm>
            <a:off x="8892540" y="1508760"/>
            <a:ext cx="28117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7" name="Icon Ring"/>
          <p:cNvSpPr/>
          <p:nvPr/>
        </p:nvSpPr>
        <p:spPr>
          <a:xfrm>
            <a:off x="9029700" y="1760220"/>
            <a:ext cx="548640" cy="5486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18" name="Icon" descr="ic_headse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914" y="1875434"/>
            <a:ext cx="318211" cy="318211"/>
          </a:xfrm>
          <a:prstGeom prst="rect">
            <a:avLst/>
          </a:prstGeom>
        </p:spPr>
      </p:pic>
      <p:sp>
        <p:nvSpPr>
          <p:cNvPr id="319" name="Shape"/>
          <p:cNvSpPr txBox="1"/>
          <p:nvPr/>
        </p:nvSpPr>
        <p:spPr>
          <a:xfrm>
            <a:off x="9715500" y="1508760"/>
            <a:ext cx="18516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Service &amp; Portals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Service Cloud, omnichannel and Experience Cloud</a:t>
            </a:r>
          </a:p>
        </p:txBody>
      </p:sp>
      <p:cxnSp>
        <p:nvCxnSpPr>
          <p:cNvPr id="320" name="Connector"/>
          <p:cNvCxnSpPr/>
          <p:nvPr/>
        </p:nvCxnSpPr>
        <p:spPr>
          <a:xfrm>
            <a:off x="7258050" y="2560320"/>
            <a:ext cx="0" cy="292608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cxnSp>
        <p:nvCxnSpPr>
          <p:cNvPr id="321" name="Connector"/>
          <p:cNvCxnSpPr/>
          <p:nvPr/>
        </p:nvCxnSpPr>
        <p:spPr>
          <a:xfrm>
            <a:off x="10298430" y="2560320"/>
            <a:ext cx="0" cy="292608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22" name="Shape"/>
          <p:cNvSpPr txBox="1"/>
          <p:nvPr/>
        </p:nvSpPr>
        <p:spPr>
          <a:xfrm>
            <a:off x="4526280" y="2852928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AI &amp; AUTOMATION</a:t>
            </a:r>
          </a:p>
        </p:txBody>
      </p:sp>
      <p:sp>
        <p:nvSpPr>
          <p:cNvPr id="323" name="Layer Tile"/>
          <p:cNvSpPr/>
          <p:nvPr/>
        </p:nvSpPr>
        <p:spPr>
          <a:xfrm>
            <a:off x="5852160" y="2852928"/>
            <a:ext cx="5852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4" name="Icon Ring"/>
          <p:cNvSpPr/>
          <p:nvPr/>
        </p:nvSpPr>
        <p:spPr>
          <a:xfrm>
            <a:off x="6035040" y="2980944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25" name="Icon" descr="ic_bo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3297" y="3119201"/>
            <a:ext cx="381853" cy="381853"/>
          </a:xfrm>
          <a:prstGeom prst="rect">
            <a:avLst/>
          </a:prstGeom>
        </p:spPr>
      </p:pic>
      <p:sp>
        <p:nvSpPr>
          <p:cNvPr id="326" name="Shape"/>
          <p:cNvSpPr txBox="1"/>
          <p:nvPr/>
        </p:nvSpPr>
        <p:spPr>
          <a:xfrm>
            <a:off x="6876288" y="2852928"/>
            <a:ext cx="46908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Agentforce &amp; Automation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AI agents, next-best actions and workflow automation across Salesforce</a:t>
            </a:r>
          </a:p>
        </p:txBody>
      </p:sp>
      <p:cxnSp>
        <p:nvCxnSpPr>
          <p:cNvPr id="327" name="Connector"/>
          <p:cNvCxnSpPr/>
          <p:nvPr/>
        </p:nvCxnSpPr>
        <p:spPr>
          <a:xfrm>
            <a:off x="8778240" y="3767328"/>
            <a:ext cx="0" cy="292608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28" name="Shape"/>
          <p:cNvSpPr txBox="1"/>
          <p:nvPr/>
        </p:nvSpPr>
        <p:spPr>
          <a:xfrm>
            <a:off x="4526280" y="4059936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PLATFORM</a:t>
            </a:r>
          </a:p>
        </p:txBody>
      </p:sp>
      <p:sp>
        <p:nvSpPr>
          <p:cNvPr id="329" name="Layer Tile"/>
          <p:cNvSpPr/>
          <p:nvPr/>
        </p:nvSpPr>
        <p:spPr>
          <a:xfrm>
            <a:off x="5852160" y="4059936"/>
            <a:ext cx="5852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DEDA"/>
            </a:solidFill>
          </a:ln>
          <a:effectLst>
            <a:outerShdw blurRad="76200" dist="19050" dir="5400000" algn="t" rotWithShape="0">
              <a:prstClr val="black">
                <a:alpha val="14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30" name="Icon Ring"/>
          <p:cNvSpPr/>
          <p:nvPr/>
        </p:nvSpPr>
        <p:spPr>
          <a:xfrm>
            <a:off x="6035040" y="4187952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3DED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pic>
        <p:nvPicPr>
          <p:cNvPr id="331" name="Icon" descr="ic_node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3297" y="4326209"/>
            <a:ext cx="381853" cy="381853"/>
          </a:xfrm>
          <a:prstGeom prst="rect">
            <a:avLst/>
          </a:prstGeom>
        </p:spPr>
      </p:pic>
      <p:sp>
        <p:nvSpPr>
          <p:cNvPr id="332" name="Shape"/>
          <p:cNvSpPr txBox="1"/>
          <p:nvPr/>
        </p:nvSpPr>
        <p:spPr>
          <a:xfrm>
            <a:off x="6876288" y="4059936"/>
            <a:ext cx="46908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3F3833"/>
                </a:solidFill>
                <a:latin typeface="Arial"/>
                <a:cs typeface="Arial"/>
              </a:rPr>
              <a:t>Platform &amp; Integration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A"/>
                </a:solidFill>
                <a:latin typeface="Arial"/>
                <a:cs typeface="Arial"/>
              </a:rPr>
              <a:t>Apex / Lightning, APIs, middleware and CRM data foundations</a:t>
            </a:r>
          </a:p>
        </p:txBody>
      </p:sp>
      <p:sp>
        <p:nvSpPr>
          <p:cNvPr id="333" name="Shape"/>
          <p:cNvSpPr txBox="1"/>
          <p:nvPr/>
        </p:nvSpPr>
        <p:spPr>
          <a:xfrm>
            <a:off x="4526280" y="532180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950" b="1" i="0" spc="120" dirty="0">
                <a:solidFill>
                  <a:srgbClr val="6E625A"/>
                </a:solidFill>
                <a:latin typeface="Arial"/>
                <a:cs typeface="Arial"/>
              </a:rPr>
              <a:t>YOUR SYSTEMS</a:t>
            </a:r>
          </a:p>
        </p:txBody>
      </p:sp>
      <p:cxnSp>
        <p:nvCxnSpPr>
          <p:cNvPr id="334" name="Connector"/>
          <p:cNvCxnSpPr/>
          <p:nvPr/>
        </p:nvCxnSpPr>
        <p:spPr>
          <a:xfrm>
            <a:off x="651510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35" name="Platform Chip"/>
          <p:cNvSpPr/>
          <p:nvPr/>
        </p:nvSpPr>
        <p:spPr>
          <a:xfrm>
            <a:off x="585216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ERP</a:t>
            </a:r>
          </a:p>
        </p:txBody>
      </p:sp>
      <p:cxnSp>
        <p:nvCxnSpPr>
          <p:cNvPr id="336" name="Connector"/>
          <p:cNvCxnSpPr/>
          <p:nvPr/>
        </p:nvCxnSpPr>
        <p:spPr>
          <a:xfrm>
            <a:off x="802386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37" name="Platform Chip"/>
          <p:cNvSpPr/>
          <p:nvPr/>
        </p:nvSpPr>
        <p:spPr>
          <a:xfrm>
            <a:off x="736092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Data Platforms</a:t>
            </a:r>
          </a:p>
        </p:txBody>
      </p:sp>
      <p:cxnSp>
        <p:nvCxnSpPr>
          <p:cNvPr id="338" name="Connector"/>
          <p:cNvCxnSpPr/>
          <p:nvPr/>
        </p:nvCxnSpPr>
        <p:spPr>
          <a:xfrm>
            <a:off x="953262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39" name="Platform Chip"/>
          <p:cNvSpPr/>
          <p:nvPr/>
        </p:nvSpPr>
        <p:spPr>
          <a:xfrm>
            <a:off x="886968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ITSM</a:t>
            </a:r>
          </a:p>
        </p:txBody>
      </p:sp>
      <p:cxnSp>
        <p:nvCxnSpPr>
          <p:cNvPr id="340" name="Connector"/>
          <p:cNvCxnSpPr/>
          <p:nvPr/>
        </p:nvCxnSpPr>
        <p:spPr>
          <a:xfrm>
            <a:off x="11041380" y="4974336"/>
            <a:ext cx="0" cy="347472"/>
          </a:xfrm>
          <a:prstGeom prst="line">
            <a:avLst/>
          </a:prstGeom>
          <a:ln w="15875">
            <a:solidFill>
              <a:srgbClr val="C9C1BC"/>
            </a:solidFill>
            <a:prstDash val="dash"/>
          </a:ln>
        </p:spPr>
      </p:cxnSp>
      <p:sp>
        <p:nvSpPr>
          <p:cNvPr id="341" name="Platform Chip"/>
          <p:cNvSpPr/>
          <p:nvPr/>
        </p:nvSpPr>
        <p:spPr>
          <a:xfrm>
            <a:off x="10378440" y="5321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1B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3F3833"/>
                </a:solidFill>
                <a:latin typeface="Arial"/>
                <a:cs typeface="Arial"/>
              </a:rPr>
              <a:t>Custom Apps</a:t>
            </a:r>
          </a:p>
        </p:txBody>
      </p:sp>
    </p:spTree>
    <p:extLst>
      <p:ext uri="{BB962C8B-B14F-4D97-AF65-F5344CB8AC3E}">
        <p14:creationId xmlns:p14="http://schemas.microsoft.com/office/powerpoint/2010/main" val="3371476005"/>
      </p:ext>
    </p:extLst>
  </p:cSld>
  <p:clrMapOvr>
    <a:masterClrMapping/>
  </p:clrMapOvr>
</p:sld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DIAGRAM_RELATIONSHIP_CIRCLES_KEY" val="POWER_USER_DIAGRAM_RELATIONSHIP_CIRCLES_VALUE_5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2C2C2C"/>
      </a:dk1>
      <a:lt1>
        <a:srgbClr val="FFFFFF"/>
      </a:lt1>
      <a:dk2>
        <a:srgbClr val="44546A"/>
      </a:dk2>
      <a:lt2>
        <a:srgbClr val="E7E6E6"/>
      </a:lt2>
      <a:accent1>
        <a:srgbClr val="912D1B"/>
      </a:accent1>
      <a:accent2>
        <a:srgbClr val="C58A2D"/>
      </a:accent2>
      <a:accent3>
        <a:srgbClr val="F3EFEA"/>
      </a:accent3>
      <a:accent4>
        <a:srgbClr val="FFC000"/>
      </a:accent4>
      <a:accent5>
        <a:srgbClr val="5B9BD5"/>
      </a:accent5>
      <a:accent6>
        <a:srgbClr val="70AD47"/>
      </a:accent6>
      <a:hlink>
        <a:srgbClr val="912D1B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Custom 1">
      <a:dk1>
        <a:srgbClr val="2C2C2C"/>
      </a:dk1>
      <a:lt1>
        <a:srgbClr val="FFFFFF"/>
      </a:lt1>
      <a:dk2>
        <a:srgbClr val="44546A"/>
      </a:dk2>
      <a:lt2>
        <a:srgbClr val="E7E6E6"/>
      </a:lt2>
      <a:accent1>
        <a:srgbClr val="912D1B"/>
      </a:accent1>
      <a:accent2>
        <a:srgbClr val="C58A2D"/>
      </a:accent2>
      <a:accent3>
        <a:srgbClr val="F3EFEA"/>
      </a:accent3>
      <a:accent4>
        <a:srgbClr val="FFC000"/>
      </a:accent4>
      <a:accent5>
        <a:srgbClr val="5B9BD5"/>
      </a:accent5>
      <a:accent6>
        <a:srgbClr val="70AD47"/>
      </a:accent6>
      <a:hlink>
        <a:srgbClr val="912D1B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Custom 1">
      <a:dk1>
        <a:srgbClr val="2C2C2C"/>
      </a:dk1>
      <a:lt1>
        <a:srgbClr val="FFFFFF"/>
      </a:lt1>
      <a:dk2>
        <a:srgbClr val="44546A"/>
      </a:dk2>
      <a:lt2>
        <a:srgbClr val="E7E6E6"/>
      </a:lt2>
      <a:accent1>
        <a:srgbClr val="912D1B"/>
      </a:accent1>
      <a:accent2>
        <a:srgbClr val="C58A2D"/>
      </a:accent2>
      <a:accent3>
        <a:srgbClr val="F3EFEA"/>
      </a:accent3>
      <a:accent4>
        <a:srgbClr val="FFC000"/>
      </a:accent4>
      <a:accent5>
        <a:srgbClr val="5B9BD5"/>
      </a:accent5>
      <a:accent6>
        <a:srgbClr val="70AD47"/>
      </a:accent6>
      <a:hlink>
        <a:srgbClr val="912D1B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3809</Words>
  <Application>Microsoft Office PowerPoint</Application>
  <PresentationFormat>Widescreen</PresentationFormat>
  <Paragraphs>709</Paragraphs>
  <Slides>19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37</vt:i4>
      </vt:variant>
    </vt:vector>
  </HeadingPairs>
  <TitlesOfParts>
    <vt:vector size="60" baseType="lpstr">
      <vt:lpstr>Open Sans</vt:lpstr>
      <vt:lpstr>Raleway Black</vt:lpstr>
      <vt:lpstr>Arial Black</vt:lpstr>
      <vt:lpstr>Montserrat</vt:lpstr>
      <vt:lpstr>Wingdings</vt:lpstr>
      <vt:lpstr>Montserrat ExtraBold</vt:lpstr>
      <vt:lpstr>Calibri</vt:lpstr>
      <vt:lpstr>Aptos Display</vt:lpstr>
      <vt:lpstr>Symbol</vt:lpstr>
      <vt:lpstr>Arial Rounded MT Bold</vt:lpstr>
      <vt:lpstr>Arial Narrow</vt:lpstr>
      <vt:lpstr>Segoe UI Emoji</vt:lpstr>
      <vt:lpstr>Poppins</vt:lpstr>
      <vt:lpstr>Proxima Nova</vt:lpstr>
      <vt:lpstr>Arial</vt:lpstr>
      <vt:lpstr>Aptos</vt:lpstr>
      <vt:lpstr>Noto Sans Symbols</vt:lpstr>
      <vt:lpstr>Cambria</vt:lpstr>
      <vt:lpstr>Poppins Medium</vt:lpstr>
      <vt:lpstr>Office Theme</vt:lpstr>
      <vt:lpstr>1_Office Theme</vt:lpstr>
      <vt:lpstr>2_Office Theme</vt:lpstr>
      <vt:lpstr>3_Office Theme</vt:lpstr>
      <vt:lpstr>Palni as a Global Talent Extension to  Mas Global Consulting</vt:lpstr>
      <vt:lpstr>One HQ, Four Delivery Centers, Two Countries</vt:lpstr>
      <vt:lpstr>Senior-Led Teams Outperform Pyramid Staffing</vt:lpstr>
      <vt:lpstr>Industries Where We’ve Already Delivered</vt:lpstr>
      <vt:lpstr>Client Depth Across Four Sectors</vt:lpstr>
      <vt:lpstr>Every Placement Is Vetted and Audit-Ready</vt:lpstr>
      <vt:lpstr>Every Work Authorization, Fully Compliant</vt:lpstr>
      <vt:lpstr>Profiles in 2–24 Hours, Not Weeks</vt:lpstr>
      <vt:lpstr>A Full Team Ramp in 5 Weeks</vt:lpstr>
      <vt:lpstr>Two Paths to Work With Palni</vt:lpstr>
      <vt:lpstr>Five Models, One Flexible Team</vt:lpstr>
      <vt:lpstr>What Drives Program Investment</vt:lpstr>
      <vt:lpstr>Depth Across the Skills That Matter Most</vt:lpstr>
      <vt:lpstr>Global Technology Talent Footprint</vt:lpstr>
      <vt:lpstr>PowerPoint Presentation</vt:lpstr>
      <vt:lpstr>Enterprise ServiceNow Capabilities Framework</vt:lpstr>
      <vt:lpstr>Expanded ServiceNow Capabilities</vt:lpstr>
      <vt:lpstr>ServiceNow Talent Depth</vt:lpstr>
      <vt:lpstr>PowerPoint Presentation</vt:lpstr>
      <vt:lpstr>Enterprise Salesforce Capabilities Framework</vt:lpstr>
      <vt:lpstr>Expanded Salesforce Capabilities</vt:lpstr>
      <vt:lpstr>Certified Salesforce Talent at Scale</vt:lpstr>
      <vt:lpstr>Data &amp; AI Capabilities Framework</vt:lpstr>
      <vt:lpstr>Enterprise AI Capability - Built &amp; Delivered Since 2019</vt:lpstr>
      <vt:lpstr>PowerPoint Presentation</vt:lpstr>
      <vt:lpstr>PowerPoint Presentation</vt:lpstr>
      <vt:lpstr>PowerPoint Presentation</vt:lpstr>
      <vt:lpstr>PowerPoint Presentation</vt:lpstr>
      <vt:lpstr>Telco Case Study: ServiceNow ITSM Ramp-Up at Scale</vt:lpstr>
      <vt:lpstr>Modern data platform setup in snowflake</vt:lpstr>
      <vt:lpstr>Migration to Snowflake Cloud</vt:lpstr>
      <vt:lpstr>Migration to Snowflake Cloud</vt:lpstr>
      <vt:lpstr>Real-Time Invoice Reconciliation at Scale</vt:lpstr>
      <vt:lpstr>Voice-Enabled Sales Assistant for Field Reps</vt:lpstr>
      <vt:lpstr>Voice-Enabled Payment Agent for Member Services</vt:lpstr>
      <vt:lpstr>Engagement Models Aligned to Your Goals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Liza Galano</dc:creator>
  <cp:lastModifiedBy>Liza Galano</cp:lastModifiedBy>
  <cp:revision>16</cp:revision>
  <dcterms:created xsi:type="dcterms:W3CDTF">2025-08-02T18:34:01Z</dcterms:created>
  <dcterms:modified xsi:type="dcterms:W3CDTF">2026-09-24T02:49:40Z</dcterms:modified>
</cp:coreProperties>
</file>