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0.xml" ContentType="application/vnd.openxmlformats-officedocument.presentationml.tags+xml"/>
  <Override PartName="/ppt/tags/tag90.xml" ContentType="application/vnd.openxmlformats-officedocument.presentationml.tags+xml"/>
  <Override PartName="/ppt/tags/tag11.xml" ContentType="application/vnd.openxmlformats-officedocument.presentationml.tags+xml"/>
  <Override PartName="/ppt/tags/tag91.xml" ContentType="application/vnd.openxmlformats-officedocument.presentationml.tags+xml"/>
  <Override PartName="/ppt/tags/tag12.xml" ContentType="application/vnd.openxmlformats-officedocument.presentationml.tags+xml"/>
  <Override PartName="/ppt/tags/tag92.xml" ContentType="application/vnd.openxmlformats-officedocument.presentationml.tags+xml"/>
  <Override PartName="/ppt/tags/tag13.xml" ContentType="application/vnd.openxmlformats-officedocument.presentationml.tags+xml"/>
  <Override PartName="/ppt/tags/tag93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  <p:sldMasterId id="2147483675" r:id="rId3"/>
    <p:sldMasterId id="2147483687" r:id="rId4"/>
  </p:sldMasterIdLst>
  <p:notesMasterIdLst>
    <p:notesMasterId r:id="rId42"/>
  </p:notesMasterIdLst>
  <p:sldIdLst>
    <p:sldId xmlns:r="http://schemas.openxmlformats.org/officeDocument/2006/relationships" id="400" r:id="rId82"/>
    <p:sldId xmlns:r="http://schemas.openxmlformats.org/officeDocument/2006/relationships" id="401" r:id="rId83"/>
    <p:sldId id="415" r:id="rId87"/>
    <p:sldId id="418" r:id="rId90"/>
    <p:sldId xmlns:r="http://schemas.openxmlformats.org/officeDocument/2006/relationships" id="402" r:id="rId27"/>
    <p:sldId xmlns:r="http://schemas.openxmlformats.org/officeDocument/2006/relationships" id="403" r:id="rId28"/>
    <p:sldId xmlns:r="http://schemas.openxmlformats.org/officeDocument/2006/relationships" id="404" r:id="rId34"/>
    <p:sldId xmlns:r="http://schemas.openxmlformats.org/officeDocument/2006/relationships" id="405" r:id="rId37"/>
    <p:sldId id="417" r:id="rId89"/>
    <p:sldId id="416" r:id="rId88"/>
    <p:sldId xmlns:r="http://schemas.openxmlformats.org/officeDocument/2006/relationships" id="410" r:id="rId38"/>
    <p:sldId id="419" r:id="rId91"/>
    <p:sldId xmlns:r="http://schemas.openxmlformats.org/officeDocument/2006/relationships" id="407" r:id="rId24"/>
    <p:sldId xmlns:r="http://schemas.openxmlformats.org/officeDocument/2006/relationships" id="408" r:id="rId25"/>
    <p:sldId xmlns:r="http://schemas.openxmlformats.org/officeDocument/2006/relationships" id="409" r:id="rId26"/>
    <p:sldId xmlns:r="http://schemas.openxmlformats.org/officeDocument/2006/relationships" id="411" r:id="rId84"/>
    <p:sldId xmlns:r="http://schemas.openxmlformats.org/officeDocument/2006/relationships" id="412" r:id="rId85"/>
    <p:sldId xmlns:r="http://schemas.openxmlformats.org/officeDocument/2006/relationships" id="413" r:id="rId86"/>
    <p:sldId xmlns:r="http://schemas.openxmlformats.org/officeDocument/2006/relationships" id="414" r:id="rId41"/>
  </p:sldIdLst>
  <p:sldSz cx="12192000" cy="6858000"/>
  <p:notesSz cx="6858000" cy="9144000"/>
  <p:embeddedFontLst>
    <p:embeddedFont>
      <p:font typeface="Arial Black" panose="020B0A04020102020204" pitchFamily="34" charset="0"/>
      <p:bold r:id="rId43"/>
    </p:embeddedFont>
    <p:embeddedFont>
      <p:font typeface="Arial Narrow" panose="020B0606020202030204" pitchFamily="34" charset="0"/>
      <p:regular r:id="rId44"/>
      <p:bold r:id="rId45"/>
      <p:italic r:id="rId46"/>
      <p:boldItalic r:id="rId47"/>
    </p:embeddedFont>
    <p:embeddedFont>
      <p:font typeface="Arial Rounded MT Bold" panose="020F0704030504030204" pitchFamily="34" charset="0"/>
      <p:regular r:id="rId48"/>
    </p:embeddedFont>
    <p:embeddedFont>
      <p:font typeface="Montserrat" pitchFamily="2" charset="0"/>
      <p:regular r:id="rId49"/>
      <p:bold r:id="rId50"/>
      <p:italic r:id="rId51"/>
      <p:boldItalic r:id="rId52"/>
    </p:embeddedFont>
    <p:embeddedFont>
      <p:font typeface="Open Sans" panose="020B0606030504020204" pitchFamily="34" charset="0"/>
      <p:regular r:id="rId53"/>
      <p:bold r:id="rId54"/>
      <p:italic r:id="rId55"/>
      <p:boldItalic r:id="rId56"/>
    </p:embeddedFont>
    <p:embeddedFont>
      <p:font typeface="Poppins" panose="00000500000000000000" pitchFamily="2" charset="0"/>
      <p:regular r:id="rId57"/>
      <p:bold r:id="rId58"/>
      <p:italic r:id="rId59"/>
      <p:boldItalic r:id="rId60"/>
    </p:embeddedFont>
    <p:embeddedFont>
      <p:font typeface="Poppins Medium" panose="00000600000000000000" pitchFamily="2" charset="0"/>
      <p:regular r:id="rId61"/>
      <p:italic r:id="rId62"/>
    </p:embeddedFont>
    <p:embeddedFont>
      <p:font typeface="Proxima Nova" panose="020B0604020202020204" charset="0"/>
      <p:regular r:id="rId63"/>
      <p:bold r:id="rId64"/>
      <p:italic r:id="rId65"/>
      <p:boldItalic r:id="rId66"/>
    </p:embeddedFont>
    <p:embeddedFont>
      <p:font typeface="Raleway Black" pitchFamily="2" charset="0"/>
      <p:bold r:id="rId67"/>
      <p:boldItalic r:id="rId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Overview" id="{4BA62A92-3299-42B9-9984-429996EA0EFA}">
          <p14:sldIdLst>
            <p14:sldId id="400"/>
            <p14:sldId id="401"/>
            <p14:sldId id="415"/>
          </p14:sldIdLst>
        </p14:section>
        <p14:section name="AI &amp; Data" id="{1B68DA0E-85DE-4254-8521-71A270055A36}">
          <p14:sldIdLst>
            <p14:sldId id="418"/>
            <p14:sldId id="402"/>
            <p14:sldId id="403"/>
            <p14:sldId id="404"/>
            <p14:sldId id="405"/>
          </p14:sldIdLst>
        </p14:section>
        <p14:section name="Custom Software" id="{AC82DE73-8B15-4B91-B871-665AEFF3553D}">
          <p14:sldIdLst>
            <p14:sldId id="417"/>
            <p14:sldId id="416"/>
            <p14:sldId id="410"/>
          </p14:sldIdLst>
        </p14:section>
        <p14:section name="Salesforce" id="{E79E2FE8-4BD9-4117-B646-088672C6693E}">
          <p14:sldIdLst>
            <p14:sldId id="419"/>
            <p14:sldId id="407"/>
            <p14:sldId id="408"/>
            <p14:sldId id="409"/>
          </p14:sldIdLst>
        </p14:section>
        <p14:section name="Partnership" id="{1DC2995A-4399-436E-8D50-1F562A9107F1}">
          <p14:sldIdLst>
            <p14:sldId id="411"/>
            <p14:sldId id="412"/>
            <p14:sldId id="413"/>
            <p14:sldId id="4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000"/>
    <a:srgbClr val="C58A2D"/>
    <a:srgbClr val="F7F7F7"/>
    <a:srgbClr val="912D1B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1BD18A-EC56-4F49-B821-64D49AA5575B}">
  <a:tblStyle styleId="{521BD18A-EC56-4F49-B821-64D49AA5575B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EE7E7"/>
          </a:solidFill>
        </a:fill>
      </a:tcStyle>
    </a:wholeTbl>
    <a:band1H>
      <a:tcTxStyle/>
      <a:tcStyle>
        <a:tcBdr/>
        <a:fill>
          <a:solidFill>
            <a:srgbClr val="DBCCC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BCCC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059" autoAdjust="0"/>
  </p:normalViewPr>
  <p:slideViewPr>
    <p:cSldViewPr snapToGrid="0">
      <p:cViewPr varScale="1">
        <p:scale>
          <a:sx n="72" d="100"/>
          <a:sy n="72" d="100"/>
        </p:scale>
        <p:origin x="110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slide" Target="slides/slide22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63" Type="http://schemas.openxmlformats.org/officeDocument/2006/relationships/font" Target="fonts/font21.fntdata"/><Relationship Id="rId68" Type="http://schemas.openxmlformats.org/officeDocument/2006/relationships/font" Target="fonts/font26.fntdata"/><Relationship Id="rId2" Type="http://schemas.openxmlformats.org/officeDocument/2006/relationships/slideMaster" Target="slideMasters/slideMaster2.xml"/><Relationship Id="rId24" Type="http://schemas.openxmlformats.org/officeDocument/2006/relationships/slide" Target="slides/slide20.xml"/><Relationship Id="rId37" Type="http://schemas.openxmlformats.org/officeDocument/2006/relationships/slide" Target="slides/slide33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66" Type="http://schemas.openxmlformats.org/officeDocument/2006/relationships/font" Target="fonts/font24.fntdata"/><Relationship Id="rId79" Type="http://schemas.openxmlformats.org/officeDocument/2006/relationships/theme" Target="theme/theme1.xml"/><Relationship Id="rId61" Type="http://schemas.openxmlformats.org/officeDocument/2006/relationships/font" Target="fonts/font19.fntdata"/><Relationship Id="rId27" Type="http://schemas.openxmlformats.org/officeDocument/2006/relationships/slide" Target="slides/slide2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font" Target="fonts/font22.fntdata"/><Relationship Id="rId77" Type="http://schemas.openxmlformats.org/officeDocument/2006/relationships/presProps" Target="presProps.xml"/><Relationship Id="rId51" Type="http://schemas.openxmlformats.org/officeDocument/2006/relationships/font" Target="fonts/font9.fntdata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38" Type="http://schemas.openxmlformats.org/officeDocument/2006/relationships/slide" Target="slides/slide34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67" Type="http://schemas.openxmlformats.org/officeDocument/2006/relationships/font" Target="fonts/font25.fntdata"/><Relationship Id="rId41" Type="http://schemas.openxmlformats.org/officeDocument/2006/relationships/slide" Target="slides/slide37.xml"/><Relationship Id="rId54" Type="http://schemas.openxmlformats.org/officeDocument/2006/relationships/font" Target="fonts/font12.fntdata"/><Relationship Id="rId62" Type="http://schemas.openxmlformats.org/officeDocument/2006/relationships/font" Target="fonts/font20.fntdata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4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65" Type="http://schemas.openxmlformats.org/officeDocument/2006/relationships/font" Target="fonts/font23.fntdata"/><Relationship Id="rId78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34" Type="http://schemas.openxmlformats.org/officeDocument/2006/relationships/slide" Target="slides/slide30.xml"/><Relationship Id="rId50" Type="http://schemas.openxmlformats.org/officeDocument/2006/relationships/font" Target="fonts/font8.fntdata"/><Relationship Id="rId55" Type="http://schemas.openxmlformats.org/officeDocument/2006/relationships/font" Target="fonts/font13.fntdata"/>  
  <Relationship Id="rId82" Type="http://schemas.openxmlformats.org/officeDocument/2006/relationships/slide" Target="slides/slide39.xml"/>
  <Relationship Id="rId83" Type="http://schemas.openxmlformats.org/officeDocument/2006/relationships/slide" Target="slides/slide40.xml"/>
  <Relationship Id="rId84" Type="http://schemas.openxmlformats.org/officeDocument/2006/relationships/slide" Target="slides/slide41.xml"/>
  <Relationship Id="rId85" Type="http://schemas.openxmlformats.org/officeDocument/2006/relationships/slide" Target="slides/slide42.xml"/>
  <Relationship Id="rId86" Type="http://schemas.openxmlformats.org/officeDocument/2006/relationships/slide" Target="slides/slide43.xml"/>
  <Relationship Id="rId87" Type="http://schemas.openxmlformats.org/officeDocument/2006/relationships/slide" Target="slides/slide44.xml"/>
  <Relationship Id="rId88" Type="http://schemas.openxmlformats.org/officeDocument/2006/relationships/slide" Target="slides/slide45.xml"/>
  <Relationship Id="rId89" Type="http://schemas.openxmlformats.org/officeDocument/2006/relationships/slide" Target="slides/slide46.xml"/>
  <Relationship Id="rId90" Type="http://schemas.openxmlformats.org/officeDocument/2006/relationships/slide" Target="slides/slide47.xml"/>
  <Relationship Id="rId91" Type="http://schemas.openxmlformats.org/officeDocument/2006/relationships/slide" Target="slides/slide4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71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48029-47AD-FDA5-647D-423EF8500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0C76C-BB8F-C1B6-9032-45753C281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A18508-7785-39E7-5F03-39288C463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A89B7-BDDE-9EFC-398F-4B6797191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9741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DE9F-E786-DBC1-BD20-FA224BD3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FB2F1-B91A-EC6D-4CA6-BCE54A22C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673B25-4A77-CC15-3874-7CB2CCCE4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D034-8144-5071-BDCA-0312BE9F53D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8277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ABCB-0CDD-7B7C-C358-21F95074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8940F-2329-60B8-0B88-7E8C64688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57E5F-A439-145E-7113-A904A46D2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4B8AA-2D97-6933-336B-28B215F2F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41393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98E1A-4482-BF72-D3AE-BE477C0D9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DAB3B-401C-A957-11E0-49044B747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C1C4C-C28F-1F22-194F-9A6DF3FFF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5693D-9AEA-D6CA-F981-82AED816EA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08391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8" name="Google Shape;35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7" name="Google Shape;4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0" name="Google Shape;45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dirty="0"/>
          </a:p>
        </p:txBody>
      </p:sp>
      <p:sp>
        <p:nvSpPr>
          <p:cNvPr id="802" name="Google Shape;80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941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D47D2-0207-266E-2FE7-A0871F37B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A1059C-4AE8-937C-C544-BCAA440E2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0D57E-6859-B172-C8A9-1522DC0E7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B9900-9AA9-1AD8-E26A-4AF5F5167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8CFA9-011E-386F-C8ED-2D4693F4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9115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A70DF-4132-79A1-8518-3AE452E9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1B224-8358-74FA-4C56-80B8CE164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50131-5819-F0E2-888A-C4E3B7AA4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C2692-431F-2A82-35F8-D198E884C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4D12-E00A-AE8A-05B9-4E854481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266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60FC-F60C-73C8-707F-53C6F960A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58F3C-13B3-EFD6-84AE-02763D58D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FD986-C5BB-76F2-15DB-9BE2BCE33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36527-08D4-C612-B1E2-70D7E8837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18F79-FAF8-7561-8BDF-3A6ED826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95839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F085-7980-DFE5-9A4A-7FB23EC6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0E151-DCCE-F828-87BC-8B8031913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431BF0-FC89-55C3-BCCE-D209DF69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29DC9-282E-EFBE-D0D1-6F945902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AAFAEE-7184-1566-6312-262966E04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D672C-7BD8-3283-C2E7-13C7C9B1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7158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B012-837A-2A44-D48B-884AF1724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1405E-1FB0-BD18-E791-0E08A7AEC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2B03FC-98EE-E082-22D8-D32C547CA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3D3B5F-AFE6-0B36-FA87-81FC221F5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A6FAC9-0CC5-F0B3-C684-035C7C2E90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CBB405-95A2-46D0-9C36-88D6C8DAB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46AFE-01A0-BA0B-B439-3C67D9637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2B33C5-81B5-3914-4FB6-9BD4AC8F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7352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11301-EFE6-A034-92B7-58C9AE4F8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CB94B2-8868-31B1-BAAE-4FB00652B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BDB128-9434-F5B1-5A80-7A6A52127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E4531-394A-AFA3-A558-624D7FE3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3652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8BBADB-F2C7-76AC-FAA5-BA42BD54C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55CC59-CF9F-B828-B15E-35C70DB1E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9DBE5-35D7-7CF9-F46B-6C6CE80A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797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5009-780B-F128-CAEE-DF1330EAE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A70A3-BC88-B2B8-B16B-F3C209E4B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9FFCEE-1BC5-2464-687F-C70184155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BCCFD-BBFA-D3DD-36ED-193CBA43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B8267-99F2-56D0-97BE-3BFBB274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E635-5DEC-AAC4-3F53-FA81B9AAD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59821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63D17-39E5-B1D4-C671-2C95337A4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2382C8-251F-F24E-F62C-D3B94CC734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98EB6-7027-42F9-2A6D-D59AECA35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9004E1-98B9-4984-0B64-92B6D93DB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EAD1F9-D93E-8CBB-043F-DE2245111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07D50-8AE4-B590-5FA2-66AF2BE1A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59287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0B637-6663-5F6B-A169-7F0BB07A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38B06-4B51-9FA0-2394-7B98F17FB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EFAFF-CDD5-708D-3511-BB895A7F1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F79F2-645B-BCDF-B3EA-67DE3F2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6270-A44E-BF24-2023-8EE7C205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64050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403663-552A-DB5B-2ADD-0800E0EDC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A7C2E4-B329-A2DC-C9DA-252885D37F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8E13E-FB15-CAE9-4D2B-296B7788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F5B9C-0449-0956-E751-828EE758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DCCB5-4343-E1F8-4F7B-FAEE2E9CA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40057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15604" y="3307400"/>
            <a:ext cx="10819318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11296728" y="6217623"/>
            <a:ext cx="731591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Google Shape;283;p33">
            <a:extLst>
              <a:ext uri="{FF2B5EF4-FFF2-40B4-BE49-F238E27FC236}">
                <a16:creationId xmlns:a16="http://schemas.microsoft.com/office/drawing/2014/main" id="{492766FA-68B4-88CE-5BF7-AB27DA91C16E}"/>
              </a:ext>
            </a:extLst>
          </p:cNvPr>
          <p:cNvSpPr/>
          <p:nvPr userDrawn="1"/>
        </p:nvSpPr>
        <p:spPr>
          <a:xfrm>
            <a:off x="0" y="369567"/>
            <a:ext cx="279073" cy="686100"/>
          </a:xfrm>
          <a:prstGeom prst="rect">
            <a:avLst/>
          </a:prstGeom>
          <a:solidFill>
            <a:srgbClr val="8A3225"/>
          </a:solidFill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5153246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Full Image without Header &amp; Footer">
  <p:cSld name="16_Full Image without Header &amp; Foot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>
            <a:spLocks noGrp="1"/>
          </p:cNvSpPr>
          <p:nvPr>
            <p:ph type="pic" idx="2"/>
          </p:nvPr>
        </p:nvSpPr>
        <p:spPr>
          <a:xfrm>
            <a:off x="1017836" y="2691200"/>
            <a:ext cx="1694841" cy="3011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35007" y="527905"/>
            <a:ext cx="1092224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aleway Black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36585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  <p:extLst>
      <p:ext uri="{BB962C8B-B14F-4D97-AF65-F5344CB8AC3E}">
        <p14:creationId xmlns:p14="http://schemas.microsoft.com/office/powerpoint/2010/main" val="8957627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20131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7366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62545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28989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6861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57971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preserve="1">
  <p:cSld name="3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tx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1677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95875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477531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27359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0727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973999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4772868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606722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60993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50769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4332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9609536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06575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6758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 userDrawn="1">
  <p:cSld name="Title and Content 1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3"/>
          <p:cNvSpPr txBox="1">
            <a:spLocks noGrp="1"/>
          </p:cNvSpPr>
          <p:nvPr>
            <p:ph type="title"/>
          </p:nvPr>
        </p:nvSpPr>
        <p:spPr>
          <a:xfrm>
            <a:off x="506956" y="372376"/>
            <a:ext cx="394212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21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3"/>
          <p:cNvSpPr txBox="1">
            <a:spLocks noGrp="1"/>
          </p:cNvSpPr>
          <p:nvPr>
            <p:ph type="ftr" idx="11"/>
          </p:nvPr>
        </p:nvSpPr>
        <p:spPr>
          <a:xfrm>
            <a:off x="1029843" y="6444205"/>
            <a:ext cx="1256427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53"/>
          <p:cNvSpPr txBox="1">
            <a:spLocks noGrp="1"/>
          </p:cNvSpPr>
          <p:nvPr>
            <p:ph type="dt" idx="10"/>
          </p:nvPr>
        </p:nvSpPr>
        <p:spPr>
          <a:xfrm>
            <a:off x="609606" y="6377940"/>
            <a:ext cx="280393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B0D8A844-A8DF-4987-9A36-4272C519FEAA}" type="datetime1">
              <a:rPr lang="en-US" smtClean="0"/>
              <a:t>9/23/2026</a:t>
            </a:fld>
            <a:endParaRPr/>
          </a:p>
        </p:txBody>
      </p:sp>
      <p:sp>
        <p:nvSpPr>
          <p:cNvPr id="20" name="Google Shape;20;p53"/>
          <p:cNvSpPr txBox="1">
            <a:spLocks noGrp="1"/>
          </p:cNvSpPr>
          <p:nvPr>
            <p:ph type="sldNum" idx="12"/>
          </p:nvPr>
        </p:nvSpPr>
        <p:spPr>
          <a:xfrm>
            <a:off x="473088" y="6413217"/>
            <a:ext cx="36669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0803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50803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50803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50803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50803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50803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50803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50803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50803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sz="1300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5D7CC7C-6224-B2C5-8C7F-2B641135CEDE}"/>
              </a:ext>
            </a:extLst>
          </p:cNvPr>
          <p:cNvSpPr txBox="1">
            <a:spLocks/>
          </p:cNvSpPr>
          <p:nvPr userDrawn="1"/>
        </p:nvSpPr>
        <p:spPr>
          <a:xfrm>
            <a:off x="11582399" y="6439365"/>
            <a:ext cx="528484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| </a:t>
            </a:r>
            <a:fld id="{A921D9E8-DECC-41F3-947A-55E18105F2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Relationship Id="rId7" Type="http://schemas.openxmlformats.org/officeDocument/2006/relationships/slideLayout" Target="../slideLayouts/slideLayout42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45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74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EC7BA4-872E-EAFF-4322-D066CA64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C5818-36E3-FC13-EA4A-CF97648C7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F92A1-9C2E-01C5-5A6A-A2FF9A1979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6F14C-84FF-240E-B3BC-5C3C03C66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E1A4-94CE-128A-E527-DF180C75BC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5827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26518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089686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tags" Target="../tags/tag8.xml"/><Relationship Id="rId7" Type="http://schemas.openxmlformats.org/officeDocument/2006/relationships/image" Target="../media/image30.png"/><Relationship Id="rId12" Type="http://schemas.openxmlformats.org/officeDocument/2006/relationships/image" Target="../media/image48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notesSlide" Target="../notesSlides/notesSlide9.xml"/><Relationship Id="rId11" Type="http://schemas.openxmlformats.org/officeDocument/2006/relationships/image" Target="../media/image4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46.png"/><Relationship Id="rId4" Type="http://schemas.openxmlformats.org/officeDocument/2006/relationships/tags" Target="../tags/tag9.xml"/><Relationship Id="rId9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18" Type="http://schemas.openxmlformats.org/officeDocument/2006/relationships/image" Target="../media/image68.png"/><Relationship Id="rId3" Type="http://schemas.openxmlformats.org/officeDocument/2006/relationships/image" Target="../media/image53.png"/><Relationship Id="rId21" Type="http://schemas.openxmlformats.org/officeDocument/2006/relationships/image" Target="../media/image71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17" Type="http://schemas.openxmlformats.org/officeDocument/2006/relationships/image" Target="../media/image67.png"/><Relationship Id="rId25" Type="http://schemas.openxmlformats.org/officeDocument/2006/relationships/image" Target="../media/image75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24" Type="http://schemas.openxmlformats.org/officeDocument/2006/relationships/image" Target="../media/image74.png"/><Relationship Id="rId5" Type="http://schemas.openxmlformats.org/officeDocument/2006/relationships/image" Target="../media/image55.png"/><Relationship Id="rId15" Type="http://schemas.openxmlformats.org/officeDocument/2006/relationships/image" Target="../media/image65.png"/><Relationship Id="rId23" Type="http://schemas.openxmlformats.org/officeDocument/2006/relationships/image" Target="../media/image73.png"/><Relationship Id="rId10" Type="http://schemas.openxmlformats.org/officeDocument/2006/relationships/image" Target="../media/image60.png"/><Relationship Id="rId19" Type="http://schemas.openxmlformats.org/officeDocument/2006/relationships/image" Target="../media/image69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Relationship Id="rId22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svg"/><Relationship Id="rId3" Type="http://schemas.openxmlformats.org/officeDocument/2006/relationships/tags" Target="../tags/tag12.xml"/><Relationship Id="rId7" Type="http://schemas.openxmlformats.org/officeDocument/2006/relationships/image" Target="../media/image76.svg"/><Relationship Id="rId12" Type="http://schemas.openxmlformats.org/officeDocument/2006/relationships/image" Target="../media/image42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notesSlide" Target="../notesSlides/notesSlide12.xml"/><Relationship Id="rId11" Type="http://schemas.openxmlformats.org/officeDocument/2006/relationships/image" Target="../media/image3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79.svg"/><Relationship Id="rId4" Type="http://schemas.openxmlformats.org/officeDocument/2006/relationships/tags" Target="../tags/tag13.xml"/><Relationship Id="rId9" Type="http://schemas.openxmlformats.org/officeDocument/2006/relationships/image" Target="../media/image7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palni.com%7C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0.jpeg"/><Relationship Id="rId5" Type="http://schemas.openxmlformats.org/officeDocument/2006/relationships/image" Target="../media/image89.png"/><Relationship Id="rId4" Type="http://schemas.openxmlformats.org/officeDocument/2006/relationships/hyperlink" Target="http://www.palni.com/" TargetMode="External"/></Relationships>
</file>

<file path=ppt/slides/_rels/slide39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
<Relationships xmlns="http://schemas.openxmlformats.org/package/2006/relationships"><Relationship Id="rId8" Type="http://schemas.openxmlformats.org/officeDocument/2006/relationships/image" Target="../media/image90.svg"/><Relationship Id="rId3" Type="http://schemas.openxmlformats.org/officeDocument/2006/relationships/tags" Target="../tags/tag92.xml"/><Relationship Id="rId7" Type="http://schemas.openxmlformats.org/officeDocument/2006/relationships/image" Target="../media/image91.svg"/><Relationship Id="rId2" Type="http://schemas.openxmlformats.org/officeDocument/2006/relationships/tags" Target="../tags/tag91.xml"/><Relationship Id="rId1" Type="http://schemas.openxmlformats.org/officeDocument/2006/relationships/tags" Target="../tags/tag90.xml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79.svg"/><Relationship Id="rId4" Type="http://schemas.openxmlformats.org/officeDocument/2006/relationships/tags" Target="../tags/tag93.xml"/><Relationship Id="rId9" Type="http://schemas.openxmlformats.org/officeDocument/2006/relationships/image" Target="../media/image92.sv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c_mobile.svg"/><Relationship Id="rId3" Type="http://schemas.openxmlformats.org/officeDocument/2006/relationships/image" Target="../media/ic_laptop.svg"/><Relationship Id="rId4" Type="http://schemas.openxmlformats.org/officeDocument/2006/relationships/image" Target="../media/ic_server.svg"/><Relationship Id="rId5" Type="http://schemas.openxmlformats.org/officeDocument/2006/relationships/image" Target="../media/ic_nodes.sv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c_ai.svg"/><Relationship Id="rId3" Type="http://schemas.openxmlformats.org/officeDocument/2006/relationships/image" Target="../media/ic_doc.svg"/><Relationship Id="rId4" Type="http://schemas.openxmlformats.org/officeDocument/2006/relationships/image" Target="../media/ic_db.svg"/><Relationship Id="rId5" Type="http://schemas.openxmlformats.org/officeDocument/2006/relationships/image" Target="../media/ic_lock.sv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c_chart.svg"/><Relationship Id="rId3" Type="http://schemas.openxmlformats.org/officeDocument/2006/relationships/image" Target="../media/ic_headset.svg"/><Relationship Id="rId4" Type="http://schemas.openxmlformats.org/officeDocument/2006/relationships/image" Target="../media/ic_bot.svg"/><Relationship Id="rId5" Type="http://schemas.openxmlformats.org/officeDocument/2006/relationships/image" Target="../media/ic_nodes.svg"/></Relationships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C353C97-50DC-0827-3A2B-289885C6B5C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Enterprise Salesforce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6B020-89A1-2E6B-73CA-C29DAA59AE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B9F05DC6-8F41-548B-6954-15A05A57C779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E50BC74-746F-FF0F-E611-BA13BC345664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11993BB-77E9-D825-57D5-E2B214A486E9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40D5BF0-4849-1AB0-F2EF-582CA923209D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25C10D7-34B1-09E7-9EC4-D4849D7E61FA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EF8A0F4-4B3F-F465-442D-4039D80FF02C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B60C3EB-9173-9ED5-D62D-7F6F4A2F48A9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B710974-F85E-700B-7CA4-93955A212DAD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010B79A-7C91-C563-B11C-5ACA0EF30E4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Cloud</a:t>
            </a:r>
            <a:r>
              <a:rPr kumimoji="0" 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 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Opportunity &amp; pipeline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Forecasting &amp; reporting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process automation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6FACEE2-6D2F-CCEC-700F-B3E7C11B96CF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Experience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Customer &amp; partner portals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Self-service experiences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Digital engagement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7D9F29F-E3B1-D4FD-CF1E-1ECFEE1F457A}"/>
              </a:ext>
            </a:extLst>
          </p:cNvPr>
          <p:cNvSpPr/>
          <p:nvPr/>
        </p:nvSpPr>
        <p:spPr bwMode="auto">
          <a:xfrm>
            <a:off x="685206" y="4627556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F2B8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Service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Case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Omnichannel routing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Knowledge &amp; automation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8CE7ED5-A452-525D-966B-4C7CA76D83E4}"/>
              </a:ext>
            </a:extLst>
          </p:cNvPr>
          <p:cNvSpPr/>
          <p:nvPr/>
        </p:nvSpPr>
        <p:spPr bwMode="auto">
          <a:xfrm>
            <a:off x="8205522" y="4627556"/>
            <a:ext cx="3585422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2400" b="1" i="0" u="sng" strike="noStrike" kern="0" cap="none" spc="0" normalizeH="0" baseline="0" noProof="0" dirty="0">
                <a:ln>
                  <a:noFill/>
                </a:ln>
                <a:solidFill>
                  <a:srgbClr val="2C2C2C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Platform and Integration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Apex / Lightning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APIs &amp; middleware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integrations</a:t>
            </a:r>
          </a:p>
        </p:txBody>
      </p:sp>
      <p:pic>
        <p:nvPicPr>
          <p:cNvPr id="2" name="Google Shape;302;p7">
            <a:extLst>
              <a:ext uri="{FF2B5EF4-FFF2-40B4-BE49-F238E27FC236}">
                <a16:creationId xmlns:a16="http://schemas.microsoft.com/office/drawing/2014/main" id="{685ACD69-263C-F149-D8A1-56E9479BF74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375772" y="3562437"/>
            <a:ext cx="1403214" cy="10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4548ED-C8E3-96F1-1096-0D5F8737431C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DA4260-579A-EF73-C560-640AA20FE05D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AC2757-6693-87E5-013D-3CF40029A5EC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CEF6EC-DC54-DAA9-0F18-49F4A2A97847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112A1115-C550-79CE-0957-3F95A9C40178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Revenue and customer experience platforms, from Sales Cloud to </a:t>
            </a:r>
            <a:r>
              <a:rPr lang="en-US" dirty="0" err="1"/>
              <a:t>Agentforce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0736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36B5E-1837-C407-73E6-4AEC768F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704A2FA2-0CF8-5470-536A-A24C59A6E79C}"/>
              </a:ext>
            </a:extLst>
          </p:cNvPr>
          <p:cNvSpPr>
            <a:spLocks noChangeAspect="1"/>
          </p:cNvSpPr>
          <p:nvPr/>
        </p:nvSpPr>
        <p:spPr>
          <a:xfrm>
            <a:off x="6230687" y="4811331"/>
            <a:ext cx="831273" cy="83127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BB4B79A-23EB-3F9C-30D9-F7CDB51994C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Expanded Salesforce Capabilities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4895E-CDF3-C0B8-3316-A0B0030288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92C92B-7DD7-C249-E5BB-D945A4250AC5}"/>
              </a:ext>
            </a:extLst>
          </p:cNvPr>
          <p:cNvSpPr/>
          <p:nvPr/>
        </p:nvSpPr>
        <p:spPr>
          <a:xfrm>
            <a:off x="1798734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Agentforce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AI &amp; Intelligent Automation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AI agents embedded into Salesforce workflows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Guides sales reps with next-best actions in real time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Automates follow-ups and reduces manual CRM updates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case resolution with AI-assisted responses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Orchestrates workflows across Salesforce and external systems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8906A5-007C-E690-0A52-EE26C3C8BD06}"/>
              </a:ext>
            </a:extLst>
          </p:cNvPr>
          <p:cNvSpPr/>
          <p:nvPr/>
        </p:nvSpPr>
        <p:spPr>
          <a:xfrm>
            <a:off x="1514954" y="1639937"/>
            <a:ext cx="283779" cy="2150400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0760CD-30EC-7A42-BBC8-8B302F452308}"/>
              </a:ext>
            </a:extLst>
          </p:cNvPr>
          <p:cNvSpPr>
            <a:spLocks noChangeAspect="1"/>
          </p:cNvSpPr>
          <p:nvPr/>
        </p:nvSpPr>
        <p:spPr>
          <a:xfrm>
            <a:off x="469073" y="2296793"/>
            <a:ext cx="831273" cy="83127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F77F83-2126-AF12-856D-39AD5691E12B}"/>
              </a:ext>
            </a:extLst>
          </p:cNvPr>
          <p:cNvCxnSpPr>
            <a:cxnSpLocks/>
            <a:stCxn id="6" idx="6"/>
            <a:endCxn id="3" idx="1"/>
          </p:cNvCxnSpPr>
          <p:nvPr/>
        </p:nvCxnSpPr>
        <p:spPr>
          <a:xfrm>
            <a:off x="1300346" y="2712430"/>
            <a:ext cx="214608" cy="2707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61229D4-A38D-D640-8690-811A4F53C7A1}"/>
              </a:ext>
            </a:extLst>
          </p:cNvPr>
          <p:cNvSpPr/>
          <p:nvPr/>
        </p:nvSpPr>
        <p:spPr>
          <a:xfrm>
            <a:off x="1798734" y="4144646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 Clouds (Health, Financial Services, Manufacturing)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Industry-specific solutions tailored to complex business models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Health Cloud: unified patient view and care coordination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Financial Services Cloud: relationship-based client management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Manufacturing Cloud: aligned forecasting and demand planning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F2DCC-A862-45A3-9CBF-4B3F409D879A}"/>
              </a:ext>
            </a:extLst>
          </p:cNvPr>
          <p:cNvSpPr/>
          <p:nvPr/>
        </p:nvSpPr>
        <p:spPr>
          <a:xfrm>
            <a:off x="1514954" y="4144646"/>
            <a:ext cx="283779" cy="21504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726B37D-406A-E8F9-9A3D-A461AC119A5D}"/>
              </a:ext>
            </a:extLst>
          </p:cNvPr>
          <p:cNvSpPr>
            <a:spLocks noChangeAspect="1"/>
          </p:cNvSpPr>
          <p:nvPr/>
        </p:nvSpPr>
        <p:spPr>
          <a:xfrm>
            <a:off x="469073" y="4811331"/>
            <a:ext cx="831273" cy="83127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F8F89E-52AA-B3A5-3397-32B2A2C389F2}"/>
              </a:ext>
            </a:extLst>
          </p:cNvPr>
          <p:cNvCxnSpPr>
            <a:cxnSpLocks/>
            <a:stCxn id="10" idx="6"/>
            <a:endCxn id="9" idx="1"/>
          </p:cNvCxnSpPr>
          <p:nvPr/>
        </p:nvCxnSpPr>
        <p:spPr>
          <a:xfrm flipV="1">
            <a:off x="1300346" y="5219846"/>
            <a:ext cx="214608" cy="7122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5C5E10B-2A16-A4CA-FF77-07E569A53D20}"/>
              </a:ext>
            </a:extLst>
          </p:cNvPr>
          <p:cNvSpPr/>
          <p:nvPr/>
        </p:nvSpPr>
        <p:spPr>
          <a:xfrm>
            <a:off x="7560348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Revenue &amp; CPQ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End-to-end quote-to-cash execution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deal cycles with automated quoting and approvals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pricing accuracy and discount governance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Streamlines contract lifecycle from quote to revenue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visibility into revenue and pipeline performance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73AA38-390A-7495-E0E1-3D75B233FF20}"/>
              </a:ext>
            </a:extLst>
          </p:cNvPr>
          <p:cNvSpPr/>
          <p:nvPr/>
        </p:nvSpPr>
        <p:spPr>
          <a:xfrm>
            <a:off x="7276568" y="1639937"/>
            <a:ext cx="283779" cy="21504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31435AE-EC62-B5B5-C962-1442BEEE3177}"/>
              </a:ext>
            </a:extLst>
          </p:cNvPr>
          <p:cNvSpPr>
            <a:spLocks noChangeAspect="1"/>
          </p:cNvSpPr>
          <p:nvPr/>
        </p:nvSpPr>
        <p:spPr>
          <a:xfrm>
            <a:off x="6230687" y="2296793"/>
            <a:ext cx="831273" cy="831273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8F7682-ACB7-CDCB-D548-677428E9A3EA}"/>
              </a:ext>
            </a:extLst>
          </p:cNvPr>
          <p:cNvCxnSpPr>
            <a:cxnSpLocks/>
            <a:stCxn id="16" idx="6"/>
            <a:endCxn id="15" idx="1"/>
          </p:cNvCxnSpPr>
          <p:nvPr/>
        </p:nvCxnSpPr>
        <p:spPr>
          <a:xfrm>
            <a:off x="7061960" y="2712430"/>
            <a:ext cx="214608" cy="2707"/>
          </a:xfrm>
          <a:prstGeom prst="line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32714AD-F519-226B-DD57-816D3730C860}"/>
              </a:ext>
            </a:extLst>
          </p:cNvPr>
          <p:cNvSpPr/>
          <p:nvPr/>
        </p:nvSpPr>
        <p:spPr>
          <a:xfrm>
            <a:off x="7560348" y="4152959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Customer Experience &amp; Engagement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Personalized, data-driven customer journeys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Delivers targeted campaigns based on customer behavior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engagement with personalized interactions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unified customer insights across touchpoints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Drives retention and lifetime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2DD039-A514-CA18-57F4-1EFC94D1A476}"/>
              </a:ext>
            </a:extLst>
          </p:cNvPr>
          <p:cNvSpPr/>
          <p:nvPr/>
        </p:nvSpPr>
        <p:spPr>
          <a:xfrm>
            <a:off x="7276568" y="4144646"/>
            <a:ext cx="283779" cy="21504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2A11-F320-910E-C878-49E117E46199}"/>
              </a:ext>
            </a:extLst>
          </p:cNvPr>
          <p:cNvCxnSpPr>
            <a:cxnSpLocks/>
            <a:stCxn id="25" idx="6"/>
            <a:endCxn id="24" idx="1"/>
          </p:cNvCxnSpPr>
          <p:nvPr/>
        </p:nvCxnSpPr>
        <p:spPr>
          <a:xfrm flipV="1">
            <a:off x="7061960" y="5219846"/>
            <a:ext cx="214608" cy="7122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EAC413C0-7BC8-45CD-82D5-FE3A84A5753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8480" y="4824100"/>
            <a:ext cx="855687" cy="85568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95B7C305-F2D2-11ED-B648-7CC5CDB50AC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4861284"/>
            <a:ext cx="781320" cy="78132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2B566611-3045-7B88-AC5F-956F75E04DC7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2755" y="2227654"/>
            <a:ext cx="950351" cy="950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0B32628A-A2DE-6045-B30E-81E1444423C0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2296793"/>
            <a:ext cx="727073" cy="727073"/>
          </a:xfrm>
          <a:prstGeom prst="rect">
            <a:avLst/>
          </a:prstGeom>
        </p:spPr>
      </p:pic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9DC4C1D-49CF-6D1E-662F-3862154E46D5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Agentforce</a:t>
            </a:r>
            <a:r>
              <a:rPr lang="en-US" dirty="0"/>
              <a:t> AI to industry clouds, built for revenue teams.</a:t>
            </a:r>
          </a:p>
        </p:txBody>
      </p:sp>
    </p:spTree>
    <p:extLst>
      <p:ext uri="{BB962C8B-B14F-4D97-AF65-F5344CB8AC3E}">
        <p14:creationId xmlns:p14="http://schemas.microsoft.com/office/powerpoint/2010/main" val="197782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553EF-137E-DF94-3C83-2CDD5127F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96CBC-223F-957F-73D5-F03E83AC70CC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Certified Salesforce Talent at Scale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443B4-9C51-CCE9-11EB-977420FFBD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AEC5C3-9B6E-7F9B-7EF6-EF79FA111B61}"/>
              </a:ext>
            </a:extLst>
          </p:cNvPr>
          <p:cNvGrpSpPr/>
          <p:nvPr/>
        </p:nvGrpSpPr>
        <p:grpSpPr>
          <a:xfrm>
            <a:off x="195835" y="1897498"/>
            <a:ext cx="11486382" cy="3939257"/>
            <a:chOff x="195835" y="1321765"/>
            <a:chExt cx="11486382" cy="3939257"/>
          </a:xfrm>
        </p:grpSpPr>
        <p:pic>
          <p:nvPicPr>
            <p:cNvPr id="5" name="Google Shape;424;p38" descr="Certification - Architect Overview">
              <a:extLst>
                <a:ext uri="{FF2B5EF4-FFF2-40B4-BE49-F238E27FC236}">
                  <a16:creationId xmlns:a16="http://schemas.microsoft.com/office/drawing/2014/main" id="{987073A0-7544-0B94-DCF1-E11966EFC6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63428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425;p38" descr="Certification - Architect Overview">
              <a:extLst>
                <a:ext uri="{FF2B5EF4-FFF2-40B4-BE49-F238E27FC236}">
                  <a16:creationId xmlns:a16="http://schemas.microsoft.com/office/drawing/2014/main" id="{9D81A088-AC47-ADDE-C6BE-CE5667F9678C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03410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426;p38" descr="Certification - Integration Architect">
              <a:extLst>
                <a:ext uri="{FF2B5EF4-FFF2-40B4-BE49-F238E27FC236}">
                  <a16:creationId xmlns:a16="http://schemas.microsoft.com/office/drawing/2014/main" id="{9051E1FE-7357-94E5-E058-12C012E2FE9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46148" y="1446387"/>
              <a:ext cx="989662" cy="9681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427;p38" descr="A blue and white label with white text&#10;&#10;AI-generated content may be incorrect.">
              <a:extLst>
                <a:ext uri="{FF2B5EF4-FFF2-40B4-BE49-F238E27FC236}">
                  <a16:creationId xmlns:a16="http://schemas.microsoft.com/office/drawing/2014/main" id="{CE07C900-C848-627A-ED40-5BAE2541E50F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135811" y="1364143"/>
              <a:ext cx="1156405" cy="1138476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7" name="Google Shape;428;p38">
              <a:extLst>
                <a:ext uri="{FF2B5EF4-FFF2-40B4-BE49-F238E27FC236}">
                  <a16:creationId xmlns:a16="http://schemas.microsoft.com/office/drawing/2014/main" id="{54F07A69-2BF1-AA1B-D0CB-E058478991C5}"/>
                </a:ext>
              </a:extLst>
            </p:cNvPr>
            <p:cNvCxnSpPr/>
            <p:nvPr/>
          </p:nvCxnSpPr>
          <p:spPr>
            <a:xfrm>
              <a:off x="2905628" y="2534066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9" name="Google Shape;429;p38">
              <a:extLst>
                <a:ext uri="{FF2B5EF4-FFF2-40B4-BE49-F238E27FC236}">
                  <a16:creationId xmlns:a16="http://schemas.microsoft.com/office/drawing/2014/main" id="{A07141D5-E196-DA2A-52B1-8C79A554B762}"/>
                </a:ext>
              </a:extLst>
            </p:cNvPr>
            <p:cNvCxnSpPr/>
            <p:nvPr/>
          </p:nvCxnSpPr>
          <p:spPr>
            <a:xfrm>
              <a:off x="2905628" y="3924595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41" name="Google Shape;430;p38" descr="Logo, company name&#10;&#10;Description automatically generated">
              <a:extLst>
                <a:ext uri="{FF2B5EF4-FFF2-40B4-BE49-F238E27FC236}">
                  <a16:creationId xmlns:a16="http://schemas.microsoft.com/office/drawing/2014/main" id="{9C81AF9D-5D64-E1E9-A242-2848166E7D4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17235" y="2724211"/>
              <a:ext cx="991107" cy="9917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1;p38" descr="A picture containing logo&#10;&#10;Description automatically generated">
              <a:extLst>
                <a:ext uri="{FF2B5EF4-FFF2-40B4-BE49-F238E27FC236}">
                  <a16:creationId xmlns:a16="http://schemas.microsoft.com/office/drawing/2014/main" id="{CB59B371-6598-8924-61AE-6E6C296C3F0D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034201" y="2746495"/>
              <a:ext cx="945651" cy="9462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32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56EDD405-2EE0-C8EC-8193-AF2BE9CC3A98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221971" y="2724213"/>
              <a:ext cx="1023754" cy="102439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33;p38" descr="Logo, company name&#10;&#10;Description automatically generated">
              <a:extLst>
                <a:ext uri="{FF2B5EF4-FFF2-40B4-BE49-F238E27FC236}">
                  <a16:creationId xmlns:a16="http://schemas.microsoft.com/office/drawing/2014/main" id="{514167E5-E7C4-1291-4AA9-7FDAC022F379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050234" y="2700845"/>
              <a:ext cx="991106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34;p38" descr="A blue and white label with white text&#10;&#10;Description automatically generated">
              <a:extLst>
                <a:ext uri="{FF2B5EF4-FFF2-40B4-BE49-F238E27FC236}">
                  <a16:creationId xmlns:a16="http://schemas.microsoft.com/office/drawing/2014/main" id="{AA94404A-ECF6-481A-6EB9-C7B0C8874040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7209126" y="1321765"/>
              <a:ext cx="1156405" cy="11384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435;p38" descr="Certification Logo* Certified Sharing and Visibility ...">
              <a:extLst>
                <a:ext uri="{FF2B5EF4-FFF2-40B4-BE49-F238E27FC236}">
                  <a16:creationId xmlns:a16="http://schemas.microsoft.com/office/drawing/2014/main" id="{54735F0B-FF31-C7C9-F751-29BC1FD0FE8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8432223" y="1482711"/>
              <a:ext cx="1006623" cy="989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436;p38" descr="Logo, company name&#10;&#10;Description automatically generated">
              <a:extLst>
                <a:ext uri="{FF2B5EF4-FFF2-40B4-BE49-F238E27FC236}">
                  <a16:creationId xmlns:a16="http://schemas.microsoft.com/office/drawing/2014/main" id="{7E49F57D-A849-71BC-ACF4-531EF7A2E52C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7963537" y="4243611"/>
              <a:ext cx="985768" cy="9936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" name="Google Shape;437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C502B71A-9820-B86A-90F5-94AC96C0012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9505537" y="1472543"/>
              <a:ext cx="1006623" cy="100726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438;p38" descr="A hexagon with white text and blue clouds&#10;&#10;AI-generated content may be incorrect.">
              <a:extLst>
                <a:ext uri="{FF2B5EF4-FFF2-40B4-BE49-F238E27FC236}">
                  <a16:creationId xmlns:a16="http://schemas.microsoft.com/office/drawing/2014/main" id="{57A1823D-7B63-F372-753C-AA8F4448923D}"/>
                </a:ext>
              </a:extLst>
            </p:cNvPr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10581144" y="1482712"/>
              <a:ext cx="1006623" cy="10156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9" name="Google Shape;439;p38" descr="Icon&#10;&#10;Description automatically generated">
              <a:extLst>
                <a:ext uri="{FF2B5EF4-FFF2-40B4-BE49-F238E27FC236}">
                  <a16:creationId xmlns:a16="http://schemas.microsoft.com/office/drawing/2014/main" id="{AD7A0007-49B2-45E6-8BF4-190B3C9C9672}"/>
                </a:ext>
              </a:extLst>
            </p:cNvPr>
            <p:cNvPicPr preferRelativeResize="0"/>
            <p:nvPr/>
          </p:nvPicPr>
          <p:blipFill rotWithShape="1">
            <a:blip r:embed="rId16">
              <a:alphaModFix/>
            </a:blip>
            <a:srcRect l="9195" t="3424" r="11765" b="4621"/>
            <a:stretch/>
          </p:blipFill>
          <p:spPr>
            <a:xfrm>
              <a:off x="10264946" y="4139340"/>
              <a:ext cx="1095153" cy="11108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440;p38" descr="Logo, company name&#10;&#10;Description automatically generated">
              <a:extLst>
                <a:ext uri="{FF2B5EF4-FFF2-40B4-BE49-F238E27FC236}">
                  <a16:creationId xmlns:a16="http://schemas.microsoft.com/office/drawing/2014/main" id="{0260A65C-C4D2-500D-23E7-2BEC75C94D06}"/>
                </a:ext>
              </a:extLst>
            </p:cNvPr>
            <p:cNvPicPr preferRelativeResize="0"/>
            <p:nvPr/>
          </p:nvPicPr>
          <p:blipFill rotWithShape="1">
            <a:blip r:embed="rId17">
              <a:alphaModFix/>
            </a:blip>
            <a:srcRect/>
            <a:stretch/>
          </p:blipFill>
          <p:spPr>
            <a:xfrm>
              <a:off x="4262578" y="4165869"/>
              <a:ext cx="1072916" cy="108351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441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3943E461-C5F3-2280-A4E6-A3E5DA95DC4C}"/>
                </a:ext>
              </a:extLst>
            </p:cNvPr>
            <p:cNvPicPr preferRelativeResize="0"/>
            <p:nvPr/>
          </p:nvPicPr>
          <p:blipFill rotWithShape="1">
            <a:blip r:embed="rId18">
              <a:alphaModFix/>
            </a:blip>
            <a:srcRect/>
            <a:stretch/>
          </p:blipFill>
          <p:spPr>
            <a:xfrm>
              <a:off x="5416111" y="4165869"/>
              <a:ext cx="1159009" cy="10951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442;p38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3DE93C3F-E149-B0AD-E2E2-D03CE92B5DD7}"/>
                </a:ext>
              </a:extLst>
            </p:cNvPr>
            <p:cNvPicPr preferRelativeResize="0"/>
            <p:nvPr/>
          </p:nvPicPr>
          <p:blipFill rotWithShape="1">
            <a:blip r:embed="rId19">
              <a:alphaModFix/>
            </a:blip>
            <a:srcRect/>
            <a:stretch/>
          </p:blipFill>
          <p:spPr>
            <a:xfrm>
              <a:off x="9095672" y="4156452"/>
              <a:ext cx="1083518" cy="10835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" name="Google Shape;443;p38">
              <a:extLst>
                <a:ext uri="{FF2B5EF4-FFF2-40B4-BE49-F238E27FC236}">
                  <a16:creationId xmlns:a16="http://schemas.microsoft.com/office/drawing/2014/main" id="{DBAA98B3-A4CC-5E37-4E68-9E04735FCF43}"/>
                </a:ext>
              </a:extLst>
            </p:cNvPr>
            <p:cNvSpPr/>
            <p:nvPr/>
          </p:nvSpPr>
          <p:spPr>
            <a:xfrm>
              <a:off x="195835" y="4290599"/>
              <a:ext cx="252507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DevOps, Domain &amp; Others</a:t>
              </a:r>
              <a:endParaRPr sz="1400"/>
            </a:p>
          </p:txBody>
        </p:sp>
        <p:sp>
          <p:nvSpPr>
            <p:cNvPr id="69" name="Google Shape;444;p38">
              <a:extLst>
                <a:ext uri="{FF2B5EF4-FFF2-40B4-BE49-F238E27FC236}">
                  <a16:creationId xmlns:a16="http://schemas.microsoft.com/office/drawing/2014/main" id="{A2C66540-EE47-1526-D675-BB233FDEA263}"/>
                </a:ext>
              </a:extLst>
            </p:cNvPr>
            <p:cNvSpPr/>
            <p:nvPr/>
          </p:nvSpPr>
          <p:spPr>
            <a:xfrm>
              <a:off x="206942" y="2929900"/>
              <a:ext cx="253114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Marketing (DX)</a:t>
              </a:r>
              <a:endParaRPr sz="1400"/>
            </a:p>
          </p:txBody>
        </p:sp>
        <p:sp>
          <p:nvSpPr>
            <p:cNvPr id="71" name="Google Shape;445;p38">
              <a:extLst>
                <a:ext uri="{FF2B5EF4-FFF2-40B4-BE49-F238E27FC236}">
                  <a16:creationId xmlns:a16="http://schemas.microsoft.com/office/drawing/2014/main" id="{722CF78C-1D93-0210-1114-D57E59F6FA89}"/>
                </a:ext>
              </a:extLst>
            </p:cNvPr>
            <p:cNvSpPr/>
            <p:nvPr/>
          </p:nvSpPr>
          <p:spPr>
            <a:xfrm>
              <a:off x="206941" y="1580784"/>
              <a:ext cx="2554624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Architecture (Core)</a:t>
              </a:r>
              <a:endParaRPr sz="1400"/>
            </a:p>
          </p:txBody>
        </p:sp>
        <p:pic>
          <p:nvPicPr>
            <p:cNvPr id="73" name="Google Shape;446;p38" descr="Logo&#10;&#10;Description automatically generated">
              <a:extLst>
                <a:ext uri="{FF2B5EF4-FFF2-40B4-BE49-F238E27FC236}">
                  <a16:creationId xmlns:a16="http://schemas.microsoft.com/office/drawing/2014/main" id="{E74F4EAF-76C1-F598-D4A3-A874617BD335}"/>
                </a:ext>
              </a:extLst>
            </p:cNvPr>
            <p:cNvPicPr preferRelativeResize="0"/>
            <p:nvPr/>
          </p:nvPicPr>
          <p:blipFill rotWithShape="1">
            <a:blip r:embed="rId20">
              <a:alphaModFix/>
            </a:blip>
            <a:srcRect/>
            <a:stretch/>
          </p:blipFill>
          <p:spPr>
            <a:xfrm>
              <a:off x="6748998" y="4221005"/>
              <a:ext cx="995394" cy="100428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447;p38" descr="Certification">
              <a:extLst>
                <a:ext uri="{FF2B5EF4-FFF2-40B4-BE49-F238E27FC236}">
                  <a16:creationId xmlns:a16="http://schemas.microsoft.com/office/drawing/2014/main" id="{D3C31655-5BEE-EF63-BB16-F485508D960E}"/>
                </a:ext>
              </a:extLst>
            </p:cNvPr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7359355" y="2741218"/>
              <a:ext cx="1011473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448;p38" descr="Marketing Cloud Personalization Accredited Professional - Credly">
              <a:extLst>
                <a:ext uri="{FF2B5EF4-FFF2-40B4-BE49-F238E27FC236}">
                  <a16:creationId xmlns:a16="http://schemas.microsoft.com/office/drawing/2014/main" id="{F8CE20A5-888B-1ADA-0D00-824D10392873}"/>
                </a:ext>
              </a:extLst>
            </p:cNvPr>
            <p:cNvPicPr preferRelativeResize="0"/>
            <p:nvPr/>
          </p:nvPicPr>
          <p:blipFill rotWithShape="1">
            <a:blip r:embed="rId22">
              <a:alphaModFix/>
            </a:blip>
            <a:srcRect/>
            <a:stretch/>
          </p:blipFill>
          <p:spPr>
            <a:xfrm>
              <a:off x="8487490" y="2720309"/>
              <a:ext cx="1018047" cy="10180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449;p38" descr="Data Cloud Accredited Professional - Credly">
              <a:extLst>
                <a:ext uri="{FF2B5EF4-FFF2-40B4-BE49-F238E27FC236}">
                  <a16:creationId xmlns:a16="http://schemas.microsoft.com/office/drawing/2014/main" id="{CFE9D987-DD86-1FDE-5DFD-BE0B4B088A21}"/>
                </a:ext>
              </a:extLst>
            </p:cNvPr>
            <p:cNvPicPr preferRelativeResize="0"/>
            <p:nvPr/>
          </p:nvPicPr>
          <p:blipFill rotWithShape="1">
            <a:blip r:embed="rId23">
              <a:alphaModFix/>
            </a:blip>
            <a:srcRect/>
            <a:stretch/>
          </p:blipFill>
          <p:spPr>
            <a:xfrm>
              <a:off x="9563095" y="2759590"/>
              <a:ext cx="1018048" cy="10180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451;p38" descr="A blue and yellow hexagon with white text&#10;&#10;AI-generated content may be incorrect.">
              <a:extLst>
                <a:ext uri="{FF2B5EF4-FFF2-40B4-BE49-F238E27FC236}">
                  <a16:creationId xmlns:a16="http://schemas.microsoft.com/office/drawing/2014/main" id="{C8663A51-0244-E9D6-6D11-62F5407E2333}"/>
                </a:ext>
              </a:extLst>
            </p:cNvPr>
            <p:cNvPicPr preferRelativeResize="0"/>
            <p:nvPr/>
          </p:nvPicPr>
          <p:blipFill rotWithShape="1">
            <a:blip r:embed="rId24">
              <a:alphaModFix/>
            </a:blip>
            <a:srcRect/>
            <a:stretch/>
          </p:blipFill>
          <p:spPr>
            <a:xfrm>
              <a:off x="2894788" y="4164919"/>
              <a:ext cx="1094452" cy="107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452;p38" descr="A hexagon with blue text&#10;&#10;AI-generated content may be incorrect.">
              <a:extLst>
                <a:ext uri="{FF2B5EF4-FFF2-40B4-BE49-F238E27FC236}">
                  <a16:creationId xmlns:a16="http://schemas.microsoft.com/office/drawing/2014/main" id="{93197ABB-87A2-0D50-DC2F-29412141761E}"/>
                </a:ext>
              </a:extLst>
            </p:cNvPr>
            <p:cNvPicPr preferRelativeResize="0"/>
            <p:nvPr/>
          </p:nvPicPr>
          <p:blipFill rotWithShape="1">
            <a:blip r:embed="rId25">
              <a:alphaModFix/>
            </a:blip>
            <a:srcRect/>
            <a:stretch/>
          </p:blipFill>
          <p:spPr>
            <a:xfrm>
              <a:off x="10581144" y="2759591"/>
              <a:ext cx="1101073" cy="10826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5" name="Google Shape;455;p38">
              <a:extLst>
                <a:ext uri="{FF2B5EF4-FFF2-40B4-BE49-F238E27FC236}">
                  <a16:creationId xmlns:a16="http://schemas.microsoft.com/office/drawing/2014/main" id="{D705E9FB-81B4-E2C1-DF59-B92F70135EA2}"/>
                </a:ext>
              </a:extLst>
            </p:cNvPr>
            <p:cNvSpPr txBox="1"/>
            <p:nvPr/>
          </p:nvSpPr>
          <p:spPr>
            <a:xfrm>
              <a:off x="2645045" y="2709056"/>
              <a:ext cx="6092456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 sz="1400"/>
            </a:p>
          </p:txBody>
        </p:sp>
      </p:grp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5DFE327A-3702-F944-15DC-41F111237FC6}"/>
              </a:ext>
            </a:extLst>
          </p:cNvPr>
          <p:cNvSpPr>
            <a:spLocks noGrp="1"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i="0" dirty="0"/>
              <a:t>90+ Certifications Across Architecture, Platform &amp; Cloud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374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598B-887F-3A79-F14B-1FD11F5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7CA18-341A-0D56-C355-7B057C8C2091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Data &amp; AI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144D8-BE70-93B4-8552-0F2B96E10D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C2471B54-46EA-CD83-742C-F8D30D69B76E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AA7587F-5029-0488-22B5-A0DAC26A8C2E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6001635-1802-02CB-ECCF-C8F1F9F6661F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DDB66C5-EA7A-5307-9255-3D89C8D7650B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FBEA4AD-3524-5A53-0650-5F2822FFE48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09E22B1-F27D-0ACE-16AE-7AD1E7F00427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F70326-0AFA-C1BB-C77D-6FC99269F863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BA068C8-93E1-1B7E-36EB-D76B76072478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FFDBCE-910D-1238-2D34-DD210EACF5A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Architecture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Lakehouse design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Medallion (Bronze/Silver/Gold) architecture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Real-time ingestion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Cross-cloud data interoperability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mesh &amp; domain modeling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92C3DA7-44D8-8B23-82E8-DCBF0792466B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C58A2D"/>
                </a:solidFill>
                <a:cs typeface="Arial" pitchFamily="34" charset="0"/>
              </a:rPr>
              <a:t>Data Engineering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C58A2D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Large-scale migrations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ELT accelerators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Observability &amp; pipeline metrics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Pipeline orchestration &amp; CI/CD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Cost &amp; performance tuning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39E46-EA14-56C1-0245-C6BD4B25DB1A}"/>
              </a:ext>
            </a:extLst>
          </p:cNvPr>
          <p:cNvSpPr/>
          <p:nvPr/>
        </p:nvSpPr>
        <p:spPr bwMode="auto">
          <a:xfrm>
            <a:off x="685205" y="4627556"/>
            <a:ext cx="355737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F2B800"/>
                </a:solidFill>
                <a:cs typeface="Arial" pitchFamily="34" charset="0"/>
              </a:rPr>
              <a:t>AI &amp; Machine Learning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F2B8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Domain-specific AI agents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LLM integration (Claude, </a:t>
            </a:r>
            <a:r>
              <a:rPr lang="en-US" dirty="0" err="1">
                <a:solidFill>
                  <a:srgbClr val="2C2C2C"/>
                </a:solidFill>
                <a:cs typeface="Arial" pitchFamily="34" charset="0"/>
              </a:rPr>
              <a:t>OpenAI, etc</a:t>
            </a: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.)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Vector indexing &amp; semantic modeling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Model registry &amp; ML-Ops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Retrieval-augmented generation (RAG) design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286EF4-C8FC-C78B-75EE-B5C30E7E19F5}"/>
              </a:ext>
            </a:extLst>
          </p:cNvPr>
          <p:cNvSpPr/>
          <p:nvPr/>
        </p:nvSpPr>
        <p:spPr bwMode="auto">
          <a:xfrm>
            <a:off x="8205522" y="4627556"/>
            <a:ext cx="3585422" cy="16447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IN" sz="2400" b="1" u="sng" dirty="0">
                <a:solidFill>
                  <a:srgbClr val="2C2C2C">
                    <a:lumMod val="75000"/>
                    <a:lumOff val="25000"/>
                  </a:srgbClr>
                </a:solidFill>
                <a:cs typeface="Arial" pitchFamily="34" charset="0"/>
              </a:rPr>
              <a:t>Governance &amp; Security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RBAC &amp; federated architectures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GDPR &amp; SOC2-ready controls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Data masking &amp; PII compliance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Enterprise data catalog &amp; metadata models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Access auditing &amp; lineage tracking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pic>
        <p:nvPicPr>
          <p:cNvPr id="6" name="Picture 5" descr="Head with gears with solid fill">
            <a:extLst>
              <a:ext uri="{FF2B5EF4-FFF2-40B4-BE49-F238E27FC236}">
                <a16:creationId xmlns:a16="http://schemas.microsoft.com/office/drawing/2014/main" id="{70574B7B-396F-3931-5090-2FD66BF0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 descr="Database with solid fill">
            <a:extLst>
              <a:ext uri="{FF2B5EF4-FFF2-40B4-BE49-F238E27FC236}">
                <a16:creationId xmlns:a16="http://schemas.microsoft.com/office/drawing/2014/main" id="{ED82DF94-D778-F2FE-F517-885C289E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 descr="Lock with solid fill">
            <a:extLst>
              <a:ext uri="{FF2B5EF4-FFF2-40B4-BE49-F238E27FC236}">
                <a16:creationId xmlns:a16="http://schemas.microsoft.com/office/drawing/2014/main" id="{EFFE49CC-D3B8-41A5-2851-762C881F7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 descr="Laptop with solid fill">
            <a:extLst>
              <a:ext uri="{FF2B5EF4-FFF2-40B4-BE49-F238E27FC236}">
                <a16:creationId xmlns:a16="http://schemas.microsoft.com/office/drawing/2014/main" id="{5CBCD47D-4CFE-C740-81BF-C59FBBAAE6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C76E31F-4DC2-5EE7-2538-091B964C4407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lakehouse</a:t>
            </a:r>
            <a:r>
              <a:rPr lang="en-US" dirty="0"/>
              <a:t> architecture to production AI agents.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78BE59F-3520-6389-3BA6-A667DC58393F}"/>
              </a:ext>
            </a:extLst>
          </p:cNvPr>
          <p:cNvGrpSpPr/>
          <p:nvPr/>
        </p:nvGrpSpPr>
        <p:grpSpPr>
          <a:xfrm>
            <a:off x="5276310" y="3716687"/>
            <a:ext cx="1612790" cy="718579"/>
            <a:chOff x="5372654" y="3459364"/>
            <a:chExt cx="1881915" cy="958104"/>
          </a:xfrm>
        </p:grpSpPr>
        <p:pic>
          <p:nvPicPr>
            <p:cNvPr id="9" name="Google Shape;310;p7" descr="Snowflake Cloud Data Platform - Our Technologies - DataSense">
              <a:extLst>
                <a:ext uri="{FF2B5EF4-FFF2-40B4-BE49-F238E27FC236}">
                  <a16:creationId xmlns:a16="http://schemas.microsoft.com/office/drawing/2014/main" id="{3AC68D64-B72B-0C9F-EFC8-AA59816EEE1C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372654" y="3921820"/>
              <a:ext cx="1881915" cy="4956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Picture 6" descr="Technology - Databricks">
              <a:extLst>
                <a:ext uri="{FF2B5EF4-FFF2-40B4-BE49-F238E27FC236}">
                  <a16:creationId xmlns:a16="http://schemas.microsoft.com/office/drawing/2014/main" id="{7D7171E8-0DDC-6803-014B-84CA2AE573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2968" y="3459364"/>
              <a:ext cx="1681287" cy="567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830284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3CE4E-5141-D8AF-EFC7-51FF6136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C5A09-46F4-0DAC-7F7C-F4B027F190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7E8F2CA-2106-D94D-56D0-4D93AFE66BA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r>
              <a:rPr lang="en-US" dirty="0">
                <a:latin typeface="Montserrat"/>
              </a:rPr>
              <a:t>Enterprise AI Capability - Built &amp; Delivered Since 2019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3FC386EF-4248-2424-C4B2-1ADF036A71D3}"/>
              </a:ext>
            </a:extLst>
          </p:cNvPr>
          <p:cNvSpPr>
            <a:spLocks noGrp="1"/>
          </p:cNvSpPr>
          <p:nvPr/>
        </p:nvSpPr>
        <p:spPr>
          <a:xfrm>
            <a:off x="9993059" y="5777463"/>
            <a:ext cx="207635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algn="ctr"/>
            <a:r>
              <a:rPr lang="en-US" sz="1600" i="0" dirty="0" err="1"/>
              <a:t>Palni’s</a:t>
            </a:r>
            <a:r>
              <a:rPr lang="en-US" sz="1600" i="0" dirty="0"/>
              <a:t> Enterprise AI Subsidiary</a:t>
            </a:r>
            <a:endParaRPr lang="en-US" sz="1600" dirty="0"/>
          </a:p>
        </p:txBody>
      </p:sp>
      <p:sp>
        <p:nvSpPr>
          <p:cNvPr id="23" name="Google Shape;952;p35">
            <a:extLst>
              <a:ext uri="{FF2B5EF4-FFF2-40B4-BE49-F238E27FC236}">
                <a16:creationId xmlns:a16="http://schemas.microsoft.com/office/drawing/2014/main" id="{2E8DB31E-9F68-CA45-DF81-B0D65C46AA06}"/>
              </a:ext>
            </a:extLst>
          </p:cNvPr>
          <p:cNvSpPr/>
          <p:nvPr/>
        </p:nvSpPr>
        <p:spPr>
          <a:xfrm>
            <a:off x="2278016" y="2703454"/>
            <a:ext cx="738076" cy="738076"/>
          </a:xfrm>
          <a:custGeom>
            <a:avLst/>
            <a:gdLst/>
            <a:ahLst/>
            <a:cxnLst/>
            <a:rect l="l" t="t" r="r" b="b"/>
            <a:pathLst>
              <a:path w="20730" h="20730" extrusionOk="0">
                <a:moveTo>
                  <a:pt x="10371" y="1"/>
                </a:moveTo>
                <a:cubicBezTo>
                  <a:pt x="4644" y="1"/>
                  <a:pt x="1" y="4644"/>
                  <a:pt x="1" y="10371"/>
                </a:cubicBezTo>
                <a:cubicBezTo>
                  <a:pt x="1" y="16086"/>
                  <a:pt x="4644" y="20730"/>
                  <a:pt x="10371" y="20730"/>
                </a:cubicBezTo>
                <a:cubicBezTo>
                  <a:pt x="16086" y="20730"/>
                  <a:pt x="20729" y="16086"/>
                  <a:pt x="20729" y="10371"/>
                </a:cubicBezTo>
                <a:cubicBezTo>
                  <a:pt x="20729" y="4644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24" name="Google Shape;953;p35">
            <a:extLst>
              <a:ext uri="{FF2B5EF4-FFF2-40B4-BE49-F238E27FC236}">
                <a16:creationId xmlns:a16="http://schemas.microsoft.com/office/drawing/2014/main" id="{D4F489E2-4A85-1862-3FC0-41D5760E2848}"/>
              </a:ext>
            </a:extLst>
          </p:cNvPr>
          <p:cNvSpPr/>
          <p:nvPr/>
        </p:nvSpPr>
        <p:spPr>
          <a:xfrm>
            <a:off x="2647232" y="2786554"/>
            <a:ext cx="511277" cy="797428"/>
          </a:xfrm>
          <a:custGeom>
            <a:avLst/>
            <a:gdLst/>
            <a:ahLst/>
            <a:cxnLst/>
            <a:rect l="l" t="t" r="r" b="b"/>
            <a:pathLst>
              <a:path w="14360" h="22397" fill="none" extrusionOk="0">
                <a:moveTo>
                  <a:pt x="11907" y="1"/>
                </a:moveTo>
                <a:cubicBezTo>
                  <a:pt x="13455" y="2298"/>
                  <a:pt x="14360" y="5061"/>
                  <a:pt x="14360" y="8037"/>
                </a:cubicBezTo>
                <a:cubicBezTo>
                  <a:pt x="14360" y="15967"/>
                  <a:pt x="7930" y="22396"/>
                  <a:pt x="1" y="22396"/>
                </a:cubicBezTo>
              </a:path>
            </a:pathLst>
          </a:custGeom>
          <a:solidFill>
            <a:schemeClr val="accent1">
              <a:lumMod val="75000"/>
            </a:schemeClr>
          </a:solidFill>
          <a:ln w="81550" cap="flat" cmpd="sng">
            <a:solidFill>
              <a:schemeClr val="accent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25" name="Google Shape;954;p35">
            <a:extLst>
              <a:ext uri="{FF2B5EF4-FFF2-40B4-BE49-F238E27FC236}">
                <a16:creationId xmlns:a16="http://schemas.microsoft.com/office/drawing/2014/main" id="{289D8C5A-B284-CF14-62AE-8910AF3BD52E}"/>
              </a:ext>
            </a:extLst>
          </p:cNvPr>
          <p:cNvGrpSpPr/>
          <p:nvPr/>
        </p:nvGrpSpPr>
        <p:grpSpPr>
          <a:xfrm>
            <a:off x="1511030" y="2894043"/>
            <a:ext cx="2553713" cy="1580400"/>
            <a:chOff x="1597088" y="2023550"/>
            <a:chExt cx="1793125" cy="1395125"/>
          </a:xfrm>
        </p:grpSpPr>
        <p:sp>
          <p:nvSpPr>
            <p:cNvPr id="26" name="Google Shape;955;p35">
              <a:extLst>
                <a:ext uri="{FF2B5EF4-FFF2-40B4-BE49-F238E27FC236}">
                  <a16:creationId xmlns:a16="http://schemas.microsoft.com/office/drawing/2014/main" id="{9FCCBA31-B661-A607-C36D-66694385771B}"/>
                </a:ext>
              </a:extLst>
            </p:cNvPr>
            <p:cNvSpPr/>
            <p:nvPr/>
          </p:nvSpPr>
          <p:spPr>
            <a:xfrm>
              <a:off x="2968088" y="2088450"/>
              <a:ext cx="367050" cy="126225"/>
            </a:xfrm>
            <a:custGeom>
              <a:avLst/>
              <a:gdLst/>
              <a:ahLst/>
              <a:cxnLst/>
              <a:rect l="l" t="t" r="r" b="b"/>
              <a:pathLst>
                <a:path w="14682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51" y="0"/>
                    <a:pt x="1" y="2262"/>
                    <a:pt x="1" y="5048"/>
                  </a:cubicBez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7" name="Google Shape;956;p35">
              <a:extLst>
                <a:ext uri="{FF2B5EF4-FFF2-40B4-BE49-F238E27FC236}">
                  <a16:creationId xmlns:a16="http://schemas.microsoft.com/office/drawing/2014/main" id="{03485804-D712-5328-59AF-7834F6909310}"/>
                </a:ext>
              </a:extLst>
            </p:cNvPr>
            <p:cNvSpPr/>
            <p:nvPr/>
          </p:nvSpPr>
          <p:spPr>
            <a:xfrm>
              <a:off x="1597088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72" y="1905"/>
                  </a:moveTo>
                  <a:lnTo>
                    <a:pt x="5037" y="1905"/>
                  </a:lnTo>
                  <a:cubicBezTo>
                    <a:pt x="2251" y="1905"/>
                    <a:pt x="1" y="4167"/>
                    <a:pt x="1" y="6954"/>
                  </a:cubicBezTo>
                  <a:lnTo>
                    <a:pt x="1" y="34671"/>
                  </a:lnTo>
                  <a:cubicBezTo>
                    <a:pt x="1" y="37457"/>
                    <a:pt x="2251" y="39719"/>
                    <a:pt x="5037" y="39719"/>
                  </a:cubicBezTo>
                  <a:lnTo>
                    <a:pt x="20372" y="39719"/>
                  </a:lnTo>
                  <a:cubicBezTo>
                    <a:pt x="21015" y="39719"/>
                    <a:pt x="21634" y="40029"/>
                    <a:pt x="22015" y="40553"/>
                  </a:cubicBezTo>
                  <a:lnTo>
                    <a:pt x="25766" y="47054"/>
                  </a:lnTo>
                  <a:cubicBezTo>
                    <a:pt x="26587" y="48161"/>
                    <a:pt x="28254" y="48161"/>
                    <a:pt x="29064" y="47054"/>
                  </a:cubicBezTo>
                  <a:lnTo>
                    <a:pt x="32814" y="40553"/>
                  </a:lnTo>
                  <a:cubicBezTo>
                    <a:pt x="33207" y="40029"/>
                    <a:pt x="33815" y="39719"/>
                    <a:pt x="34469" y="39719"/>
                  </a:cubicBezTo>
                  <a:lnTo>
                    <a:pt x="49793" y="39719"/>
                  </a:lnTo>
                  <a:cubicBezTo>
                    <a:pt x="52579" y="39719"/>
                    <a:pt x="54841" y="37457"/>
                    <a:pt x="54841" y="34671"/>
                  </a:cubicBezTo>
                  <a:lnTo>
                    <a:pt x="54841" y="0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8" name="Google Shape;957;p35">
              <a:extLst>
                <a:ext uri="{FF2B5EF4-FFF2-40B4-BE49-F238E27FC236}">
                  <a16:creationId xmlns:a16="http://schemas.microsoft.com/office/drawing/2014/main" id="{57D88DCA-4226-C872-8F98-7D62DEE2CDD2}"/>
                </a:ext>
              </a:extLst>
            </p:cNvPr>
            <p:cNvSpPr/>
            <p:nvPr/>
          </p:nvSpPr>
          <p:spPr>
            <a:xfrm>
              <a:off x="3280038" y="2023550"/>
              <a:ext cx="110175" cy="129800"/>
            </a:xfrm>
            <a:custGeom>
              <a:avLst/>
              <a:gdLst/>
              <a:ahLst/>
              <a:cxnLst/>
              <a:rect l="l" t="t" r="r" b="b"/>
              <a:pathLst>
                <a:path w="4407" h="5192" extrusionOk="0">
                  <a:moveTo>
                    <a:pt x="25" y="0"/>
                  </a:moveTo>
                  <a:lnTo>
                    <a:pt x="2263" y="2572"/>
                  </a:lnTo>
                  <a:lnTo>
                    <a:pt x="1" y="5180"/>
                  </a:lnTo>
                  <a:lnTo>
                    <a:pt x="13" y="5192"/>
                  </a:lnTo>
                  <a:lnTo>
                    <a:pt x="2120" y="5192"/>
                  </a:lnTo>
                  <a:lnTo>
                    <a:pt x="3334" y="3799"/>
                  </a:lnTo>
                  <a:lnTo>
                    <a:pt x="4406" y="2572"/>
                  </a:lnTo>
                  <a:lnTo>
                    <a:pt x="216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29" name="Google Shape;958;p35">
            <a:extLst>
              <a:ext uri="{FF2B5EF4-FFF2-40B4-BE49-F238E27FC236}">
                <a16:creationId xmlns:a16="http://schemas.microsoft.com/office/drawing/2014/main" id="{BB9F3393-48BB-2B3F-112F-D09DE6DAA7B8}"/>
              </a:ext>
            </a:extLst>
          </p:cNvPr>
          <p:cNvGrpSpPr/>
          <p:nvPr/>
        </p:nvGrpSpPr>
        <p:grpSpPr>
          <a:xfrm>
            <a:off x="2455698" y="4563511"/>
            <a:ext cx="63197" cy="375197"/>
            <a:chOff x="2260263" y="3508250"/>
            <a:chExt cx="44375" cy="263450"/>
          </a:xfrm>
        </p:grpSpPr>
        <p:sp>
          <p:nvSpPr>
            <p:cNvPr id="30" name="Google Shape;959;p35">
              <a:extLst>
                <a:ext uri="{FF2B5EF4-FFF2-40B4-BE49-F238E27FC236}">
                  <a16:creationId xmlns:a16="http://schemas.microsoft.com/office/drawing/2014/main" id="{2FC8E64E-A487-C160-D297-8E190BDED750}"/>
                </a:ext>
              </a:extLst>
            </p:cNvPr>
            <p:cNvSpPr/>
            <p:nvPr/>
          </p:nvSpPr>
          <p:spPr>
            <a:xfrm>
              <a:off x="2260263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75" y="1382"/>
                    <a:pt x="1775" y="894"/>
                  </a:cubicBezTo>
                  <a:cubicBezTo>
                    <a:pt x="1775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1" name="Google Shape;960;p35">
              <a:extLst>
                <a:ext uri="{FF2B5EF4-FFF2-40B4-BE49-F238E27FC236}">
                  <a16:creationId xmlns:a16="http://schemas.microsoft.com/office/drawing/2014/main" id="{BCBB59E6-544A-EDCF-FA3F-6E9615BE691B}"/>
                </a:ext>
              </a:extLst>
            </p:cNvPr>
            <p:cNvSpPr/>
            <p:nvPr/>
          </p:nvSpPr>
          <p:spPr>
            <a:xfrm>
              <a:off x="2260263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2" name="Google Shape;961;p35">
              <a:extLst>
                <a:ext uri="{FF2B5EF4-FFF2-40B4-BE49-F238E27FC236}">
                  <a16:creationId xmlns:a16="http://schemas.microsoft.com/office/drawing/2014/main" id="{32E64F0A-057C-49EF-E2DD-BFBAB3806394}"/>
                </a:ext>
              </a:extLst>
            </p:cNvPr>
            <p:cNvSpPr/>
            <p:nvPr/>
          </p:nvSpPr>
          <p:spPr>
            <a:xfrm>
              <a:off x="2260263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3" name="Google Shape;962;p35">
              <a:extLst>
                <a:ext uri="{FF2B5EF4-FFF2-40B4-BE49-F238E27FC236}">
                  <a16:creationId xmlns:a16="http://schemas.microsoft.com/office/drawing/2014/main" id="{976A0735-5293-0B55-A0E0-AB537067A1AE}"/>
                </a:ext>
              </a:extLst>
            </p:cNvPr>
            <p:cNvSpPr/>
            <p:nvPr/>
          </p:nvSpPr>
          <p:spPr>
            <a:xfrm>
              <a:off x="2260263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34" name="Google Shape;966;p35">
            <a:extLst>
              <a:ext uri="{FF2B5EF4-FFF2-40B4-BE49-F238E27FC236}">
                <a16:creationId xmlns:a16="http://schemas.microsoft.com/office/drawing/2014/main" id="{41E582BF-5365-61D3-84D5-7A51E39BC319}"/>
              </a:ext>
            </a:extLst>
          </p:cNvPr>
          <p:cNvSpPr/>
          <p:nvPr/>
        </p:nvSpPr>
        <p:spPr>
          <a:xfrm>
            <a:off x="4682085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59" y="1"/>
                </a:moveTo>
                <a:cubicBezTo>
                  <a:pt x="4644" y="1"/>
                  <a:pt x="1" y="4633"/>
                  <a:pt x="1" y="10359"/>
                </a:cubicBezTo>
                <a:cubicBezTo>
                  <a:pt x="1" y="16074"/>
                  <a:pt x="4644" y="20718"/>
                  <a:pt x="10359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5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2021</a:t>
            </a:r>
            <a:endParaRPr lang="en-US" sz="3600" b="1" dirty="0">
              <a:solidFill>
                <a:srgbClr val="FFFFFF"/>
              </a:solidFill>
            </a:endParaRPr>
          </a:p>
        </p:txBody>
      </p:sp>
      <p:sp>
        <p:nvSpPr>
          <p:cNvPr id="35" name="Google Shape;967;p35">
            <a:extLst>
              <a:ext uri="{FF2B5EF4-FFF2-40B4-BE49-F238E27FC236}">
                <a16:creationId xmlns:a16="http://schemas.microsoft.com/office/drawing/2014/main" id="{D533BF08-725B-D6E0-C8AB-AE744F260940}"/>
              </a:ext>
            </a:extLst>
          </p:cNvPr>
          <p:cNvSpPr/>
          <p:nvPr/>
        </p:nvSpPr>
        <p:spPr>
          <a:xfrm>
            <a:off x="4425200" y="3860484"/>
            <a:ext cx="463781" cy="863972"/>
          </a:xfrm>
          <a:custGeom>
            <a:avLst/>
            <a:gdLst/>
            <a:ahLst/>
            <a:cxnLst/>
            <a:rect l="l" t="t" r="r" b="b"/>
            <a:pathLst>
              <a:path w="13026" h="24266" fill="none" extrusionOk="0">
                <a:moveTo>
                  <a:pt x="13026" y="24265"/>
                </a:moveTo>
                <a:cubicBezTo>
                  <a:pt x="10311" y="23742"/>
                  <a:pt x="7716" y="22420"/>
                  <a:pt x="5608" y="20313"/>
                </a:cubicBezTo>
                <a:cubicBezTo>
                  <a:pt x="0" y="14705"/>
                  <a:pt x="0" y="5608"/>
                  <a:pt x="5608" y="1"/>
                </a:cubicBezTo>
              </a:path>
            </a:pathLst>
          </a:custGeom>
          <a:noFill/>
          <a:ln w="81550" cap="flat" cmpd="sng">
            <a:solidFill>
              <a:schemeClr val="accent2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36" name="Google Shape;968;p35">
            <a:extLst>
              <a:ext uri="{FF2B5EF4-FFF2-40B4-BE49-F238E27FC236}">
                <a16:creationId xmlns:a16="http://schemas.microsoft.com/office/drawing/2014/main" id="{3F4F5965-D268-7DB1-69A3-D7C6C2D06D8F}"/>
              </a:ext>
            </a:extLst>
          </p:cNvPr>
          <p:cNvGrpSpPr/>
          <p:nvPr/>
        </p:nvGrpSpPr>
        <p:grpSpPr>
          <a:xfrm flipH="1">
            <a:off x="3716474" y="2944437"/>
            <a:ext cx="2553678" cy="1581221"/>
            <a:chOff x="2679963" y="2089625"/>
            <a:chExt cx="1793100" cy="1395450"/>
          </a:xfrm>
        </p:grpSpPr>
        <p:sp>
          <p:nvSpPr>
            <p:cNvPr id="37" name="Google Shape;969;p35">
              <a:extLst>
                <a:ext uri="{FF2B5EF4-FFF2-40B4-BE49-F238E27FC236}">
                  <a16:creationId xmlns:a16="http://schemas.microsoft.com/office/drawing/2014/main" id="{4B898F28-BFD5-D2E2-6208-BF76528CEA30}"/>
                </a:ext>
              </a:extLst>
            </p:cNvPr>
            <p:cNvSpPr/>
            <p:nvPr/>
          </p:nvSpPr>
          <p:spPr>
            <a:xfrm>
              <a:off x="27350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3" y="5048"/>
                  </a:lnTo>
                  <a:cubicBezTo>
                    <a:pt x="12419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8" name="Google Shape;970;p35">
              <a:extLst>
                <a:ext uri="{FF2B5EF4-FFF2-40B4-BE49-F238E27FC236}">
                  <a16:creationId xmlns:a16="http://schemas.microsoft.com/office/drawing/2014/main" id="{128A083B-F8D6-1A33-D750-162A0D4C4CDD}"/>
                </a:ext>
              </a:extLst>
            </p:cNvPr>
            <p:cNvSpPr/>
            <p:nvPr/>
          </p:nvSpPr>
          <p:spPr>
            <a:xfrm>
              <a:off x="3102038" y="2089625"/>
              <a:ext cx="1371025" cy="1204349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793" y="46268"/>
                  </a:lnTo>
                  <a:cubicBezTo>
                    <a:pt x="52579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79" y="8454"/>
                    <a:pt x="49793" y="8454"/>
                  </a:cubicBezTo>
                  <a:lnTo>
                    <a:pt x="34469" y="8454"/>
                  </a:lnTo>
                  <a:cubicBezTo>
                    <a:pt x="33815" y="8454"/>
                    <a:pt x="33207" y="8145"/>
                    <a:pt x="32814" y="7621"/>
                  </a:cubicBezTo>
                  <a:lnTo>
                    <a:pt x="29064" y="1120"/>
                  </a:lnTo>
                  <a:cubicBezTo>
                    <a:pt x="28254" y="1"/>
                    <a:pt x="26587" y="1"/>
                    <a:pt x="25766" y="1120"/>
                  </a:cubicBezTo>
                  <a:lnTo>
                    <a:pt x="22015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37" y="8454"/>
                  </a:lnTo>
                  <a:cubicBezTo>
                    <a:pt x="2251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9" name="Google Shape;971;p35">
              <a:extLst>
                <a:ext uri="{FF2B5EF4-FFF2-40B4-BE49-F238E27FC236}">
                  <a16:creationId xmlns:a16="http://schemas.microsoft.com/office/drawing/2014/main" id="{1C7A6281-207A-299E-6FED-BD56E2755D42}"/>
                </a:ext>
              </a:extLst>
            </p:cNvPr>
            <p:cNvSpPr/>
            <p:nvPr/>
          </p:nvSpPr>
          <p:spPr>
            <a:xfrm>
              <a:off x="2679963" y="3354975"/>
              <a:ext cx="110175" cy="130100"/>
            </a:xfrm>
            <a:custGeom>
              <a:avLst/>
              <a:gdLst/>
              <a:ahLst/>
              <a:cxnLst/>
              <a:rect l="l" t="t" r="r" b="b"/>
              <a:pathLst>
                <a:path w="4407" h="5204" extrusionOk="0">
                  <a:moveTo>
                    <a:pt x="2287" y="0"/>
                  </a:moveTo>
                  <a:lnTo>
                    <a:pt x="1060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70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40" name="Google Shape;972;p35">
            <a:extLst>
              <a:ext uri="{FF2B5EF4-FFF2-40B4-BE49-F238E27FC236}">
                <a16:creationId xmlns:a16="http://schemas.microsoft.com/office/drawing/2014/main" id="{C5331F88-6456-8B77-DFED-D662660F7390}"/>
              </a:ext>
            </a:extLst>
          </p:cNvPr>
          <p:cNvGrpSpPr/>
          <p:nvPr/>
        </p:nvGrpSpPr>
        <p:grpSpPr>
          <a:xfrm>
            <a:off x="4637509" y="2500235"/>
            <a:ext cx="63625" cy="375197"/>
            <a:chOff x="3765213" y="1736900"/>
            <a:chExt cx="44675" cy="263450"/>
          </a:xfrm>
        </p:grpSpPr>
        <p:sp>
          <p:nvSpPr>
            <p:cNvPr id="41" name="Google Shape;973;p35">
              <a:extLst>
                <a:ext uri="{FF2B5EF4-FFF2-40B4-BE49-F238E27FC236}">
                  <a16:creationId xmlns:a16="http://schemas.microsoft.com/office/drawing/2014/main" id="{1878C4C4-1DE4-E80A-0364-C27E6C7994EC}"/>
                </a:ext>
              </a:extLst>
            </p:cNvPr>
            <p:cNvSpPr/>
            <p:nvPr/>
          </p:nvSpPr>
          <p:spPr>
            <a:xfrm>
              <a:off x="37652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2" name="Google Shape;974;p35">
              <a:extLst>
                <a:ext uri="{FF2B5EF4-FFF2-40B4-BE49-F238E27FC236}">
                  <a16:creationId xmlns:a16="http://schemas.microsoft.com/office/drawing/2014/main" id="{3377A356-29D0-8C6C-A6D3-E60A549E76B1}"/>
                </a:ext>
              </a:extLst>
            </p:cNvPr>
            <p:cNvSpPr/>
            <p:nvPr/>
          </p:nvSpPr>
          <p:spPr>
            <a:xfrm>
              <a:off x="37652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3" name="Google Shape;975;p35">
              <a:extLst>
                <a:ext uri="{FF2B5EF4-FFF2-40B4-BE49-F238E27FC236}">
                  <a16:creationId xmlns:a16="http://schemas.microsoft.com/office/drawing/2014/main" id="{5B12E24E-731D-8DCF-D8C4-C4D37443911F}"/>
                </a:ext>
              </a:extLst>
            </p:cNvPr>
            <p:cNvSpPr/>
            <p:nvPr/>
          </p:nvSpPr>
          <p:spPr>
            <a:xfrm>
              <a:off x="37652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4" name="Google Shape;976;p35">
              <a:extLst>
                <a:ext uri="{FF2B5EF4-FFF2-40B4-BE49-F238E27FC236}">
                  <a16:creationId xmlns:a16="http://schemas.microsoft.com/office/drawing/2014/main" id="{908FB6AD-6DCA-3078-E0DE-E58C4D091D05}"/>
                </a:ext>
              </a:extLst>
            </p:cNvPr>
            <p:cNvSpPr/>
            <p:nvPr/>
          </p:nvSpPr>
          <p:spPr>
            <a:xfrm>
              <a:off x="37652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45" name="Google Shape;980;p35">
            <a:extLst>
              <a:ext uri="{FF2B5EF4-FFF2-40B4-BE49-F238E27FC236}">
                <a16:creationId xmlns:a16="http://schemas.microsoft.com/office/drawing/2014/main" id="{9A390F3E-3C1C-54C5-E882-A2E5BAD1FDE0}"/>
              </a:ext>
            </a:extLst>
          </p:cNvPr>
          <p:cNvSpPr/>
          <p:nvPr/>
        </p:nvSpPr>
        <p:spPr>
          <a:xfrm>
            <a:off x="6689452" y="2703454"/>
            <a:ext cx="737648" cy="738076"/>
          </a:xfrm>
          <a:custGeom>
            <a:avLst/>
            <a:gdLst/>
            <a:ahLst/>
            <a:cxnLst/>
            <a:rect l="l" t="t" r="r" b="b"/>
            <a:pathLst>
              <a:path w="20718" h="20730" extrusionOk="0">
                <a:moveTo>
                  <a:pt x="10359" y="1"/>
                </a:moveTo>
                <a:cubicBezTo>
                  <a:pt x="4632" y="1"/>
                  <a:pt x="1" y="4644"/>
                  <a:pt x="1" y="10371"/>
                </a:cubicBezTo>
                <a:cubicBezTo>
                  <a:pt x="1" y="16086"/>
                  <a:pt x="4632" y="20730"/>
                  <a:pt x="10359" y="20730"/>
                </a:cubicBezTo>
                <a:cubicBezTo>
                  <a:pt x="16086" y="20730"/>
                  <a:pt x="20718" y="16086"/>
                  <a:pt x="20718" y="10371"/>
                </a:cubicBezTo>
                <a:cubicBezTo>
                  <a:pt x="20718" y="4644"/>
                  <a:pt x="16086" y="1"/>
                  <a:pt x="10359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600" b="1" dirty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46" name="Google Shape;981;p35">
            <a:extLst>
              <a:ext uri="{FF2B5EF4-FFF2-40B4-BE49-F238E27FC236}">
                <a16:creationId xmlns:a16="http://schemas.microsoft.com/office/drawing/2014/main" id="{F9FC17AF-8AA4-B6FE-0957-FCC45A862E63}"/>
              </a:ext>
            </a:extLst>
          </p:cNvPr>
          <p:cNvSpPr/>
          <p:nvPr/>
        </p:nvSpPr>
        <p:spPr>
          <a:xfrm>
            <a:off x="7058276" y="2786554"/>
            <a:ext cx="511668" cy="797428"/>
          </a:xfrm>
          <a:custGeom>
            <a:avLst/>
            <a:gdLst/>
            <a:ahLst/>
            <a:cxnLst/>
            <a:rect l="l" t="t" r="r" b="b"/>
            <a:pathLst>
              <a:path w="14371" h="22397" fill="none" extrusionOk="0">
                <a:moveTo>
                  <a:pt x="11918" y="1"/>
                </a:moveTo>
                <a:cubicBezTo>
                  <a:pt x="13466" y="2298"/>
                  <a:pt x="14371" y="5061"/>
                  <a:pt x="14371" y="8037"/>
                </a:cubicBezTo>
                <a:cubicBezTo>
                  <a:pt x="14371" y="15967"/>
                  <a:pt x="7930" y="22396"/>
                  <a:pt x="0" y="22396"/>
                </a:cubicBezTo>
              </a:path>
            </a:pathLst>
          </a:custGeom>
          <a:noFill/>
          <a:ln w="81550" cap="flat" cmpd="sng">
            <a:solidFill>
              <a:schemeClr val="tx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47" name="Google Shape;982;p35">
            <a:extLst>
              <a:ext uri="{FF2B5EF4-FFF2-40B4-BE49-F238E27FC236}">
                <a16:creationId xmlns:a16="http://schemas.microsoft.com/office/drawing/2014/main" id="{DA87C47B-5E7A-7481-B800-DDEC4DC17071}"/>
              </a:ext>
            </a:extLst>
          </p:cNvPr>
          <p:cNvGrpSpPr/>
          <p:nvPr/>
        </p:nvGrpSpPr>
        <p:grpSpPr>
          <a:xfrm>
            <a:off x="5921883" y="2894043"/>
            <a:ext cx="2553678" cy="1580400"/>
            <a:chOff x="4618913" y="2023550"/>
            <a:chExt cx="1793100" cy="1395125"/>
          </a:xfrm>
        </p:grpSpPr>
        <p:sp>
          <p:nvSpPr>
            <p:cNvPr id="48" name="Google Shape;983;p35">
              <a:extLst>
                <a:ext uri="{FF2B5EF4-FFF2-40B4-BE49-F238E27FC236}">
                  <a16:creationId xmlns:a16="http://schemas.microsoft.com/office/drawing/2014/main" id="{4E2C880D-E30A-AAA1-39CC-275CC69499FE}"/>
                </a:ext>
              </a:extLst>
            </p:cNvPr>
            <p:cNvSpPr/>
            <p:nvPr/>
          </p:nvSpPr>
          <p:spPr>
            <a:xfrm>
              <a:off x="5989913" y="20884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62" y="0"/>
                    <a:pt x="0" y="2262"/>
                    <a:pt x="0" y="5048"/>
                  </a:cubicBez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9" name="Google Shape;984;p35">
              <a:extLst>
                <a:ext uri="{FF2B5EF4-FFF2-40B4-BE49-F238E27FC236}">
                  <a16:creationId xmlns:a16="http://schemas.microsoft.com/office/drawing/2014/main" id="{E12323C6-280E-5745-957E-43E39B94A862}"/>
                </a:ext>
              </a:extLst>
            </p:cNvPr>
            <p:cNvSpPr/>
            <p:nvPr/>
          </p:nvSpPr>
          <p:spPr>
            <a:xfrm>
              <a:off x="4618913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83" y="1905"/>
                  </a:moveTo>
                  <a:lnTo>
                    <a:pt x="5036" y="1905"/>
                  </a:lnTo>
                  <a:cubicBezTo>
                    <a:pt x="2250" y="1905"/>
                    <a:pt x="0" y="4167"/>
                    <a:pt x="0" y="6954"/>
                  </a:cubicBezTo>
                  <a:lnTo>
                    <a:pt x="0" y="34671"/>
                  </a:lnTo>
                  <a:cubicBezTo>
                    <a:pt x="0" y="37457"/>
                    <a:pt x="2250" y="39719"/>
                    <a:pt x="5036" y="39719"/>
                  </a:cubicBezTo>
                  <a:lnTo>
                    <a:pt x="20372" y="39719"/>
                  </a:lnTo>
                  <a:cubicBezTo>
                    <a:pt x="21027" y="39719"/>
                    <a:pt x="21634" y="40029"/>
                    <a:pt x="22015" y="40553"/>
                  </a:cubicBezTo>
                  <a:lnTo>
                    <a:pt x="25765" y="47054"/>
                  </a:lnTo>
                  <a:cubicBezTo>
                    <a:pt x="26587" y="48161"/>
                    <a:pt x="28254" y="48161"/>
                    <a:pt x="29063" y="47054"/>
                  </a:cubicBezTo>
                  <a:lnTo>
                    <a:pt x="32814" y="40553"/>
                  </a:lnTo>
                  <a:cubicBezTo>
                    <a:pt x="33207" y="40029"/>
                    <a:pt x="33814" y="39719"/>
                    <a:pt x="34469" y="39719"/>
                  </a:cubicBezTo>
                  <a:lnTo>
                    <a:pt x="49792" y="39719"/>
                  </a:lnTo>
                  <a:cubicBezTo>
                    <a:pt x="52578" y="39719"/>
                    <a:pt x="54840" y="37457"/>
                    <a:pt x="54840" y="34671"/>
                  </a:cubicBezTo>
                  <a:lnTo>
                    <a:pt x="54840" y="0"/>
                  </a:ln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0" name="Google Shape;985;p35">
              <a:extLst>
                <a:ext uri="{FF2B5EF4-FFF2-40B4-BE49-F238E27FC236}">
                  <a16:creationId xmlns:a16="http://schemas.microsoft.com/office/drawing/2014/main" id="{80B2D75B-3EEF-CBDC-CE5E-DEA6F39500E5}"/>
                </a:ext>
              </a:extLst>
            </p:cNvPr>
            <p:cNvSpPr/>
            <p:nvPr/>
          </p:nvSpPr>
          <p:spPr>
            <a:xfrm>
              <a:off x="6301863" y="2023550"/>
              <a:ext cx="110150" cy="129800"/>
            </a:xfrm>
            <a:custGeom>
              <a:avLst/>
              <a:gdLst/>
              <a:ahLst/>
              <a:cxnLst/>
              <a:rect l="l" t="t" r="r" b="b"/>
              <a:pathLst>
                <a:path w="4406" h="5192" extrusionOk="0">
                  <a:moveTo>
                    <a:pt x="24" y="0"/>
                  </a:moveTo>
                  <a:lnTo>
                    <a:pt x="2274" y="2572"/>
                  </a:lnTo>
                  <a:lnTo>
                    <a:pt x="0" y="5180"/>
                  </a:lnTo>
                  <a:lnTo>
                    <a:pt x="12" y="5192"/>
                  </a:lnTo>
                  <a:lnTo>
                    <a:pt x="2119" y="5192"/>
                  </a:lnTo>
                  <a:lnTo>
                    <a:pt x="3334" y="3799"/>
                  </a:lnTo>
                  <a:lnTo>
                    <a:pt x="4405" y="2572"/>
                  </a:lnTo>
                  <a:lnTo>
                    <a:pt x="21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51" name="Google Shape;986;p35">
            <a:extLst>
              <a:ext uri="{FF2B5EF4-FFF2-40B4-BE49-F238E27FC236}">
                <a16:creationId xmlns:a16="http://schemas.microsoft.com/office/drawing/2014/main" id="{2EE6988B-AEC7-DE17-28A1-5D52AC37A0FF}"/>
              </a:ext>
            </a:extLst>
          </p:cNvPr>
          <p:cNvGrpSpPr/>
          <p:nvPr/>
        </p:nvGrpSpPr>
        <p:grpSpPr>
          <a:xfrm>
            <a:off x="6866554" y="4563511"/>
            <a:ext cx="63198" cy="375197"/>
            <a:chOff x="5282088" y="3508250"/>
            <a:chExt cx="44375" cy="263450"/>
          </a:xfrm>
        </p:grpSpPr>
        <p:sp>
          <p:nvSpPr>
            <p:cNvPr id="52" name="Google Shape;987;p35">
              <a:extLst>
                <a:ext uri="{FF2B5EF4-FFF2-40B4-BE49-F238E27FC236}">
                  <a16:creationId xmlns:a16="http://schemas.microsoft.com/office/drawing/2014/main" id="{0595C07A-2B4A-EBCB-E310-913AF47E0BEE}"/>
                </a:ext>
              </a:extLst>
            </p:cNvPr>
            <p:cNvSpPr/>
            <p:nvPr/>
          </p:nvSpPr>
          <p:spPr>
            <a:xfrm>
              <a:off x="5282088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94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94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3" name="Google Shape;988;p35">
              <a:extLst>
                <a:ext uri="{FF2B5EF4-FFF2-40B4-BE49-F238E27FC236}">
                  <a16:creationId xmlns:a16="http://schemas.microsoft.com/office/drawing/2014/main" id="{3B2B4CFC-6B02-1C54-4FE8-8FE7AFFB669A}"/>
                </a:ext>
              </a:extLst>
            </p:cNvPr>
            <p:cNvSpPr/>
            <p:nvPr/>
          </p:nvSpPr>
          <p:spPr>
            <a:xfrm>
              <a:off x="5282088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4" name="Google Shape;989;p35">
              <a:extLst>
                <a:ext uri="{FF2B5EF4-FFF2-40B4-BE49-F238E27FC236}">
                  <a16:creationId xmlns:a16="http://schemas.microsoft.com/office/drawing/2014/main" id="{67C41CCC-CF09-716E-37B3-03FC004E6444}"/>
                </a:ext>
              </a:extLst>
            </p:cNvPr>
            <p:cNvSpPr/>
            <p:nvPr/>
          </p:nvSpPr>
          <p:spPr>
            <a:xfrm>
              <a:off x="5282088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5" name="Google Shape;990;p35">
              <a:extLst>
                <a:ext uri="{FF2B5EF4-FFF2-40B4-BE49-F238E27FC236}">
                  <a16:creationId xmlns:a16="http://schemas.microsoft.com/office/drawing/2014/main" id="{97DE9285-FC3F-7184-724F-24161B2FFEB9}"/>
                </a:ext>
              </a:extLst>
            </p:cNvPr>
            <p:cNvSpPr/>
            <p:nvPr/>
          </p:nvSpPr>
          <p:spPr>
            <a:xfrm>
              <a:off x="5282088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56" name="Google Shape;994;p35">
            <a:extLst>
              <a:ext uri="{FF2B5EF4-FFF2-40B4-BE49-F238E27FC236}">
                <a16:creationId xmlns:a16="http://schemas.microsoft.com/office/drawing/2014/main" id="{369DAABB-78D4-89F2-5B44-E915F46CBEE3}"/>
              </a:ext>
            </a:extLst>
          </p:cNvPr>
          <p:cNvSpPr/>
          <p:nvPr/>
        </p:nvSpPr>
        <p:spPr>
          <a:xfrm>
            <a:off x="9096083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71" y="1"/>
                </a:moveTo>
                <a:cubicBezTo>
                  <a:pt x="4644" y="1"/>
                  <a:pt x="0" y="4633"/>
                  <a:pt x="0" y="10359"/>
                </a:cubicBezTo>
                <a:cubicBezTo>
                  <a:pt x="0" y="16074"/>
                  <a:pt x="4644" y="20718"/>
                  <a:pt x="10371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2025</a:t>
            </a:r>
            <a:endParaRPr lang="en-US" sz="3200" b="1" dirty="0">
              <a:solidFill>
                <a:srgbClr val="FFFFFF"/>
              </a:solidFill>
            </a:endParaRPr>
          </a:p>
        </p:txBody>
      </p:sp>
      <p:sp>
        <p:nvSpPr>
          <p:cNvPr id="57" name="Google Shape;995;p35">
            <a:extLst>
              <a:ext uri="{FF2B5EF4-FFF2-40B4-BE49-F238E27FC236}">
                <a16:creationId xmlns:a16="http://schemas.microsoft.com/office/drawing/2014/main" id="{B373124D-A429-DA02-35FF-95056B12E496}"/>
              </a:ext>
            </a:extLst>
          </p:cNvPr>
          <p:cNvSpPr/>
          <p:nvPr/>
        </p:nvSpPr>
        <p:spPr>
          <a:xfrm>
            <a:off x="8839199" y="3860484"/>
            <a:ext cx="464208" cy="863972"/>
          </a:xfrm>
          <a:custGeom>
            <a:avLst/>
            <a:gdLst/>
            <a:ahLst/>
            <a:cxnLst/>
            <a:rect l="l" t="t" r="r" b="b"/>
            <a:pathLst>
              <a:path w="13038" h="24266" fill="none" extrusionOk="0">
                <a:moveTo>
                  <a:pt x="13038" y="24265"/>
                </a:moveTo>
                <a:cubicBezTo>
                  <a:pt x="10311" y="23742"/>
                  <a:pt x="7716" y="22420"/>
                  <a:pt x="5620" y="20313"/>
                </a:cubicBezTo>
                <a:cubicBezTo>
                  <a:pt x="0" y="14705"/>
                  <a:pt x="0" y="5608"/>
                  <a:pt x="5620" y="1"/>
                </a:cubicBezTo>
              </a:path>
            </a:pathLst>
          </a:custGeom>
          <a:solidFill>
            <a:schemeClr val="accent4">
              <a:lumMod val="75000"/>
            </a:schemeClr>
          </a:solidFill>
          <a:ln w="81550" cap="flat" cmpd="sng">
            <a:solidFill>
              <a:schemeClr val="accent4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58" name="Google Shape;996;p35">
            <a:extLst>
              <a:ext uri="{FF2B5EF4-FFF2-40B4-BE49-F238E27FC236}">
                <a16:creationId xmlns:a16="http://schemas.microsoft.com/office/drawing/2014/main" id="{CD80D15B-73B8-6137-1BF1-02375D6953BE}"/>
              </a:ext>
            </a:extLst>
          </p:cNvPr>
          <p:cNvGrpSpPr/>
          <p:nvPr/>
        </p:nvGrpSpPr>
        <p:grpSpPr>
          <a:xfrm flipH="1">
            <a:off x="8127292" y="2944437"/>
            <a:ext cx="2553678" cy="1581221"/>
            <a:chOff x="5753863" y="2089625"/>
            <a:chExt cx="1793100" cy="1395450"/>
          </a:xfrm>
        </p:grpSpPr>
        <p:sp>
          <p:nvSpPr>
            <p:cNvPr id="59" name="Google Shape;997;p35">
              <a:extLst>
                <a:ext uri="{FF2B5EF4-FFF2-40B4-BE49-F238E27FC236}">
                  <a16:creationId xmlns:a16="http://schemas.microsoft.com/office/drawing/2014/main" id="{53DAB1D7-81F8-1771-95ED-6671DB188DA5}"/>
                </a:ext>
              </a:extLst>
            </p:cNvPr>
            <p:cNvSpPr/>
            <p:nvPr/>
          </p:nvSpPr>
          <p:spPr>
            <a:xfrm>
              <a:off x="58089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2" y="5048"/>
                  </a:lnTo>
                  <a:cubicBezTo>
                    <a:pt x="12418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0" name="Google Shape;998;p35">
              <a:extLst>
                <a:ext uri="{FF2B5EF4-FFF2-40B4-BE49-F238E27FC236}">
                  <a16:creationId xmlns:a16="http://schemas.microsoft.com/office/drawing/2014/main" id="{7F1B6F96-B183-AD08-F700-53072A5510C2}"/>
                </a:ext>
              </a:extLst>
            </p:cNvPr>
            <p:cNvSpPr/>
            <p:nvPr/>
          </p:nvSpPr>
          <p:spPr>
            <a:xfrm>
              <a:off x="6175938" y="2089625"/>
              <a:ext cx="1371025" cy="1204350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805" y="46268"/>
                  </a:lnTo>
                  <a:cubicBezTo>
                    <a:pt x="52591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91" y="8454"/>
                    <a:pt x="49805" y="8454"/>
                  </a:cubicBezTo>
                  <a:lnTo>
                    <a:pt x="34469" y="8454"/>
                  </a:lnTo>
                  <a:cubicBezTo>
                    <a:pt x="33814" y="8454"/>
                    <a:pt x="33207" y="8145"/>
                    <a:pt x="32826" y="7621"/>
                  </a:cubicBezTo>
                  <a:lnTo>
                    <a:pt x="29076" y="1120"/>
                  </a:lnTo>
                  <a:cubicBezTo>
                    <a:pt x="28254" y="1"/>
                    <a:pt x="26587" y="1"/>
                    <a:pt x="25778" y="1120"/>
                  </a:cubicBezTo>
                  <a:lnTo>
                    <a:pt x="22027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49" y="8454"/>
                  </a:lnTo>
                  <a:cubicBezTo>
                    <a:pt x="2263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1" name="Google Shape;999;p35">
              <a:extLst>
                <a:ext uri="{FF2B5EF4-FFF2-40B4-BE49-F238E27FC236}">
                  <a16:creationId xmlns:a16="http://schemas.microsoft.com/office/drawing/2014/main" id="{4F5CD511-FB43-2BB3-A405-538A18A952DC}"/>
                </a:ext>
              </a:extLst>
            </p:cNvPr>
            <p:cNvSpPr/>
            <p:nvPr/>
          </p:nvSpPr>
          <p:spPr>
            <a:xfrm>
              <a:off x="5753863" y="3354975"/>
              <a:ext cx="110150" cy="130100"/>
            </a:xfrm>
            <a:custGeom>
              <a:avLst/>
              <a:gdLst/>
              <a:ahLst/>
              <a:cxnLst/>
              <a:rect l="l" t="t" r="r" b="b"/>
              <a:pathLst>
                <a:path w="4406" h="5204" extrusionOk="0">
                  <a:moveTo>
                    <a:pt x="2287" y="0"/>
                  </a:moveTo>
                  <a:lnTo>
                    <a:pt x="1072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82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62" name="Google Shape;1000;p35">
            <a:extLst>
              <a:ext uri="{FF2B5EF4-FFF2-40B4-BE49-F238E27FC236}">
                <a16:creationId xmlns:a16="http://schemas.microsoft.com/office/drawing/2014/main" id="{F6A54133-E4BE-37A0-55EC-06A35AC8F07D}"/>
              </a:ext>
            </a:extLst>
          </p:cNvPr>
          <p:cNvGrpSpPr/>
          <p:nvPr/>
        </p:nvGrpSpPr>
        <p:grpSpPr>
          <a:xfrm>
            <a:off x="9071773" y="2500235"/>
            <a:ext cx="63625" cy="375197"/>
            <a:chOff x="6839113" y="1736900"/>
            <a:chExt cx="44675" cy="263450"/>
          </a:xfrm>
        </p:grpSpPr>
        <p:sp>
          <p:nvSpPr>
            <p:cNvPr id="63" name="Google Shape;1001;p35">
              <a:extLst>
                <a:ext uri="{FF2B5EF4-FFF2-40B4-BE49-F238E27FC236}">
                  <a16:creationId xmlns:a16="http://schemas.microsoft.com/office/drawing/2014/main" id="{633D9793-A361-1901-BB97-78ECD27CB508}"/>
                </a:ext>
              </a:extLst>
            </p:cNvPr>
            <p:cNvSpPr/>
            <p:nvPr/>
          </p:nvSpPr>
          <p:spPr>
            <a:xfrm>
              <a:off x="68391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4" name="Google Shape;1002;p35">
              <a:extLst>
                <a:ext uri="{FF2B5EF4-FFF2-40B4-BE49-F238E27FC236}">
                  <a16:creationId xmlns:a16="http://schemas.microsoft.com/office/drawing/2014/main" id="{F4207350-6489-CB3C-25DC-DF3D3830A619}"/>
                </a:ext>
              </a:extLst>
            </p:cNvPr>
            <p:cNvSpPr/>
            <p:nvPr/>
          </p:nvSpPr>
          <p:spPr>
            <a:xfrm>
              <a:off x="68391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5" name="Google Shape;1003;p35">
              <a:extLst>
                <a:ext uri="{FF2B5EF4-FFF2-40B4-BE49-F238E27FC236}">
                  <a16:creationId xmlns:a16="http://schemas.microsoft.com/office/drawing/2014/main" id="{AEB1E6FA-EC8F-4EDE-AA75-F629221F8DAE}"/>
                </a:ext>
              </a:extLst>
            </p:cNvPr>
            <p:cNvSpPr/>
            <p:nvPr/>
          </p:nvSpPr>
          <p:spPr>
            <a:xfrm>
              <a:off x="68391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6" name="Google Shape;1004;p35">
              <a:extLst>
                <a:ext uri="{FF2B5EF4-FFF2-40B4-BE49-F238E27FC236}">
                  <a16:creationId xmlns:a16="http://schemas.microsoft.com/office/drawing/2014/main" id="{AC1CE98E-90F8-079A-28AA-B7A9EBDEC9A0}"/>
                </a:ext>
              </a:extLst>
            </p:cNvPr>
            <p:cNvSpPr/>
            <p:nvPr/>
          </p:nvSpPr>
          <p:spPr>
            <a:xfrm>
              <a:off x="68391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1027" name="TextBox 37">
            <a:extLst>
              <a:ext uri="{FF2B5EF4-FFF2-40B4-BE49-F238E27FC236}">
                <a16:creationId xmlns:a16="http://schemas.microsoft.com/office/drawing/2014/main" id="{35A6025D-6655-3E90-5179-6400759D2570}"/>
              </a:ext>
            </a:extLst>
          </p:cNvPr>
          <p:cNvSpPr txBox="1"/>
          <p:nvPr/>
        </p:nvSpPr>
        <p:spPr>
          <a:xfrm>
            <a:off x="848663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Conversational AI</a:t>
            </a:r>
          </a:p>
          <a:p>
            <a:pPr algn="ctr"/>
            <a:r>
              <a:rPr lang="en-US" dirty="0"/>
              <a:t>Enterprise chatbot deployments</a:t>
            </a:r>
            <a:br>
              <a:rPr lang="en-US" dirty="0"/>
            </a:br>
            <a:r>
              <a:rPr lang="en-US" dirty="0"/>
              <a:t>Workflow-driven automation</a:t>
            </a:r>
            <a:br>
              <a:rPr lang="en-US" dirty="0"/>
            </a:br>
            <a:r>
              <a:rPr lang="en-US" dirty="0"/>
              <a:t>CRM / ITSM integrations</a:t>
            </a:r>
          </a:p>
        </p:txBody>
      </p:sp>
      <p:sp>
        <p:nvSpPr>
          <p:cNvPr id="1028" name="TextBox 37">
            <a:extLst>
              <a:ext uri="{FF2B5EF4-FFF2-40B4-BE49-F238E27FC236}">
                <a16:creationId xmlns:a16="http://schemas.microsoft.com/office/drawing/2014/main" id="{B394B3AD-7578-B750-5FC5-7C484DEE20EF}"/>
              </a:ext>
            </a:extLst>
          </p:cNvPr>
          <p:cNvSpPr txBox="1"/>
          <p:nvPr/>
        </p:nvSpPr>
        <p:spPr>
          <a:xfrm>
            <a:off x="3070505" y="1513265"/>
            <a:ext cx="3198706" cy="95410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2"/>
                </a:solidFill>
              </a:rPr>
              <a:t>Knowledge AI &amp; NLP</a:t>
            </a:r>
          </a:p>
          <a:p>
            <a:pPr algn="ctr"/>
            <a:r>
              <a:rPr lang="en-US" dirty="0"/>
              <a:t>Enterprise search</a:t>
            </a:r>
            <a:br>
              <a:rPr lang="en-US" dirty="0"/>
            </a:br>
            <a:r>
              <a:rPr lang="en-US" dirty="0"/>
              <a:t>Document summarization</a:t>
            </a:r>
            <a:br>
              <a:rPr lang="en-US" dirty="0"/>
            </a:br>
            <a:r>
              <a:rPr lang="en-US" dirty="0"/>
              <a:t>Context-aware responses</a:t>
            </a:r>
            <a:endParaRPr lang="en-US" sz="1400" dirty="0"/>
          </a:p>
        </p:txBody>
      </p:sp>
      <p:sp>
        <p:nvSpPr>
          <p:cNvPr id="1030" name="TextBox 37">
            <a:extLst>
              <a:ext uri="{FF2B5EF4-FFF2-40B4-BE49-F238E27FC236}">
                <a16:creationId xmlns:a16="http://schemas.microsoft.com/office/drawing/2014/main" id="{7D6EE420-C93A-A416-EDBC-479A16CE102F}"/>
              </a:ext>
            </a:extLst>
          </p:cNvPr>
          <p:cNvSpPr txBox="1"/>
          <p:nvPr/>
        </p:nvSpPr>
        <p:spPr>
          <a:xfrm>
            <a:off x="5275161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Agentic AI</a:t>
            </a:r>
          </a:p>
          <a:p>
            <a:pPr algn="ctr"/>
            <a:r>
              <a:rPr lang="en-US" sz="1400" dirty="0"/>
              <a:t> Multi-step task execution</a:t>
            </a:r>
          </a:p>
          <a:p>
            <a:pPr algn="ctr"/>
            <a:r>
              <a:rPr lang="en-US" sz="1400" dirty="0"/>
              <a:t>Cross-system automation</a:t>
            </a:r>
          </a:p>
          <a:p>
            <a:pPr algn="ctr"/>
            <a:r>
              <a:rPr lang="en-US" sz="1400" dirty="0"/>
              <a:t>AI-driven workflow orchestration</a:t>
            </a:r>
          </a:p>
        </p:txBody>
      </p:sp>
      <p:sp>
        <p:nvSpPr>
          <p:cNvPr id="1032" name="TextBox 37">
            <a:extLst>
              <a:ext uri="{FF2B5EF4-FFF2-40B4-BE49-F238E27FC236}">
                <a16:creationId xmlns:a16="http://schemas.microsoft.com/office/drawing/2014/main" id="{E8C10AA9-E7D0-441A-6E37-4AFD3F1E0B8A}"/>
              </a:ext>
            </a:extLst>
          </p:cNvPr>
          <p:cNvSpPr txBox="1"/>
          <p:nvPr/>
        </p:nvSpPr>
        <p:spPr>
          <a:xfrm>
            <a:off x="7517776" y="1297821"/>
            <a:ext cx="3198706" cy="116955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Platform Capabilities</a:t>
            </a:r>
          </a:p>
          <a:p>
            <a:pPr algn="ctr"/>
            <a:r>
              <a:rPr lang="en-US" sz="1400" dirty="0"/>
              <a:t>Multi-LLM support</a:t>
            </a:r>
          </a:p>
          <a:p>
            <a:pPr algn="ctr"/>
            <a:r>
              <a:rPr lang="en-US" sz="1400" dirty="0"/>
              <a:t>Secure enterprise deployment</a:t>
            </a:r>
          </a:p>
          <a:p>
            <a:pPr algn="ctr"/>
            <a:r>
              <a:rPr lang="en-US" sz="1400" dirty="0"/>
              <a:t>API-first integrations</a:t>
            </a:r>
          </a:p>
          <a:p>
            <a:pPr algn="ctr"/>
            <a:r>
              <a:rPr lang="en-US" sz="1400" dirty="0"/>
              <a:t>Governance &amp; audit logging</a:t>
            </a:r>
          </a:p>
        </p:txBody>
      </p:sp>
      <p:pic>
        <p:nvPicPr>
          <p:cNvPr id="1034" name="Picture 2" descr="SmartBots AI | LinkedIn">
            <a:extLst>
              <a:ext uri="{FF2B5EF4-FFF2-40B4-BE49-F238E27FC236}">
                <a16:creationId xmlns:a16="http://schemas.microsoft.com/office/drawing/2014/main" id="{96035ACF-4941-900B-26BE-B5B4B4B4E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7094" y="5125430"/>
            <a:ext cx="889148" cy="889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30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1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Modern Data Platform on Snowflake</a:t>
            </a:r>
            <a:endParaRPr dirty="0"/>
          </a:p>
        </p:txBody>
      </p:sp>
      <p:sp>
        <p:nvSpPr>
          <p:cNvPr id="361" name="Google Shape;361;p1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grpSp>
        <p:nvGrpSpPr>
          <p:cNvPr id="362" name="Google Shape;362;p11"/>
          <p:cNvGrpSpPr/>
          <p:nvPr/>
        </p:nvGrpSpPr>
        <p:grpSpPr>
          <a:xfrm>
            <a:off x="1210953" y="1274626"/>
            <a:ext cx="2970399" cy="3401926"/>
            <a:chOff x="1210953" y="1457019"/>
            <a:chExt cx="2970399" cy="3401926"/>
          </a:xfrm>
        </p:grpSpPr>
        <p:grpSp>
          <p:nvGrpSpPr>
            <p:cNvPr id="363" name="Google Shape;363;p11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364" name="Google Shape;364;p11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11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66" name="Google Shape;366;p11"/>
            <p:cNvSpPr txBox="1"/>
            <p:nvPr/>
          </p:nvSpPr>
          <p:spPr>
            <a:xfrm>
              <a:off x="1480157" y="1904290"/>
              <a:ext cx="2701195" cy="2954655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global clean energy platform managing solar, wind, and storage data faced data fragmentation across </a:t>
              </a:r>
              <a:r>
                <a:rPr lang="en-US" sz="1600" b="0" i="0" u="none" strike="noStrike" cap="none" err="1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InfluxDB</a:t>
              </a: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, SQL Server, and analytics databases.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Historical and daily data streams were siloed, and reporting was slow, error-prone, and inconsistent across teams.</a:t>
              </a: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67" name="Google Shape;367;p11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68" name="Google Shape;368;p11"/>
          <p:cNvGrpSpPr/>
          <p:nvPr/>
        </p:nvGrpSpPr>
        <p:grpSpPr>
          <a:xfrm>
            <a:off x="4803773" y="1274626"/>
            <a:ext cx="7337036" cy="2122736"/>
            <a:chOff x="4803773" y="1274626"/>
            <a:chExt cx="7337036" cy="2122736"/>
          </a:xfrm>
        </p:grpSpPr>
        <p:grpSp>
          <p:nvGrpSpPr>
            <p:cNvPr id="369" name="Google Shape;369;p11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370" name="Google Shape;370;p11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1" name="Google Shape;371;p11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" name="Google Shape;372;p11"/>
            <p:cNvSpPr txBox="1"/>
            <p:nvPr/>
          </p:nvSpPr>
          <p:spPr>
            <a:xfrm>
              <a:off x="5094822" y="1750757"/>
              <a:ext cx="7045987" cy="16466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designed a robust data pipeline and reporting layer using Snowflake.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Migrated 35M+ records from 3 source systems in minutes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Set up daily incremental pipelines with limitless scaling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Eliminated data silos with a single reporting layer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Enabled real-time access via a user-friendly, low-code interface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Built secure, configurable metadata-driven architecture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3" name="Google Shape;373;p11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74" name="Google Shape;374;p11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375" name="Google Shape;375;p11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11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Clean, consolidated energy data at scale — powering faster decisions and enterprise visibility.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🔄 70% faster reporting times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🧩 3 data sources unified into a single source of truth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📊 Real-time access via low-code platform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💵 30% cost reduction in data infrastructure </a:t>
              </a:r>
              <a:endParaRPr sz="14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7" name="Google Shape;377;p11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4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Real-Time Invoice Reconciliation at Scale</a:t>
            </a:r>
            <a:endParaRPr dirty="0"/>
          </a:p>
        </p:txBody>
      </p:sp>
      <p:sp>
        <p:nvSpPr>
          <p:cNvPr id="430" name="Google Shape;430;p14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grpSp>
        <p:nvGrpSpPr>
          <p:cNvPr id="431" name="Google Shape;431;p14"/>
          <p:cNvGrpSpPr/>
          <p:nvPr/>
        </p:nvGrpSpPr>
        <p:grpSpPr>
          <a:xfrm>
            <a:off x="1210953" y="1274626"/>
            <a:ext cx="2970399" cy="3894369"/>
            <a:chOff x="1210953" y="1457019"/>
            <a:chExt cx="2970399" cy="3894369"/>
          </a:xfrm>
        </p:grpSpPr>
        <p:grpSp>
          <p:nvGrpSpPr>
            <p:cNvPr id="432" name="Google Shape;432;p14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33" name="Google Shape;433;p14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4" name="Google Shape;434;p14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35" name="Google Shape;435;p14"/>
            <p:cNvSpPr txBox="1"/>
            <p:nvPr/>
          </p:nvSpPr>
          <p:spPr>
            <a:xfrm>
              <a:off x="1480157" y="1904290"/>
              <a:ext cx="2701195" cy="3447098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major auto group was drowning in mismatched invoice formats.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were manually reconciling Excel, PDF, and CSV invoices — all structured differently across OEMs.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This created delays, manual rework, and frequent errors that impacted payment cycles and reporting.</a:t>
              </a:r>
              <a:endParaRPr/>
            </a:p>
          </p:txBody>
        </p:sp>
        <p:sp>
          <p:nvSpPr>
            <p:cNvPr id="436" name="Google Shape;436;p14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37" name="Google Shape;437;p14"/>
          <p:cNvGrpSpPr/>
          <p:nvPr/>
        </p:nvGrpSpPr>
        <p:grpSpPr>
          <a:xfrm>
            <a:off x="4803773" y="1274626"/>
            <a:ext cx="7337036" cy="2467445"/>
            <a:chOff x="4803773" y="1274626"/>
            <a:chExt cx="7337036" cy="2467445"/>
          </a:xfrm>
        </p:grpSpPr>
        <p:grpSp>
          <p:nvGrpSpPr>
            <p:cNvPr id="438" name="Google Shape;438;p14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39" name="Google Shape;439;p14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0" name="Google Shape;440;p14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41" name="Google Shape;441;p14"/>
            <p:cNvSpPr txBox="1"/>
            <p:nvPr/>
          </p:nvSpPr>
          <p:spPr>
            <a:xfrm>
              <a:off x="5094822" y="1750757"/>
              <a:ext cx="7045987" cy="19913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deployed a GenAI-powered invoice reconciliation solution using OCR, NLP, and scalable cloud infrastructure.</a:t>
              </a:r>
              <a:endParaRPr sz="1600" b="0" i="0" u="none" strike="noStrike" cap="none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Automatically processed and interpreted invoices across varied formats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Standardized terminology across manufacturers (e.g., "Reference No." vs "Invoice ID")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Matched invoices against multiple external reports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Designed a low-latency, user-friendly UI with sub-2s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Deployed on AWS for scale and flexibility</a:t>
              </a:r>
              <a:endParaRPr/>
            </a:p>
          </p:txBody>
        </p:sp>
        <p:sp>
          <p:nvSpPr>
            <p:cNvPr id="442" name="Google Shape;442;p14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43" name="Google Shape;443;p14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44" name="Google Shape;444;p14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14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now process thousands of invoices in real time — with unmatched speed and accuracy.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⚡99.6% auto-reconciliation rate across 7,970 invoices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⏱️600+ hours saved monthly by eliminating manual entry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📉20% reduction in payment delays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📈15% improvement in bookkeeping accuracy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46" name="Google Shape;446;p14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Voice-Enabled Sales Assistant for Field Reps</a:t>
            </a:r>
            <a:endParaRPr dirty="0"/>
          </a:p>
        </p:txBody>
      </p:sp>
      <p:sp>
        <p:nvSpPr>
          <p:cNvPr id="453" name="Google Shape;453;p1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grpSp>
        <p:nvGrpSpPr>
          <p:cNvPr id="454" name="Google Shape;454;p15"/>
          <p:cNvGrpSpPr/>
          <p:nvPr/>
        </p:nvGrpSpPr>
        <p:grpSpPr>
          <a:xfrm>
            <a:off x="1210953" y="1274626"/>
            <a:ext cx="2970399" cy="2909484"/>
            <a:chOff x="1210953" y="1457019"/>
            <a:chExt cx="2970399" cy="2909484"/>
          </a:xfrm>
        </p:grpSpPr>
        <p:grpSp>
          <p:nvGrpSpPr>
            <p:cNvPr id="455" name="Google Shape;455;p15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56" name="Google Shape;456;p15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7" name="Google Shape;457;p15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58" name="Google Shape;458;p15"/>
            <p:cNvSpPr txBox="1"/>
            <p:nvPr/>
          </p:nvSpPr>
          <p:spPr>
            <a:xfrm>
              <a:off x="1480157" y="1904290"/>
              <a:ext cx="2701195" cy="2462213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at a global healthcare tech firm had difficulty accessing product and customer data.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Time was lost navigating portals or calling HQ — slowing down client engagement and reducing sales efficiency.</a:t>
              </a:r>
              <a:endParaRPr/>
            </a:p>
          </p:txBody>
        </p:sp>
        <p:sp>
          <p:nvSpPr>
            <p:cNvPr id="459" name="Google Shape;459;p15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0" name="Google Shape;460;p15"/>
          <p:cNvGrpSpPr/>
          <p:nvPr/>
        </p:nvGrpSpPr>
        <p:grpSpPr>
          <a:xfrm>
            <a:off x="4803773" y="1274626"/>
            <a:ext cx="7337036" cy="1984236"/>
            <a:chOff x="4803773" y="1274626"/>
            <a:chExt cx="7337036" cy="1984236"/>
          </a:xfrm>
        </p:grpSpPr>
        <p:grpSp>
          <p:nvGrpSpPr>
            <p:cNvPr id="461" name="Google Shape;461;p15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62" name="Google Shape;462;p15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3" name="Google Shape;463;p15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64" name="Google Shape;464;p15"/>
            <p:cNvSpPr txBox="1"/>
            <p:nvPr/>
          </p:nvSpPr>
          <p:spPr>
            <a:xfrm>
              <a:off x="5094822" y="1750757"/>
              <a:ext cx="7045987" cy="15081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built an AI-powered virtual sales assistant using Amazon Lex.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Voice-enabled mobile app for real-time rep support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Integrated with Salesforce CRM, ERP, and enterprise KB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Used Amazon Lambda and RDS to drive dynamic conversations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Delivered intuitive natural language experience with sub-second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Fully integrated with legacy and modern systems</a:t>
              </a:r>
              <a:endParaRPr/>
            </a:p>
          </p:txBody>
        </p:sp>
        <p:sp>
          <p:nvSpPr>
            <p:cNvPr id="465" name="Google Shape;465;p15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6" name="Google Shape;466;p15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67" name="Google Shape;467;p15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8" name="Google Shape;468;p15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now get answers on the go — faster decisions, smarter conversations, better outcomes.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🗣️ Voice assistant integrated with all core systems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 Faster rep onboarding and daily productivity gains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🔍 No more digging — answers in seconds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🤖 Seamless user experience powered by conversational AI 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69" name="Google Shape;469;p15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50"/>
          <p:cNvSpPr txBox="1"/>
          <p:nvPr/>
        </p:nvSpPr>
        <p:spPr>
          <a:xfrm>
            <a:off x="1324660" y="3907064"/>
            <a:ext cx="9542681" cy="271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840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Corporate Office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8751  Collin McKinney Pkwy, Suite </a:t>
            </a:r>
            <a:r>
              <a:rPr lang="en-US" kern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801,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McKinney, TX 75070, USA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Email: </a:t>
            </a:r>
            <a:r>
              <a:rPr kumimoji="0" lang="en-US" sz="140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  <a:hlinkClick r:id="rId3"/>
              </a:rPr>
              <a:t>info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@palni.com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|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Phone: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+1- 469-712-4178 |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Website: 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4"/>
              </a:rPr>
              <a:t>www.palni.com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7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Locations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Techno Pearl, Plot No. 6/2 &amp; 6/3, HUDA Techno Enclave,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3rd Floor, Building No 21, Raheja Mindspace,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6th Floor,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iLabs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Building,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2539" marR="0" lvl="0" indent="0" algn="ctr" defTabSz="914400" rtl="0" eaLnBrk="1" fontAlgn="auto" latinLnBrk="0" hangingPunct="1">
              <a:lnSpc>
                <a:spcPct val="100000"/>
              </a:lnSpc>
              <a:spcBef>
                <a:spcPts val="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109 S. Roselle Rd. Suite 201 Schaumburg, IL, 60193, USA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05" name="Google Shape;805;p50"/>
          <p:cNvSpPr/>
          <p:nvPr/>
        </p:nvSpPr>
        <p:spPr>
          <a:xfrm>
            <a:off x="3600468" y="4851384"/>
            <a:ext cx="5406675" cy="129617"/>
          </a:xfrm>
          <a:custGeom>
            <a:avLst/>
            <a:gdLst/>
            <a:ahLst/>
            <a:cxnLst/>
            <a:rect l="l" t="t" r="r" b="b"/>
            <a:pathLst>
              <a:path w="8114030" h="120000" extrusionOk="0">
                <a:moveTo>
                  <a:pt x="0" y="0"/>
                </a:moveTo>
                <a:lnTo>
                  <a:pt x="8113687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6" name="Google Shape;806;p50"/>
          <p:cNvSpPr/>
          <p:nvPr/>
        </p:nvSpPr>
        <p:spPr>
          <a:xfrm>
            <a:off x="3583055" y="6041873"/>
            <a:ext cx="5406675" cy="0"/>
          </a:xfrm>
          <a:custGeom>
            <a:avLst/>
            <a:gdLst/>
            <a:ahLst/>
            <a:cxnLst/>
            <a:rect l="l" t="t" r="r" b="b"/>
            <a:pathLst>
              <a:path w="8112125" h="120000" extrusionOk="0">
                <a:moveTo>
                  <a:pt x="0" y="0"/>
                </a:moveTo>
                <a:lnTo>
                  <a:pt x="8112118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7" name="Google Shape;807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88" y="895"/>
            <a:ext cx="12188826" cy="3642323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50"/>
          <p:cNvSpPr txBox="1"/>
          <p:nvPr/>
        </p:nvSpPr>
        <p:spPr>
          <a:xfrm>
            <a:off x="3300401" y="3375907"/>
            <a:ext cx="5591201" cy="479921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txBody>
          <a:bodyPr spcFirstLastPara="1" wrap="square" lIns="121850" tIns="121850" rIns="121850" bIns="1218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32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Fira Sans Extra Condensed SemiBold"/>
                <a:cs typeface="Fira Sans Extra Condensed SemiBold"/>
                <a:sym typeface="Fira Sans Extra Condensed SemiBold"/>
              </a:rPr>
              <a:t>THANK YOU</a:t>
            </a: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809" name="Google Shape;809;p5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914628" y="6041873"/>
            <a:ext cx="2078561" cy="7167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78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9290F8-5AB1-B324-44AE-B614F57F93AB}"/>
              </a:ext>
            </a:extLst>
          </p:cNvPr>
          <p:cNvSpPr/>
          <p:nvPr/>
        </p:nvSpPr>
        <p:spPr>
          <a:xfrm>
            <a:off x="-501445" y="2481943"/>
            <a:ext cx="10107561" cy="2840199"/>
          </a:xfrm>
          <a:prstGeom prst="roundRect">
            <a:avLst/>
          </a:prstGeom>
          <a:gradFill flip="none" rotWithShape="1">
            <a:gsLst>
              <a:gs pos="50000">
                <a:srgbClr val="F5D1CB">
                  <a:alpha val="76000"/>
                </a:srgbClr>
              </a:gs>
              <a:gs pos="18000">
                <a:schemeClr val="bg1"/>
              </a:gs>
              <a:gs pos="100000">
                <a:schemeClr val="accent1">
                  <a:lumMod val="30000"/>
                  <a:lumOff val="70000"/>
                  <a:alpha val="37000"/>
                </a:schemeClr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Google Shape;95;p1"/>
          <p:cNvSpPr txBox="1">
            <a:spLocks noGrp="1"/>
          </p:cNvSpPr>
          <p:nvPr>
            <p:ph type="ctrTitle"/>
          </p:nvPr>
        </p:nvSpPr>
        <p:spPr>
          <a:xfrm>
            <a:off x="461211" y="204531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algn="l"/>
            <a:r>
              <a:rPr lang="en-US" dirty="0"/>
              <a:t>AI, Custom Software Development </a:t>
            </a:r>
            <a:br>
              <a:rPr lang="en-US" dirty="0"/>
            </a:br>
            <a:r>
              <a:rPr lang="en-US" dirty="0"/>
              <a:t>&amp; Salesforce Capabilities</a:t>
            </a:r>
            <a:endParaRPr dirty="0"/>
          </a:p>
        </p:txBody>
      </p:sp>
      <p:sp>
        <p:nvSpPr>
          <p:cNvPr id="96" name="Google Shape;96;p1"/>
          <p:cNvSpPr txBox="1">
            <a:spLocks noGrp="1"/>
          </p:cNvSpPr>
          <p:nvPr>
            <p:ph type="subTitle" idx="1"/>
          </p:nvPr>
        </p:nvSpPr>
        <p:spPr>
          <a:xfrm>
            <a:off x="0" y="4685406"/>
            <a:ext cx="10003971" cy="6367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b="1" dirty="0"/>
              <a:t>Clear. Focused. A Boutique Technology Partner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Go Deepest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Three of our strongest practices, selected for where we add the most to your customers.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  <p:sp>
        <p:nvSpPr>
          <p:cNvPr id="601" name="Card"/>
          <p:cNvSpPr/>
          <p:nvPr/>
        </p:nvSpPr>
        <p:spPr>
          <a:xfrm>
            <a:off x="502920" y="1828800"/>
            <a:ext cx="36118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CE7E4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602" name="Card Header"/>
          <p:cNvSpPr/>
          <p:nvPr/>
        </p:nvSpPr>
        <p:spPr>
          <a:xfrm>
            <a:off x="502920" y="1828800"/>
            <a:ext cx="3611880" cy="365760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FFFFF"/>
                </a:solidFill>
                <a:latin typeface="Arial"/>
                <a:cs typeface="Arial"/>
              </a:rPr>
              <a:t>FOCUS AREA 01</a:t>
            </a:r>
          </a:p>
        </p:txBody>
      </p:sp>
      <p:sp>
        <p:nvSpPr>
          <p:cNvPr id="603" name="Shape"/>
          <p:cNvSpPr txBox="1"/>
          <p:nvPr/>
        </p:nvSpPr>
        <p:spPr>
          <a:xfrm>
            <a:off x="731520" y="2377440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58A2D"/>
                </a:solidFill>
                <a:latin typeface="Arial"/>
                <a:cs typeface="Arial"/>
              </a:rPr>
              <a:t>AI &amp; Data</a:t>
            </a:r>
          </a:p>
        </p:txBody>
      </p:sp>
      <p:sp>
        <p:nvSpPr>
          <p:cNvPr id="604" name="Shape"/>
          <p:cNvSpPr txBox="1"/>
          <p:nvPr/>
        </p:nvSpPr>
        <p:spPr>
          <a:xfrm>
            <a:off x="777240" y="2926080"/>
            <a:ext cx="3063240" cy="2926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Modern data platforms and production AI — from lakehouse architecture to enterprise AI agents.</a:t>
            </a:r>
          </a:p>
          <a:p>
            <a:pPr algn="l">
              <a:spcAft>
                <a:spcPts val="50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Snowflake and Databricks platform builds and migrations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AI agents, RAG and document intelligence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Data governance, security and AI readiness</a:t>
            </a:r>
          </a:p>
        </p:txBody>
      </p:sp>
      <p:sp>
        <p:nvSpPr>
          <p:cNvPr id="605" name="Card"/>
          <p:cNvSpPr/>
          <p:nvPr/>
        </p:nvSpPr>
        <p:spPr>
          <a:xfrm>
            <a:off x="4288536" y="1828800"/>
            <a:ext cx="36118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CE7E4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606" name="Card Header"/>
          <p:cNvSpPr/>
          <p:nvPr/>
        </p:nvSpPr>
        <p:spPr>
          <a:xfrm>
            <a:off x="4288536" y="1828800"/>
            <a:ext cx="3611880" cy="365760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FFFFF"/>
                </a:solidFill>
                <a:latin typeface="Arial"/>
                <a:cs typeface="Arial"/>
              </a:rPr>
              <a:t>FOCUS AREA 02</a:t>
            </a:r>
          </a:p>
        </p:txBody>
      </p:sp>
      <p:sp>
        <p:nvSpPr>
          <p:cNvPr id="607" name="Shape"/>
          <p:cNvSpPr txBox="1"/>
          <p:nvPr/>
        </p:nvSpPr>
        <p:spPr>
          <a:xfrm>
            <a:off x="4517136" y="2377440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912D1B"/>
                </a:solidFill>
                <a:latin typeface="Arial"/>
                <a:cs typeface="Arial"/>
              </a:rPr>
              <a:t>Custom Software Development</a:t>
            </a:r>
          </a:p>
        </p:txBody>
      </p:sp>
      <p:sp>
        <p:nvSpPr>
          <p:cNvPr id="608" name="Shape"/>
          <p:cNvSpPr txBox="1"/>
          <p:nvPr/>
        </p:nvSpPr>
        <p:spPr>
          <a:xfrm>
            <a:off x="4562856" y="2926080"/>
            <a:ext cx="3063240" cy="2926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Senior-led engineering for the applications and integrations off-the-shelf platforms can’t cover.</a:t>
            </a:r>
          </a:p>
          <a:p>
            <a:pPr algn="l">
              <a:spcAft>
                <a:spcPts val="500"/>
              </a:spcAft>
              <a:buNone/>
            </a:pPr>
            <a:r>
              <a:rPr lang="en-US" sz="1100" b="1" i="0" spc="150" dirty="0">
                <a:solidFill>
                  <a:srgbClr val="C58A2D"/>
                </a:solidFill>
                <a:latin typeface="Arial"/>
                <a:cs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Enterprise backends in Java, .NET, Python and Node.js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Native and cross-platform mobile apps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Integrations and APIs across enterprise platforms</a:t>
            </a:r>
          </a:p>
        </p:txBody>
      </p:sp>
      <p:sp>
        <p:nvSpPr>
          <p:cNvPr id="609" name="Card"/>
          <p:cNvSpPr/>
          <p:nvPr/>
        </p:nvSpPr>
        <p:spPr>
          <a:xfrm>
            <a:off x="8074152" y="1828800"/>
            <a:ext cx="36118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CE7E4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610" name="Card Header"/>
          <p:cNvSpPr/>
          <p:nvPr/>
        </p:nvSpPr>
        <p:spPr>
          <a:xfrm>
            <a:off x="8074152" y="1828800"/>
            <a:ext cx="3611880" cy="365760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FFFFF"/>
                </a:solidFill>
                <a:latin typeface="Arial"/>
                <a:cs typeface="Arial"/>
              </a:rPr>
              <a:t>FOCUS AREA 03</a:t>
            </a:r>
          </a:p>
        </p:txBody>
      </p:sp>
      <p:sp>
        <p:nvSpPr>
          <p:cNvPr id="611" name="Shape"/>
          <p:cNvSpPr txBox="1"/>
          <p:nvPr/>
        </p:nvSpPr>
        <p:spPr>
          <a:xfrm>
            <a:off x="8302752" y="2377440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58A2D"/>
                </a:solidFill>
                <a:latin typeface="Arial"/>
                <a:cs typeface="Arial"/>
              </a:rPr>
              <a:t>Salesforce</a:t>
            </a:r>
          </a:p>
        </p:txBody>
      </p:sp>
      <p:sp>
        <p:nvSpPr>
          <p:cNvPr id="612" name="Shape"/>
          <p:cNvSpPr txBox="1"/>
          <p:nvPr/>
        </p:nvSpPr>
        <p:spPr>
          <a:xfrm>
            <a:off x="8348472" y="2926080"/>
            <a:ext cx="3063240" cy="2926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Certified Salesforce delivery across core clouds, Agentforce and industry solutions.</a:t>
            </a:r>
          </a:p>
          <a:p>
            <a:pPr algn="l">
              <a:spcAft>
                <a:spcPts val="50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Sales, Service and Experience Cloud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Agentforce and workflow automation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Health Cloud, CPQ and CRM data foundations</a:t>
            </a:r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Proven Partner Delivery: Healthcare JSM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JSM project consolidation for a healthcare provider, delivered as a partner.</a:t>
            </a:r>
          </a:p>
        </p:txBody>
      </p:sp>
      <p:sp>
        <p:nvSpPr>
          <p:cNvPr id="701" name="Cap Row Bg 1"/>
          <p:cNvSpPr/>
          <p:nvPr/>
        </p:nvSpPr>
        <p:spPr>
          <a:xfrm>
            <a:off x="502920" y="189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2" name="Cap Row Bar 1"/>
          <p:cNvSpPr/>
          <p:nvPr/>
        </p:nvSpPr>
        <p:spPr>
          <a:xfrm>
            <a:off x="502920" y="189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3" name="Cap Tag 1"/>
          <p:cNvSpPr txBox="1"/>
          <p:nvPr/>
        </p:nvSpPr>
        <p:spPr>
          <a:xfrm>
            <a:off x="722920" y="202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01</a:t>
            </a:r>
          </a:p>
        </p:txBody>
      </p:sp>
      <p:sp>
        <p:nvSpPr>
          <p:cNvPr id="704" name="Cap Headline 1"/>
          <p:cNvSpPr txBox="1"/>
          <p:nvPr/>
        </p:nvSpPr>
        <p:spPr>
          <a:xfrm>
            <a:off x="722920" y="226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Discovery &amp; Workflow Design</a:t>
            </a:r>
          </a:p>
        </p:txBody>
      </p:sp>
      <p:sp>
        <p:nvSpPr>
          <p:cNvPr id="705" name="Cap Desc 1"/>
          <p:cNvSpPr txBox="1"/>
          <p:nvPr/>
        </p:nvSpPr>
        <p:spPr>
          <a:xfrm>
            <a:off x="4996340" y="202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Current-state assessment, discovery, and service management process design.</a:t>
            </a:r>
          </a:p>
        </p:txBody>
      </p:sp>
      <p:sp>
        <p:nvSpPr>
          <p:cNvPr id="706" name="Cap Row Bg 2"/>
          <p:cNvSpPr/>
          <p:nvPr/>
        </p:nvSpPr>
        <p:spPr>
          <a:xfrm>
            <a:off x="502920" y="288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7" name="Cap Row Bar 2"/>
          <p:cNvSpPr/>
          <p:nvPr/>
        </p:nvSpPr>
        <p:spPr>
          <a:xfrm>
            <a:off x="502920" y="288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8" name="Cap Tag 2"/>
          <p:cNvSpPr txBox="1"/>
          <p:nvPr/>
        </p:nvSpPr>
        <p:spPr>
          <a:xfrm>
            <a:off x="722920" y="301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02</a:t>
            </a:r>
          </a:p>
        </p:txBody>
      </p:sp>
      <p:sp>
        <p:nvSpPr>
          <p:cNvPr id="709" name="Cap Headline 2"/>
          <p:cNvSpPr txBox="1"/>
          <p:nvPr/>
        </p:nvSpPr>
        <p:spPr>
          <a:xfrm>
            <a:off x="722920" y="325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Security &amp; Access Workflows</a:t>
            </a:r>
          </a:p>
        </p:txBody>
      </p:sp>
      <p:sp>
        <p:nvSpPr>
          <p:cNvPr id="710" name="Cap Desc 2"/>
          <p:cNvSpPr txBox="1"/>
          <p:nvPr/>
        </p:nvSpPr>
        <p:spPr>
          <a:xfrm>
            <a:off x="4996340" y="301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Security incident and request workflows, approval gates and permission schemes.</a:t>
            </a:r>
          </a:p>
        </p:txBody>
      </p:sp>
      <p:sp>
        <p:nvSpPr>
          <p:cNvPr id="711" name="Cap Row Bg 3"/>
          <p:cNvSpPr/>
          <p:nvPr/>
        </p:nvSpPr>
        <p:spPr>
          <a:xfrm>
            <a:off x="502920" y="387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Cap Row Bar 3"/>
          <p:cNvSpPr/>
          <p:nvPr/>
        </p:nvSpPr>
        <p:spPr>
          <a:xfrm>
            <a:off x="502920" y="387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3" name="Cap Tag 3"/>
          <p:cNvSpPr txBox="1"/>
          <p:nvPr/>
        </p:nvSpPr>
        <p:spPr>
          <a:xfrm>
            <a:off x="722920" y="400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03</a:t>
            </a:r>
          </a:p>
        </p:txBody>
      </p:sp>
      <p:sp>
        <p:nvSpPr>
          <p:cNvPr id="714" name="Cap Headline 3"/>
          <p:cNvSpPr txBox="1"/>
          <p:nvPr/>
        </p:nvSpPr>
        <p:spPr>
          <a:xfrm>
            <a:off x="722920" y="424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Healthcare Security Operations</a:t>
            </a:r>
          </a:p>
        </p:txBody>
      </p:sp>
      <p:sp>
        <p:nvSpPr>
          <p:cNvPr id="715" name="Cap Desc 3"/>
          <p:cNvSpPr txBox="1"/>
          <p:nvPr/>
        </p:nvSpPr>
        <p:spPr>
          <a:xfrm>
            <a:off x="4996340" y="400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Governed intake and audit history for healthcare security operations.</a:t>
            </a:r>
          </a:p>
        </p:txBody>
      </p:sp>
      <p:sp>
        <p:nvSpPr>
          <p:cNvPr id="716" name="Cap Row Bg 4"/>
          <p:cNvSpPr/>
          <p:nvPr/>
        </p:nvSpPr>
        <p:spPr>
          <a:xfrm>
            <a:off x="502920" y="486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7" name="Cap Row Bar 4"/>
          <p:cNvSpPr/>
          <p:nvPr/>
        </p:nvSpPr>
        <p:spPr>
          <a:xfrm>
            <a:off x="502920" y="486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8" name="Cap Tag 4"/>
          <p:cNvSpPr txBox="1"/>
          <p:nvPr/>
        </p:nvSpPr>
        <p:spPr>
          <a:xfrm>
            <a:off x="722920" y="499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04</a:t>
            </a:r>
          </a:p>
        </p:txBody>
      </p:sp>
      <p:sp>
        <p:nvSpPr>
          <p:cNvPr id="719" name="Cap Headline 4"/>
          <p:cNvSpPr txBox="1"/>
          <p:nvPr/>
        </p:nvSpPr>
        <p:spPr>
          <a:xfrm>
            <a:off x="722920" y="523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Project Consolidation</a:t>
            </a:r>
          </a:p>
        </p:txBody>
      </p:sp>
      <p:sp>
        <p:nvSpPr>
          <p:cNvPr id="720" name="Cap Desc 4"/>
          <p:cNvSpPr txBox="1"/>
          <p:nvPr/>
        </p:nvSpPr>
        <p:spPr>
          <a:xfrm>
            <a:off x="4996340" y="499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Consolidated projects into a governed JSM structure — and a repeatable partner delivery model for AI, software and Salesforce work.</a:t>
            </a:r>
          </a:p>
        </p:txBody>
      </p:sp>
      <p:sp>
        <p:nvSpPr>
          <p:cNvPr id="2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98276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Work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You own the customer relationship; we deliver the specialist execution.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PARTNER &amp; CUSTOMER ALIGNMENT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PALNI TECHNICAL EXECUTION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Agree on the customer problem and scope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Assess the current environment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Define roles and communication paths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Design and implement the solution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Confirm success measures and dependencies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Support testing and customer enablement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Set delivery and acceptance milestones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handover and follow-on needs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Opportunities to Explore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Start with one opportunity, a defined scope and a joint discovery.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DATA &amp; AI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SALESFORCE &amp; CUSTOM DEV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Data platform modernization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Salesforce health and integration review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AI readiness and use-case assessment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Agentforce sales or service use case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or knowledge assistant pilot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Custom application or integration build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Production integration of an AI workflow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CRM data and automation improvements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 Specialist Partner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We extend your bench where depth matters — not duplicate what you deliver.</a:t>
            </a:r>
          </a:p>
        </p:txBody>
      </p:sp>
      <p:sp>
        <p:nvSpPr>
          <p:cNvPr id="501" name="Tile Bg"/>
          <p:cNvSpPr/>
          <p:nvPr/>
        </p:nvSpPr>
        <p:spPr>
          <a:xfrm>
            <a:off x="50292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ile Header"/>
          <p:cNvSpPr/>
          <p:nvPr/>
        </p:nvSpPr>
        <p:spPr>
          <a:xfrm>
            <a:off x="50292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Tile Tag"/>
          <p:cNvSpPr txBox="1"/>
          <p:nvPr/>
        </p:nvSpPr>
        <p:spPr>
          <a:xfrm>
            <a:off x="72292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ENTERPRISE AI</a:t>
            </a:r>
          </a:p>
        </p:txBody>
      </p:sp>
      <p:sp>
        <p:nvSpPr>
          <p:cNvPr id="504" name="Tile Headline"/>
          <p:cNvSpPr txBox="1"/>
          <p:nvPr/>
        </p:nvSpPr>
        <p:spPr>
          <a:xfrm>
            <a:off x="72292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FFFFFF"/>
                </a:solidFill>
              </a:rPr>
              <a:t>Since 2019</a:t>
            </a:r>
          </a:p>
        </p:txBody>
      </p:sp>
      <p:sp>
        <p:nvSpPr>
          <p:cNvPr id="505" name="Tile Desc"/>
          <p:cNvSpPr txBox="1"/>
          <p:nvPr/>
        </p:nvSpPr>
        <p:spPr>
          <a:xfrm>
            <a:off x="72292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Our dedicated enterprise AI practice has shipped conversational, knowledge and agentic AI into production for years — not months.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Multi-LLM, secure enterprise deployment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Governance and audit logging built in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Proven outcomes, e.g. 99.6% invoice auto-reconciliation</a:t>
            </a:r>
          </a:p>
        </p:txBody>
      </p:sp>
      <p:sp>
        <p:nvSpPr>
          <p:cNvPr id="506" name="Tile Bg"/>
          <p:cNvSpPr/>
          <p:nvPr/>
        </p:nvSpPr>
        <p:spPr>
          <a:xfrm>
            <a:off x="429164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CF3E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Tile Header"/>
          <p:cNvSpPr/>
          <p:nvPr/>
        </p:nvSpPr>
        <p:spPr>
          <a:xfrm>
            <a:off x="429164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Tile Tag"/>
          <p:cNvSpPr txBox="1"/>
          <p:nvPr/>
        </p:nvSpPr>
        <p:spPr>
          <a:xfrm>
            <a:off x="451164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SALESFORCE</a:t>
            </a:r>
          </a:p>
        </p:txBody>
      </p:sp>
      <p:sp>
        <p:nvSpPr>
          <p:cNvPr id="509" name="Tile Headline"/>
          <p:cNvSpPr txBox="1"/>
          <p:nvPr/>
        </p:nvSpPr>
        <p:spPr>
          <a:xfrm>
            <a:off x="451164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912D1B"/>
                </a:solidFill>
              </a:rPr>
              <a:t>90+ Certifications</a:t>
            </a:r>
          </a:p>
        </p:txBody>
      </p:sp>
      <p:sp>
        <p:nvSpPr>
          <p:cNvPr id="510" name="Tile Desc"/>
          <p:cNvSpPr txBox="1"/>
          <p:nvPr/>
        </p:nvSpPr>
        <p:spPr>
          <a:xfrm>
            <a:off x="451164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Certified talent across architecture, platform, marketing and DevOps — ready to staff complex Salesforce programs.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Architect-level design authority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Core, Agentforce and industry clouds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Integration with data and custom apps</a:t>
            </a:r>
          </a:p>
        </p:txBody>
      </p:sp>
      <p:sp>
        <p:nvSpPr>
          <p:cNvPr id="511" name="Tile Bg"/>
          <p:cNvSpPr/>
          <p:nvPr/>
        </p:nvSpPr>
        <p:spPr>
          <a:xfrm>
            <a:off x="808036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Tile Header"/>
          <p:cNvSpPr/>
          <p:nvPr/>
        </p:nvSpPr>
        <p:spPr>
          <a:xfrm>
            <a:off x="808036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Tile Tag"/>
          <p:cNvSpPr txBox="1"/>
          <p:nvPr/>
        </p:nvSpPr>
        <p:spPr>
          <a:xfrm>
            <a:off x="830036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DELIVERY MODEL</a:t>
            </a:r>
          </a:p>
        </p:txBody>
      </p:sp>
      <p:sp>
        <p:nvSpPr>
          <p:cNvPr id="514" name="Tile Headline"/>
          <p:cNvSpPr txBox="1"/>
          <p:nvPr/>
        </p:nvSpPr>
        <p:spPr>
          <a:xfrm>
            <a:off x="830036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FFFFFF"/>
                </a:solidFill>
              </a:rPr>
              <a:t>US + India</a:t>
            </a:r>
          </a:p>
        </p:txBody>
      </p:sp>
      <p:sp>
        <p:nvSpPr>
          <p:cNvPr id="515" name="Tile Desc"/>
          <p:cNvSpPr txBox="1"/>
          <p:nvPr/>
        </p:nvSpPr>
        <p:spPr>
          <a:xfrm>
            <a:off x="830036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U.S. offices in Texas and Illinois with delivery centers in Hyderabad — onshore leadership with scalable delivery capacity.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Senior, U.S.-based engagement leads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Delivers under your customer relationship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Fast mobilization for defined scopes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727470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598B-887F-3A79-F14B-1FD11F5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7CA18-341A-0D56-C355-7B057C8C2091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Custom Software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144D8-BE70-93B4-8552-0F2B96E10D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C2471B54-46EA-CD83-742C-F8D30D69B76E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AA7587F-5029-0488-22B5-A0DAC26A8C2E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6001635-1802-02CB-ECCF-C8F1F9F6661F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DDB66C5-EA7A-5307-9255-3D89C8D7650B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FBEA4AD-3524-5A53-0650-5F2822FFE48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09E22B1-F27D-0ACE-16AE-7AD1E7F00427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F70326-0AFA-C1BB-C77D-6FC99269F863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BA068C8-93E1-1B7E-36EB-D76B76072478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FFDBCE-910D-1238-2D34-DD210EACF5A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Enterprise Backend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Java, .NET, Python &amp; Node.js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Scalable, API-first architecture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Cloud deployment on AWS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Performance &amp; security by design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Architecture through delivery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92C3DA7-44D8-8B23-82E8-DCBF0792466B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C58A2D"/>
                </a:solidFill>
                <a:cs typeface="Arial" pitchFamily="34" charset="0"/>
              </a:rPr>
              <a:t>Web &amp; Frontend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C58A2D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React &amp; Angular applications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PHP / Magento commerce builds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Responsive, low-latency UI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Customer &amp; internal portals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Front ends on existing platforms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39E46-EA14-56C1-0245-C6BD4B25DB1A}"/>
              </a:ext>
            </a:extLst>
          </p:cNvPr>
          <p:cNvSpPr/>
          <p:nvPr/>
        </p:nvSpPr>
        <p:spPr bwMode="auto">
          <a:xfrm>
            <a:off x="685205" y="4627556"/>
            <a:ext cx="355737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F2B800"/>
                </a:solidFill>
                <a:cs typeface="Arial" pitchFamily="34" charset="0"/>
              </a:rPr>
              <a:t>Mobile Applications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F2B8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Native iOS &amp; Android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React Native &amp; Flutter cross-platform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Voice &amp; conversational experiences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Field and customer-facing apps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Senior-led, single-team delivery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286EF4-C8FC-C78B-75EE-B5C30E7E19F5}"/>
              </a:ext>
            </a:extLst>
          </p:cNvPr>
          <p:cNvSpPr/>
          <p:nvPr/>
        </p:nvSpPr>
        <p:spPr bwMode="auto">
          <a:xfrm>
            <a:off x="8205522" y="4627556"/>
            <a:ext cx="3585422" cy="16447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IN" sz="2400" b="1" u="sng" dirty="0">
                <a:solidFill>
                  <a:srgbClr val="2C2C2C">
                    <a:lumMod val="75000"/>
                    <a:lumOff val="25000"/>
                  </a:srgbClr>
                </a:solidFill>
                <a:cs typeface="Arial" pitchFamily="34" charset="0"/>
              </a:rPr>
              <a:t>Integration &amp; APIs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REST APIs &amp; middleware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ServiceNow, Salesforce &amp; Snowflake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CRM, ERP &amp; knowledge-base connectivity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Legacy-to-modern system bridging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Secure authentication &amp; access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pic>
        <p:nvPicPr>
          <p:cNvPr id="6" name="Picture 5" descr="Mobile phone">
            <a:extLst>
              <a:ext uri="{FF2B5EF4-FFF2-40B4-BE49-F238E27FC236}">
                <a16:creationId xmlns:a16="http://schemas.microsoft.com/office/drawing/2014/main" id="{70574B7B-396F-3931-5090-2FD66BF0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 descr="Server">
            <a:extLst>
              <a:ext uri="{FF2B5EF4-FFF2-40B4-BE49-F238E27FC236}">
                <a16:creationId xmlns:a16="http://schemas.microsoft.com/office/drawing/2014/main" id="{ED82DF94-D778-F2FE-F517-885C289E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 descr="Connected nodes">
            <a:extLst>
              <a:ext uri="{FF2B5EF4-FFF2-40B4-BE49-F238E27FC236}">
                <a16:creationId xmlns:a16="http://schemas.microsoft.com/office/drawing/2014/main" id="{EFFE49CC-D3B8-41A5-2851-762C881F7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 descr="Laptop with solid fill">
            <a:extLst>
              <a:ext uri="{FF2B5EF4-FFF2-40B4-BE49-F238E27FC236}">
                <a16:creationId xmlns:a16="http://schemas.microsoft.com/office/drawing/2014/main" id="{5CBCD47D-4CFE-C740-81BF-C59FBBAAE6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C76E31F-4DC2-5EE7-2538-091B964C4407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enterprise backends to the apps and integrations around them.</a:t>
            </a:r>
          </a:p>
        </p:txBody>
      </p:sp>
      <p:sp>
        <p:nvSpPr>
          <p:cNvPr id="200" name="Tech Stack"/>
          <p:cNvSpPr txBox="1"/>
          <p:nvPr/>
        </p:nvSpPr>
        <p:spPr>
          <a:xfrm>
            <a:off x="5176310" y="3606687"/>
            <a:ext cx="1812790" cy="93857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JAVA · .NET</a:t>
            </a:r>
          </a:p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PYTHON · NODE.JS</a:t>
            </a:r>
          </a:p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REACT · FLUTTER</a:t>
            </a:r>
          </a:p>
        </p:txBody>
      </p:sp>
    </p:spTree>
    <p:extLst>
      <p:ext uri="{BB962C8B-B14F-4D97-AF65-F5344CB8AC3E}">
        <p14:creationId xmlns:p14="http://schemas.microsoft.com/office/powerpoint/2010/main" val="12416256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473952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18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Custom Software Development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Senior-led engineering for the applications and integrations off-the-shelf platforms can’t cover.</a:t>
            </a:r>
          </a:p>
        </p:txBody>
      </p:sp>
      <p:sp>
        <p:nvSpPr>
          <p:cNvPr id="305" name="Chip"/>
          <p:cNvSpPr/>
          <p:nvPr/>
        </p:nvSpPr>
        <p:spPr>
          <a:xfrm>
            <a:off x="548640" y="5120640"/>
            <a:ext cx="596189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Java</a:t>
            </a:r>
          </a:p>
        </p:txBody>
      </p:sp>
      <p:sp>
        <p:nvSpPr>
          <p:cNvPr id="306" name="Chip"/>
          <p:cNvSpPr/>
          <p:nvPr/>
        </p:nvSpPr>
        <p:spPr>
          <a:xfrm>
            <a:off x="1254557" y="5120640"/>
            <a:ext cx="596189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.NET</a:t>
            </a:r>
          </a:p>
        </p:txBody>
      </p:sp>
      <p:sp>
        <p:nvSpPr>
          <p:cNvPr id="307" name="Chip"/>
          <p:cNvSpPr/>
          <p:nvPr/>
        </p:nvSpPr>
        <p:spPr>
          <a:xfrm>
            <a:off x="1960474" y="5120640"/>
            <a:ext cx="757123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Python</a:t>
            </a:r>
          </a:p>
        </p:txBody>
      </p:sp>
      <p:sp>
        <p:nvSpPr>
          <p:cNvPr id="308" name="Chip"/>
          <p:cNvSpPr/>
          <p:nvPr/>
        </p:nvSpPr>
        <p:spPr>
          <a:xfrm>
            <a:off x="2827325" y="5120640"/>
            <a:ext cx="83759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Node.js</a:t>
            </a:r>
          </a:p>
        </p:txBody>
      </p:sp>
      <p:sp>
        <p:nvSpPr>
          <p:cNvPr id="309" name="Chip"/>
          <p:cNvSpPr/>
          <p:nvPr/>
        </p:nvSpPr>
        <p:spPr>
          <a:xfrm>
            <a:off x="548640" y="5532120"/>
            <a:ext cx="676656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React</a:t>
            </a:r>
          </a:p>
        </p:txBody>
      </p:sp>
      <p:sp>
        <p:nvSpPr>
          <p:cNvPr id="310" name="Chip"/>
          <p:cNvSpPr/>
          <p:nvPr/>
        </p:nvSpPr>
        <p:spPr>
          <a:xfrm>
            <a:off x="1335024" y="5532120"/>
            <a:ext cx="83759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Angular</a:t>
            </a:r>
          </a:p>
        </p:txBody>
      </p:sp>
      <p:sp>
        <p:nvSpPr>
          <p:cNvPr id="311" name="Chip"/>
          <p:cNvSpPr/>
          <p:nvPr/>
        </p:nvSpPr>
        <p:spPr>
          <a:xfrm>
            <a:off x="2282342" y="5532120"/>
            <a:ext cx="83759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Flutter</a:t>
            </a:r>
          </a:p>
        </p:txBody>
      </p:sp>
      <p:sp>
        <p:nvSpPr>
          <p:cNvPr id="312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HOW OUR BUILD CAPABILITIES FIT TOGETHER</a:t>
            </a:r>
          </a:p>
        </p:txBody>
      </p:sp>
      <p:sp>
        <p:nvSpPr>
          <p:cNvPr id="313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EXPERIENCE</a:t>
            </a:r>
          </a:p>
        </p:txBody>
      </p:sp>
      <p:sp>
        <p:nvSpPr>
          <p:cNvPr id="314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5" name="Icon Ring"/>
          <p:cNvSpPr/>
          <p:nvPr/>
        </p:nvSpPr>
        <p:spPr>
          <a:xfrm>
            <a:off x="598932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6" name="Icon" descr="ic_mobil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4534" y="1875434"/>
            <a:ext cx="318211" cy="318211"/>
          </a:xfrm>
          <a:prstGeom prst="rect">
            <a:avLst/>
          </a:prstGeom>
        </p:spPr>
      </p:pic>
      <p:sp>
        <p:nvSpPr>
          <p:cNvPr id="317" name="Shape"/>
          <p:cNvSpPr txBox="1"/>
          <p:nvPr/>
        </p:nvSpPr>
        <p:spPr>
          <a:xfrm>
            <a:off x="667512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Mobile Apps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Native iOS &amp; Android, React Native, Flutter</a:t>
            </a:r>
          </a:p>
        </p:txBody>
      </p:sp>
      <p:sp>
        <p:nvSpPr>
          <p:cNvPr id="318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9" name="Icon Ring"/>
          <p:cNvSpPr/>
          <p:nvPr/>
        </p:nvSpPr>
        <p:spPr>
          <a:xfrm>
            <a:off x="902970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0" name="Icon" descr="ic_laptop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914" y="1875434"/>
            <a:ext cx="318211" cy="318211"/>
          </a:xfrm>
          <a:prstGeom prst="rect">
            <a:avLst/>
          </a:prstGeom>
        </p:spPr>
      </p:pic>
      <p:sp>
        <p:nvSpPr>
          <p:cNvPr id="321" name="Shape"/>
          <p:cNvSpPr txBox="1"/>
          <p:nvPr/>
        </p:nvSpPr>
        <p:spPr>
          <a:xfrm>
            <a:off x="971550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Web &amp; Frontend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React, Angular, PHP / Magento</a:t>
            </a:r>
          </a:p>
        </p:txBody>
      </p:sp>
      <p:cxnSp>
        <p:nvCxnSpPr>
          <p:cNvPr id="322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cxnSp>
        <p:nvCxnSpPr>
          <p:cNvPr id="323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4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SERVICES</a:t>
            </a:r>
          </a:p>
        </p:txBody>
      </p:sp>
      <p:sp>
        <p:nvSpPr>
          <p:cNvPr id="325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6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7" name="Icon" descr="ic_serve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3297" y="3119201"/>
            <a:ext cx="381853" cy="381853"/>
          </a:xfrm>
          <a:prstGeom prst="rect">
            <a:avLst/>
          </a:prstGeom>
        </p:spPr>
      </p:pic>
      <p:sp>
        <p:nvSpPr>
          <p:cNvPr id="328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Enterprise Backend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Java, .NET, Python &amp; Node.js — architecture through delivery, built to scale</a:t>
            </a:r>
          </a:p>
        </p:txBody>
      </p:sp>
      <p:cxnSp>
        <p:nvCxnSpPr>
          <p:cNvPr id="329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0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INTEGRATION</a:t>
            </a:r>
          </a:p>
        </p:txBody>
      </p:sp>
      <p:sp>
        <p:nvSpPr>
          <p:cNvPr id="331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2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3" name="Icon" descr="ic_node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3297" y="4326209"/>
            <a:ext cx="381853" cy="381853"/>
          </a:xfrm>
          <a:prstGeom prst="rect">
            <a:avLst/>
          </a:prstGeom>
        </p:spPr>
      </p:pic>
      <p:sp>
        <p:nvSpPr>
          <p:cNvPr id="334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Integration &amp; APIs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APIs and middleware connecting custom apps to your enterprise platforms</a:t>
            </a:r>
          </a:p>
        </p:txBody>
      </p:sp>
      <p:sp>
        <p:nvSpPr>
          <p:cNvPr id="335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YOUR PLATFORMS</a:t>
            </a:r>
          </a:p>
        </p:txBody>
      </p:sp>
      <p:cxnSp>
        <p:nvCxnSpPr>
          <p:cNvPr id="336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7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ServiceNow</a:t>
            </a:r>
          </a:p>
        </p:txBody>
      </p:sp>
      <p:cxnSp>
        <p:nvCxnSpPr>
          <p:cNvPr id="338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9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Salesforce</a:t>
            </a:r>
          </a:p>
        </p:txBody>
      </p:sp>
      <p:cxnSp>
        <p:nvCxnSpPr>
          <p:cNvPr id="340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1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Snowflake</a:t>
            </a:r>
          </a:p>
        </p:txBody>
      </p:sp>
      <p:cxnSp>
        <p:nvCxnSpPr>
          <p:cNvPr id="342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3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 &amp; CRM</a:t>
            </a:r>
          </a:p>
        </p:txBody>
      </p:sp>
    </p:spTree>
    <p:extLst>
      <p:ext uri="{BB962C8B-B14F-4D97-AF65-F5344CB8AC3E}">
        <p14:creationId xmlns:p14="http://schemas.microsoft.com/office/powerpoint/2010/main" val="28614668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473952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18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AI &amp; Data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Modern data platforms and production AI — from lakehouse architecture to enterprise AI agents.</a:t>
            </a:r>
          </a:p>
        </p:txBody>
      </p:sp>
      <p:sp>
        <p:nvSpPr>
          <p:cNvPr id="305" name="Chip"/>
          <p:cNvSpPr/>
          <p:nvPr/>
        </p:nvSpPr>
        <p:spPr>
          <a:xfrm>
            <a:off x="548640" y="5120640"/>
            <a:ext cx="998525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Snowflake</a:t>
            </a:r>
          </a:p>
        </p:txBody>
      </p:sp>
      <p:sp>
        <p:nvSpPr>
          <p:cNvPr id="306" name="Chip"/>
          <p:cNvSpPr/>
          <p:nvPr/>
        </p:nvSpPr>
        <p:spPr>
          <a:xfrm>
            <a:off x="1656893" y="5120640"/>
            <a:ext cx="107899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Databricks</a:t>
            </a:r>
          </a:p>
        </p:txBody>
      </p:sp>
      <p:sp>
        <p:nvSpPr>
          <p:cNvPr id="307" name="Chip"/>
          <p:cNvSpPr/>
          <p:nvPr/>
        </p:nvSpPr>
        <p:spPr>
          <a:xfrm>
            <a:off x="2845613" y="5120640"/>
            <a:ext cx="51572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AWS</a:t>
            </a:r>
          </a:p>
        </p:txBody>
      </p:sp>
      <p:sp>
        <p:nvSpPr>
          <p:cNvPr id="308" name="Chip"/>
          <p:cNvSpPr/>
          <p:nvPr/>
        </p:nvSpPr>
        <p:spPr>
          <a:xfrm>
            <a:off x="548640" y="5532120"/>
            <a:ext cx="757123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309" name="Chip"/>
          <p:cNvSpPr/>
          <p:nvPr/>
        </p:nvSpPr>
        <p:spPr>
          <a:xfrm>
            <a:off x="1415491" y="5532120"/>
            <a:ext cx="757123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OpenAI</a:t>
            </a:r>
          </a:p>
        </p:txBody>
      </p:sp>
      <p:sp>
        <p:nvSpPr>
          <p:cNvPr id="310" name="Chip"/>
          <p:cNvSpPr/>
          <p:nvPr/>
        </p:nvSpPr>
        <p:spPr>
          <a:xfrm>
            <a:off x="2282342" y="5532120"/>
            <a:ext cx="51572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RAG</a:t>
            </a:r>
          </a:p>
        </p:txBody>
      </p:sp>
      <p:sp>
        <p:nvSpPr>
          <p:cNvPr id="311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HOW OUR DATA &amp; AI CAPABILITIES FIT TOGETHER</a:t>
            </a:r>
          </a:p>
        </p:txBody>
      </p:sp>
      <p:sp>
        <p:nvSpPr>
          <p:cNvPr id="312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AI &amp; APPS</a:t>
            </a:r>
          </a:p>
        </p:txBody>
      </p:sp>
      <p:sp>
        <p:nvSpPr>
          <p:cNvPr id="313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4" name="Icon Ring"/>
          <p:cNvSpPr/>
          <p:nvPr/>
        </p:nvSpPr>
        <p:spPr>
          <a:xfrm>
            <a:off x="598932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5" name="Icon" descr="ic_ai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4534" y="1875434"/>
            <a:ext cx="318211" cy="318211"/>
          </a:xfrm>
          <a:prstGeom prst="rect">
            <a:avLst/>
          </a:prstGeom>
        </p:spPr>
      </p:pic>
      <p:sp>
        <p:nvSpPr>
          <p:cNvPr id="316" name="Shape"/>
          <p:cNvSpPr txBox="1"/>
          <p:nvPr/>
        </p:nvSpPr>
        <p:spPr>
          <a:xfrm>
            <a:off x="667512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AI Agents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Domain agents, RAG and conversational AI</a:t>
            </a:r>
          </a:p>
        </p:txBody>
      </p:sp>
      <p:sp>
        <p:nvSpPr>
          <p:cNvPr id="317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8" name="Icon Ring"/>
          <p:cNvSpPr/>
          <p:nvPr/>
        </p:nvSpPr>
        <p:spPr>
          <a:xfrm>
            <a:off x="902970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9" name="Icon" descr="ic_doc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914" y="1875434"/>
            <a:ext cx="318211" cy="318211"/>
          </a:xfrm>
          <a:prstGeom prst="rect">
            <a:avLst/>
          </a:prstGeom>
        </p:spPr>
      </p:pic>
      <p:sp>
        <p:nvSpPr>
          <p:cNvPr id="320" name="Shape"/>
          <p:cNvSpPr txBox="1"/>
          <p:nvPr/>
        </p:nvSpPr>
        <p:spPr>
          <a:xfrm>
            <a:off x="971550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Document AI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OCR, NLP, search and summarization</a:t>
            </a:r>
          </a:p>
        </p:txBody>
      </p:sp>
      <p:cxnSp>
        <p:nvCxnSpPr>
          <p:cNvPr id="321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cxnSp>
        <p:nvCxnSpPr>
          <p:cNvPr id="322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3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PLATFORM</a:t>
            </a:r>
          </a:p>
        </p:txBody>
      </p:sp>
      <p:sp>
        <p:nvSpPr>
          <p:cNvPr id="324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5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6" name="Icon" descr="ic_db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3297" y="3119201"/>
            <a:ext cx="381853" cy="381853"/>
          </a:xfrm>
          <a:prstGeom prst="rect">
            <a:avLst/>
          </a:prstGeom>
        </p:spPr>
      </p:pic>
      <p:sp>
        <p:nvSpPr>
          <p:cNvPr id="327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Modern Data Platform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Lakehouse and medallion architecture on Snowflake and Databricks</a:t>
            </a:r>
          </a:p>
        </p:txBody>
      </p:sp>
      <p:cxnSp>
        <p:nvCxnSpPr>
          <p:cNvPr id="328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9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FOUNDATION</a:t>
            </a:r>
          </a:p>
        </p:txBody>
      </p:sp>
      <p:sp>
        <p:nvSpPr>
          <p:cNvPr id="330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1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2" name="Icon" descr="ic_lock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3297" y="4326209"/>
            <a:ext cx="381853" cy="381853"/>
          </a:xfrm>
          <a:prstGeom prst="rect">
            <a:avLst/>
          </a:prstGeom>
        </p:spPr>
      </p:pic>
      <p:sp>
        <p:nvSpPr>
          <p:cNvPr id="333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Engineering &amp; Governance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Migrations, ELT pipelines, lineage, RBAC and PII controls</a:t>
            </a:r>
          </a:p>
        </p:txBody>
      </p:sp>
      <p:sp>
        <p:nvSpPr>
          <p:cNvPr id="334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YOUR DATA</a:t>
            </a:r>
          </a:p>
        </p:txBody>
      </p:sp>
      <p:cxnSp>
        <p:nvCxnSpPr>
          <p:cNvPr id="335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6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 &amp; CRM</a:t>
            </a:r>
          </a:p>
        </p:txBody>
      </p:sp>
      <p:cxnSp>
        <p:nvCxnSpPr>
          <p:cNvPr id="337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8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SQL Databases</a:t>
            </a:r>
          </a:p>
        </p:txBody>
      </p:sp>
      <p:cxnSp>
        <p:nvCxnSpPr>
          <p:cNvPr id="339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0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IoT &amp; Time-Series</a:t>
            </a:r>
          </a:p>
        </p:txBody>
      </p:sp>
      <p:cxnSp>
        <p:nvCxnSpPr>
          <p:cNvPr id="341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2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Documents</a:t>
            </a:r>
          </a:p>
        </p:txBody>
      </p:sp>
    </p:spTree>
    <p:extLst>
      <p:ext uri="{BB962C8B-B14F-4D97-AF65-F5344CB8AC3E}">
        <p14:creationId xmlns:p14="http://schemas.microsoft.com/office/powerpoint/2010/main" val="2308560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473952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18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Salesforce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Certified Salesforce delivery across core clouds, Agentforce and industry solutions.</a:t>
            </a:r>
          </a:p>
        </p:txBody>
      </p:sp>
      <p:sp>
        <p:nvSpPr>
          <p:cNvPr id="305" name="Chip"/>
          <p:cNvSpPr/>
          <p:nvPr/>
        </p:nvSpPr>
        <p:spPr>
          <a:xfrm>
            <a:off x="548640" y="5120640"/>
            <a:ext cx="107899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Agentforce</a:t>
            </a:r>
          </a:p>
        </p:txBody>
      </p:sp>
      <p:sp>
        <p:nvSpPr>
          <p:cNvPr id="306" name="Chip"/>
          <p:cNvSpPr/>
          <p:nvPr/>
        </p:nvSpPr>
        <p:spPr>
          <a:xfrm>
            <a:off x="1737360" y="5120640"/>
            <a:ext cx="596189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Apex</a:t>
            </a:r>
          </a:p>
        </p:txBody>
      </p:sp>
      <p:sp>
        <p:nvSpPr>
          <p:cNvPr id="307" name="Chip"/>
          <p:cNvSpPr/>
          <p:nvPr/>
        </p:nvSpPr>
        <p:spPr>
          <a:xfrm>
            <a:off x="2443277" y="5120640"/>
            <a:ext cx="998525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Lightning</a:t>
            </a:r>
          </a:p>
        </p:txBody>
      </p:sp>
      <p:sp>
        <p:nvSpPr>
          <p:cNvPr id="308" name="Chip"/>
          <p:cNvSpPr/>
          <p:nvPr/>
        </p:nvSpPr>
        <p:spPr>
          <a:xfrm>
            <a:off x="548640" y="5532120"/>
            <a:ext cx="1239926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Health Cloud</a:t>
            </a:r>
          </a:p>
        </p:txBody>
      </p:sp>
      <p:sp>
        <p:nvSpPr>
          <p:cNvPr id="309" name="Chip"/>
          <p:cNvSpPr/>
          <p:nvPr/>
        </p:nvSpPr>
        <p:spPr>
          <a:xfrm>
            <a:off x="1898294" y="5532120"/>
            <a:ext cx="51572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CPQ</a:t>
            </a:r>
          </a:p>
        </p:txBody>
      </p:sp>
      <p:sp>
        <p:nvSpPr>
          <p:cNvPr id="310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HOW OUR SALESFORCE CAPABILITIES FIT TOGETHER</a:t>
            </a:r>
          </a:p>
        </p:txBody>
      </p:sp>
      <p:sp>
        <p:nvSpPr>
          <p:cNvPr id="311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CLOUDS</a:t>
            </a:r>
          </a:p>
        </p:txBody>
      </p:sp>
      <p:sp>
        <p:nvSpPr>
          <p:cNvPr id="312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3" name="Icon Ring"/>
          <p:cNvSpPr/>
          <p:nvPr/>
        </p:nvSpPr>
        <p:spPr>
          <a:xfrm>
            <a:off x="598932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4" name="Icon" descr="ic_char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4534" y="1875434"/>
            <a:ext cx="318211" cy="318211"/>
          </a:xfrm>
          <a:prstGeom prst="rect">
            <a:avLst/>
          </a:prstGeom>
        </p:spPr>
      </p:pic>
      <p:sp>
        <p:nvSpPr>
          <p:cNvPr id="315" name="Shape"/>
          <p:cNvSpPr txBox="1"/>
          <p:nvPr/>
        </p:nvSpPr>
        <p:spPr>
          <a:xfrm>
            <a:off x="667512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Sales &amp; Revenue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Sales Cloud, CPQ and quote-to-cash</a:t>
            </a:r>
          </a:p>
        </p:txBody>
      </p:sp>
      <p:sp>
        <p:nvSpPr>
          <p:cNvPr id="316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7" name="Icon Ring"/>
          <p:cNvSpPr/>
          <p:nvPr/>
        </p:nvSpPr>
        <p:spPr>
          <a:xfrm>
            <a:off x="902970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8" name="Icon" descr="ic_headse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914" y="1875434"/>
            <a:ext cx="318211" cy="318211"/>
          </a:xfrm>
          <a:prstGeom prst="rect">
            <a:avLst/>
          </a:prstGeom>
        </p:spPr>
      </p:pic>
      <p:sp>
        <p:nvSpPr>
          <p:cNvPr id="319" name="Shape"/>
          <p:cNvSpPr txBox="1"/>
          <p:nvPr/>
        </p:nvSpPr>
        <p:spPr>
          <a:xfrm>
            <a:off x="971550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Service &amp; Portals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Service Cloud, omnichannel and Experience Cloud</a:t>
            </a:r>
          </a:p>
        </p:txBody>
      </p:sp>
      <p:cxnSp>
        <p:nvCxnSpPr>
          <p:cNvPr id="320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cxnSp>
        <p:nvCxnSpPr>
          <p:cNvPr id="321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2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AI &amp; AUTOMATION</a:t>
            </a:r>
          </a:p>
        </p:txBody>
      </p:sp>
      <p:sp>
        <p:nvSpPr>
          <p:cNvPr id="323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4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5" name="Icon" descr="ic_bo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3297" y="3119201"/>
            <a:ext cx="381853" cy="381853"/>
          </a:xfrm>
          <a:prstGeom prst="rect">
            <a:avLst/>
          </a:prstGeom>
        </p:spPr>
      </p:pic>
      <p:sp>
        <p:nvSpPr>
          <p:cNvPr id="326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Agentforce &amp; Automation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AI agents, next-best actions and workflow automation across Salesforce</a:t>
            </a:r>
          </a:p>
        </p:txBody>
      </p:sp>
      <p:cxnSp>
        <p:nvCxnSpPr>
          <p:cNvPr id="327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8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PLATFORM</a:t>
            </a:r>
          </a:p>
        </p:txBody>
      </p:sp>
      <p:sp>
        <p:nvSpPr>
          <p:cNvPr id="329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0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1" name="Icon" descr="ic_node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3297" y="4326209"/>
            <a:ext cx="381853" cy="381853"/>
          </a:xfrm>
          <a:prstGeom prst="rect">
            <a:avLst/>
          </a:prstGeom>
        </p:spPr>
      </p:pic>
      <p:sp>
        <p:nvSpPr>
          <p:cNvPr id="332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Platform &amp; Integration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Apex / Lightning, APIs, middleware and CRM data foundations</a:t>
            </a:r>
          </a:p>
        </p:txBody>
      </p:sp>
      <p:sp>
        <p:nvSpPr>
          <p:cNvPr id="333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YOUR SYSTEMS</a:t>
            </a:r>
          </a:p>
        </p:txBody>
      </p:sp>
      <p:cxnSp>
        <p:nvCxnSpPr>
          <p:cNvPr id="334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5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</a:t>
            </a:r>
          </a:p>
        </p:txBody>
      </p:sp>
      <p:cxnSp>
        <p:nvCxnSpPr>
          <p:cNvPr id="336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7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Data Platforms</a:t>
            </a:r>
          </a:p>
        </p:txBody>
      </p:sp>
      <p:cxnSp>
        <p:nvCxnSpPr>
          <p:cNvPr id="338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9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ITSM</a:t>
            </a:r>
          </a:p>
        </p:txBody>
      </p:sp>
      <p:cxnSp>
        <p:nvCxnSpPr>
          <p:cNvPr id="340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1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Custom Apps</a:t>
            </a:r>
          </a:p>
        </p:txBody>
      </p:sp>
    </p:spTree>
    <p:extLst>
      <p:ext uri="{BB962C8B-B14F-4D97-AF65-F5344CB8AC3E}">
        <p14:creationId xmlns:p14="http://schemas.microsoft.com/office/powerpoint/2010/main" val="3371476005"/>
      </p:ext>
    </p:extLst>
  </p:cSld>
  <p:clrMapOvr>
    <a:masterClrMapping/>
  </p:clrMapOvr>
</p:sld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3809</Words>
  <Application>Microsoft Office PowerPoint</Application>
  <PresentationFormat>Widescreen</PresentationFormat>
  <Paragraphs>709</Paragraphs>
  <Slides>19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37</vt:i4>
      </vt:variant>
    </vt:vector>
  </HeadingPairs>
  <TitlesOfParts>
    <vt:vector size="60" baseType="lpstr">
      <vt:lpstr>Open Sans</vt:lpstr>
      <vt:lpstr>Raleway Black</vt:lpstr>
      <vt:lpstr>Arial Black</vt:lpstr>
      <vt:lpstr>Montserrat</vt:lpstr>
      <vt:lpstr>Wingdings</vt:lpstr>
      <vt:lpstr>Montserrat ExtraBold</vt:lpstr>
      <vt:lpstr>Calibri</vt:lpstr>
      <vt:lpstr>Aptos Display</vt:lpstr>
      <vt:lpstr>Symbol</vt:lpstr>
      <vt:lpstr>Arial Rounded MT Bold</vt:lpstr>
      <vt:lpstr>Arial Narrow</vt:lpstr>
      <vt:lpstr>Segoe UI Emoji</vt:lpstr>
      <vt:lpstr>Poppins</vt:lpstr>
      <vt:lpstr>Proxima Nova</vt:lpstr>
      <vt:lpstr>Arial</vt:lpstr>
      <vt:lpstr>Aptos</vt:lpstr>
      <vt:lpstr>Noto Sans Symbols</vt:lpstr>
      <vt:lpstr>Cambria</vt:lpstr>
      <vt:lpstr>Poppins Medium</vt:lpstr>
      <vt:lpstr>Office Theme</vt:lpstr>
      <vt:lpstr>1_Office Theme</vt:lpstr>
      <vt:lpstr>2_Office Theme</vt:lpstr>
      <vt:lpstr>3_Office Theme</vt:lpstr>
      <vt:lpstr>Palni as a Global Talent Extension to  Mas Global Consulting</vt:lpstr>
      <vt:lpstr>One HQ, Four Delivery Centers, Two Countries</vt:lpstr>
      <vt:lpstr>Senior-Led Teams Outperform Pyramid Staffing</vt:lpstr>
      <vt:lpstr>Industries Where We’ve Already Delivered</vt:lpstr>
      <vt:lpstr>Client Depth Across Four Sectors</vt:lpstr>
      <vt:lpstr>Every Placement Is Vetted and Audit-Ready</vt:lpstr>
      <vt:lpstr>Every Work Authorization, Fully Compliant</vt:lpstr>
      <vt:lpstr>Profiles in 2–24 Hours, Not Weeks</vt:lpstr>
      <vt:lpstr>A Full Team Ramp in 5 Weeks</vt:lpstr>
      <vt:lpstr>Two Paths to Work With Palni</vt:lpstr>
      <vt:lpstr>Five Models, One Flexible Team</vt:lpstr>
      <vt:lpstr>What Drives Program Investment</vt:lpstr>
      <vt:lpstr>Depth Across the Skills That Matter Most</vt:lpstr>
      <vt:lpstr>Global Technology Talent Footprint</vt:lpstr>
      <vt:lpstr>PowerPoint Presentation</vt:lpstr>
      <vt:lpstr>Enterprise ServiceNow Capabilities Framework</vt:lpstr>
      <vt:lpstr>Expanded ServiceNow Capabilities</vt:lpstr>
      <vt:lpstr>ServiceNow Talent Depth</vt:lpstr>
      <vt:lpstr>PowerPoint Presentation</vt:lpstr>
      <vt:lpstr>Enterprise Salesforce Capabilities Framework</vt:lpstr>
      <vt:lpstr>Expanded Salesforce Capabilities</vt:lpstr>
      <vt:lpstr>Certified Salesforce Talent at Scale</vt:lpstr>
      <vt:lpstr>Data &amp; AI Capabilities Framework</vt:lpstr>
      <vt:lpstr>Enterprise AI Capability - Built &amp; Delivered Since 2019</vt:lpstr>
      <vt:lpstr>PowerPoint Presentation</vt:lpstr>
      <vt:lpstr>PowerPoint Presentation</vt:lpstr>
      <vt:lpstr>PowerPoint Presentation</vt:lpstr>
      <vt:lpstr>PowerPoint Presentation</vt:lpstr>
      <vt:lpstr>Telco Case Study: ServiceNow ITSM Ramp-Up at Scale</vt:lpstr>
      <vt:lpstr>Modern data platform setup in snowflake</vt:lpstr>
      <vt:lpstr>Migration to Snowflake Cloud</vt:lpstr>
      <vt:lpstr>Migration to Snowflake Cloud</vt:lpstr>
      <vt:lpstr>Real-Time Invoice Reconciliation at Scale</vt:lpstr>
      <vt:lpstr>Voice-Enabled Sales Assistant for Field Reps</vt:lpstr>
      <vt:lpstr>Voice-Enabled Payment Agent for Member Services</vt:lpstr>
      <vt:lpstr>Engagement Models Aligned to Your Goals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Liza Galano</dc:creator>
  <cp:lastModifiedBy>Liza Galano</cp:lastModifiedBy>
  <cp:revision>16</cp:revision>
  <dcterms:created xsi:type="dcterms:W3CDTF">2025-08-02T18:34:01Z</dcterms:created>
  <dcterms:modified xsi:type="dcterms:W3CDTF">2026-09-24T02:49:40Z</dcterms:modified>
</cp:coreProperties>
</file>