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  <p:sldMasterId id="2147483675" r:id="rId3"/>
    <p:sldMasterId id="2147483687" r:id="rId4"/>
  </p:sldMasterIdLst>
  <p:notesMasterIdLst>
    <p:notesMasterId r:id="rId26"/>
  </p:notesMasterIdLst>
  <p:sldIdLst>
    <p:sldId id="400" r:id="rId5"/>
    <p:sldId id="401" r:id="rId6"/>
    <p:sldId id="2147470380" r:id="rId7"/>
    <p:sldId id="2147470379" r:id="rId8"/>
    <p:sldId id="2147470375" r:id="rId9"/>
    <p:sldId id="418" r:id="rId10"/>
    <p:sldId id="403" r:id="rId11"/>
    <p:sldId id="404" r:id="rId12"/>
    <p:sldId id="405" r:id="rId13"/>
    <p:sldId id="417" r:id="rId14"/>
    <p:sldId id="406" r:id="rId15"/>
    <p:sldId id="410" r:id="rId16"/>
    <p:sldId id="419" r:id="rId17"/>
    <p:sldId id="407" r:id="rId18"/>
    <p:sldId id="408" r:id="rId19"/>
    <p:sldId id="409" r:id="rId20"/>
    <p:sldId id="2147470346" r:id="rId21"/>
    <p:sldId id="411" r:id="rId22"/>
    <p:sldId id="2147470381" r:id="rId23"/>
    <p:sldId id="413" r:id="rId24"/>
    <p:sldId id="280" r:id="rId25"/>
  </p:sldIdLst>
  <p:sldSz cx="12192000" cy="6858000"/>
  <p:notesSz cx="6858000" cy="9144000"/>
  <p:embeddedFontLst>
    <p:embeddedFont>
      <p:font typeface="Arial Black" panose="020B0A04020102020204" pitchFamily="34" charset="0"/>
      <p:bold r:id="rId27"/>
    </p:embeddedFont>
    <p:embeddedFont>
      <p:font typeface="Arial Rounded MT Bold" panose="020F0704030504030204" pitchFamily="34" charset="0"/>
      <p:regular r:id="rId28"/>
    </p:embeddedFont>
    <p:embeddedFont>
      <p:font typeface="Cambria" panose="02040503050406030204" pitchFamily="18" charset="0"/>
      <p:regular r:id="rId29"/>
      <p:bold r:id="rId30"/>
      <p:italic r:id="rId31"/>
      <p:boldItalic r:id="rId32"/>
    </p:embeddedFont>
    <p:embeddedFont>
      <p:font typeface="Montserrat" pitchFamily="2" charset="0"/>
      <p:regular r:id="rId33"/>
      <p:bold r:id="rId34"/>
      <p:italic r:id="rId35"/>
      <p:boldItalic r:id="rId36"/>
    </p:embeddedFont>
    <p:embeddedFont>
      <p:font typeface="Montserrat ExtraBold" pitchFamily="2" charset="0"/>
      <p:bold r:id="rId37"/>
      <p:boldItalic r:id="rId38"/>
    </p:embeddedFont>
    <p:embeddedFont>
      <p:font typeface="Open Sans" panose="020B0606030504020204" pitchFamily="34" charset="0"/>
      <p:regular r:id="rId39"/>
      <p:bold r:id="rId40"/>
      <p:italic r:id="rId41"/>
      <p:boldItalic r:id="rId42"/>
    </p:embeddedFont>
    <p:embeddedFont>
      <p:font typeface="Poppins" panose="00000500000000000000" pitchFamily="2" charset="0"/>
      <p:regular r:id="rId43"/>
      <p:bold r:id="rId44"/>
      <p:italic r:id="rId45"/>
      <p:boldItalic r:id="rId46"/>
    </p:embeddedFont>
    <p:embeddedFont>
      <p:font typeface="Poppins Medium" panose="00000600000000000000" pitchFamily="2" charset="0"/>
      <p:regular r:id="rId47"/>
      <p:italic r:id="rId48"/>
    </p:embeddedFont>
    <p:embeddedFont>
      <p:font typeface="Proxima Nova" panose="020B0604020202020204" charset="0"/>
      <p:regular r:id="rId49"/>
      <p:bold r:id="rId50"/>
      <p:italic r:id="rId51"/>
      <p:boldItalic r:id="rId52"/>
    </p:embeddedFont>
    <p:embeddedFont>
      <p:font typeface="Raleway Black" pitchFamily="2" charset="0"/>
      <p:bold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F55F795D-4EA4-419A-8188-A248233184FD}">
          <p14:sldIdLst>
            <p14:sldId id="400"/>
          </p14:sldIdLst>
        </p14:section>
        <p14:section name="About" id="{9AFFDA91-4ADF-4BC1-9ADE-640104C17CFB}">
          <p14:sldIdLst>
            <p14:sldId id="401"/>
            <p14:sldId id="2147470380"/>
            <p14:sldId id="2147470379"/>
            <p14:sldId id="2147470375"/>
          </p14:sldIdLst>
        </p14:section>
        <p14:section name="Data &amp; AI" id="{3987F81D-576C-475A-9132-FD1A6B57E80B}">
          <p14:sldIdLst>
            <p14:sldId id="418"/>
            <p14:sldId id="403"/>
            <p14:sldId id="404"/>
            <p14:sldId id="405"/>
          </p14:sldIdLst>
        </p14:section>
        <p14:section name="Custom Development" id="{C58F5284-8990-4D00-B7C6-E809C73019A2}">
          <p14:sldIdLst>
            <p14:sldId id="417"/>
            <p14:sldId id="406"/>
            <p14:sldId id="410"/>
          </p14:sldIdLst>
        </p14:section>
        <p14:section name="Salesforce" id="{56DAF4EB-7BEE-4645-8D6F-CC10AAA205FD}">
          <p14:sldIdLst>
            <p14:sldId id="419"/>
            <p14:sldId id="407"/>
            <p14:sldId id="408"/>
            <p14:sldId id="409"/>
            <p14:sldId id="2147470346"/>
          </p14:sldIdLst>
        </p14:section>
        <p14:section name="Partnership" id="{2AA8B6A0-8CDC-4A58-9F38-4CEA0D702121}">
          <p14:sldIdLst>
            <p14:sldId id="411"/>
            <p14:sldId id="2147470381"/>
            <p14:sldId id="413"/>
            <p14:sldId id="280"/>
          </p14:sldIdLst>
        </p14:section>
        <p14:section name="Salesforce" id="{BB4FBE14-7EA0-4CFA-BEC2-CFFC39CA5A24}">
          <p14:sldIdLst/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76" roundtripDataSignature="AMtx7mi69jvS8oGn3tVnbwC/kXsSYcIo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12D1B"/>
    <a:srgbClr val="C58A2D"/>
    <a:srgbClr val="7F6000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1BD18A-EC56-4F49-B821-64D49AA5575B}">
  <a:tblStyle styleId="{521BD18A-EC56-4F49-B821-64D49AA5575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E7E7"/>
          </a:solidFill>
        </a:fill>
      </a:tcStyle>
    </a:wholeTbl>
    <a:band1H>
      <a:tcTxStyle/>
      <a:tcStyle>
        <a:tcBdr/>
        <a:fill>
          <a:solidFill>
            <a:srgbClr val="DBCC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BCC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059" autoAdjust="0"/>
  </p:normalViewPr>
  <p:slideViewPr>
    <p:cSldViewPr snapToGrid="0">
      <p:cViewPr varScale="1">
        <p:scale>
          <a:sx n="102" d="100"/>
          <a:sy n="102" d="100"/>
        </p:scale>
        <p:origin x="9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21" Type="http://schemas.openxmlformats.org/officeDocument/2006/relationships/slide" Target="slides/slide17.xml"/><Relationship Id="rId34" Type="http://schemas.openxmlformats.org/officeDocument/2006/relationships/font" Target="fonts/font8.fntdata"/><Relationship Id="rId42" Type="http://schemas.openxmlformats.org/officeDocument/2006/relationships/font" Target="fonts/font16.fntdata"/><Relationship Id="rId47" Type="http://schemas.openxmlformats.org/officeDocument/2006/relationships/font" Target="fonts/font21.fntdata"/><Relationship Id="rId50" Type="http://schemas.openxmlformats.org/officeDocument/2006/relationships/font" Target="fonts/font24.fntdata"/><Relationship Id="rId76" Type="http://customschemas.google.com/relationships/presentationmetadata" Target="metadata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font" Target="fonts/font3.fntdata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font" Target="fonts/font14.fntdata"/><Relationship Id="rId45" Type="http://schemas.openxmlformats.org/officeDocument/2006/relationships/font" Target="fonts/font19.fntdata"/><Relationship Id="rId53" Type="http://schemas.openxmlformats.org/officeDocument/2006/relationships/font" Target="fonts/font27.fntdata"/><Relationship Id="rId79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font" Target="fonts/font17.fntdata"/><Relationship Id="rId48" Type="http://schemas.openxmlformats.org/officeDocument/2006/relationships/font" Target="fonts/font22.fntdata"/><Relationship Id="rId77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font" Target="fonts/font25.fntdata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46" Type="http://schemas.openxmlformats.org/officeDocument/2006/relationships/font" Target="fonts/font20.fntdata"/><Relationship Id="rId20" Type="http://schemas.openxmlformats.org/officeDocument/2006/relationships/slide" Target="slides/slide16.xml"/><Relationship Id="rId41" Type="http://schemas.openxmlformats.org/officeDocument/2006/relationships/font" Target="fonts/font15.fntdata"/><Relationship Id="rId54" Type="http://schemas.openxmlformats.org/officeDocument/2006/relationships/font" Target="fonts/font2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49" Type="http://schemas.openxmlformats.org/officeDocument/2006/relationships/font" Target="fonts/font23.fntdata"/><Relationship Id="rId10" Type="http://schemas.openxmlformats.org/officeDocument/2006/relationships/slide" Target="slides/slide6.xml"/><Relationship Id="rId31" Type="http://schemas.openxmlformats.org/officeDocument/2006/relationships/font" Target="fonts/font5.fntdata"/><Relationship Id="rId44" Type="http://schemas.openxmlformats.org/officeDocument/2006/relationships/font" Target="fonts/font18.fntdata"/><Relationship Id="rId52" Type="http://schemas.openxmlformats.org/officeDocument/2006/relationships/font" Target="fonts/font26.fntdata"/><Relationship Id="rId7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98E1A-4482-BF72-D3AE-BE477C0D9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DAB3B-401C-A957-11E0-49044B747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C1C4C-C28F-1F22-194F-9A6DF3FFF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5693D-9AEA-D6CA-F981-82AED816EA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0839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8" name="Google Shape;35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7" name="Google Shape;4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0" name="Google Shape;45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7106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48029-47AD-FDA5-647D-423EF850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0C76C-BB8F-C1B6-9032-45753C281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18508-7785-39E7-5F03-39288C463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A89B7-BDDE-9EFC-398F-4B6797191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15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9741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DE9F-E786-DBC1-BD20-FA224BD3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FB2F1-B91A-EC6D-4CA6-BCE54A22C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673B25-4A77-CC15-3874-7CB2CCCE4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D034-8144-5071-BDCA-0312BE9F53D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827727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>
          <a:extLst>
            <a:ext uri="{FF2B5EF4-FFF2-40B4-BE49-F238E27FC236}">
              <a16:creationId xmlns:a16="http://schemas.microsoft.com/office/drawing/2014/main" id="{F9620375-8BDF-E09C-309E-E516E0BBB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1:notes">
            <a:extLst>
              <a:ext uri="{FF2B5EF4-FFF2-40B4-BE49-F238E27FC236}">
                <a16:creationId xmlns:a16="http://schemas.microsoft.com/office/drawing/2014/main" id="{38E0EF8D-A7C5-5E33-36D4-FAC4BD7631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dirty="0"/>
          </a:p>
        </p:txBody>
      </p:sp>
      <p:sp>
        <p:nvSpPr>
          <p:cNvPr id="358" name="Google Shape;358;p11:notes">
            <a:extLst>
              <a:ext uri="{FF2B5EF4-FFF2-40B4-BE49-F238E27FC236}">
                <a16:creationId xmlns:a16="http://schemas.microsoft.com/office/drawing/2014/main" id="{D8D0D7C0-8C7F-AD6E-853B-04C57E6936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280410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2" name="Google Shape;80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941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D47D2-0207-266E-2FE7-A0871F37B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1059C-4AE8-937C-C544-BCAA440E2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0D57E-6859-B172-C8A9-1522DC0E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B9900-9AA9-1AD8-E26A-4AF5F5167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8CFA9-011E-386F-C8ED-2D4693F4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115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A70DF-4132-79A1-8518-3AE452E9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1B224-8358-74FA-4C56-80B8CE164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50131-5819-F0E2-888A-C4E3B7AA4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C2692-431F-2A82-35F8-D198E884C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4D12-E00A-AE8A-05B9-4E854481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66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60FC-F60C-73C8-707F-53C6F960A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58F3C-13B3-EFD6-84AE-02763D58D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FD986-C5BB-76F2-15DB-9BE2BCE33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36527-08D4-C612-B1E2-70D7E883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18F79-FAF8-7561-8BDF-3A6ED826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9583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F085-7980-DFE5-9A4A-7FB23EC6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0E151-DCCE-F828-87BC-8B8031913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31BF0-FC89-55C3-BCCE-D209DF69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29DC9-282E-EFBE-D0D1-6F945902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AAFAEE-7184-1566-6312-262966E0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D672C-7BD8-3283-C2E7-13C7C9B1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7158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B012-837A-2A44-D48B-884AF1724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1405E-1FB0-BD18-E791-0E08A7AEC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2B03FC-98EE-E082-22D8-D32C547CA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3D3B5F-AFE6-0B36-FA87-81FC221F5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A6FAC9-0CC5-F0B3-C684-035C7C2E90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CBB405-95A2-46D0-9C36-88D6C8DAB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46AFE-01A0-BA0B-B439-3C67D963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2B33C5-81B5-3914-4FB6-9BD4AC8F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7352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11301-EFE6-A034-92B7-58C9AE4F8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CB94B2-8868-31B1-BAAE-4FB00652B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BDB128-9434-F5B1-5A80-7A6A52127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E4531-394A-AFA3-A558-624D7FE3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52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8BBADB-F2C7-76AC-FAA5-BA42BD54C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55CC59-CF9F-B828-B15E-35C70DB1E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9DBE5-35D7-7CF9-F46B-6C6CE80A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797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09-780B-F128-CAEE-DF1330EA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A70A3-BC88-B2B8-B16B-F3C209E4B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9FFCEE-1BC5-2464-687F-C70184155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BCCFD-BBFA-D3DD-36ED-193CBA43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B8267-99F2-56D0-97BE-3BFBB274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E635-5DEC-AAC4-3F53-FA81B9AAD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59821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63D17-39E5-B1D4-C671-2C95337A4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382C8-251F-F24E-F62C-D3B94CC734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98EB6-7027-42F9-2A6D-D59AECA35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9004E1-98B9-4984-0B64-92B6D93DB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EAD1F9-D93E-8CBB-043F-DE224511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07D50-8AE4-B590-5FA2-66AF2BE1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9287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B637-6663-5F6B-A169-7F0BB07A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38B06-4B51-9FA0-2394-7B98F17FB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EFAFF-CDD5-708D-3511-BB895A7F1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79F2-645B-BCDF-B3EA-67DE3F2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6270-A44E-BF24-2023-8EE7C205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4050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403663-552A-DB5B-2ADD-0800E0EDC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7C2E4-B329-A2DC-C9DA-252885D37F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8E13E-FB15-CAE9-4D2B-296B7788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F5B9C-0449-0956-E751-828EE758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DCCB5-4343-E1F8-4F7B-FAEE2E9CA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40057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15604" y="3307400"/>
            <a:ext cx="10819318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11296728" y="6217623"/>
            <a:ext cx="731591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Google Shape;283;p33">
            <a:extLst>
              <a:ext uri="{FF2B5EF4-FFF2-40B4-BE49-F238E27FC236}">
                <a16:creationId xmlns:a16="http://schemas.microsoft.com/office/drawing/2014/main" id="{492766FA-68B4-88CE-5BF7-AB27DA91C16E}"/>
              </a:ext>
            </a:extLst>
          </p:cNvPr>
          <p:cNvSpPr/>
          <p:nvPr userDrawn="1"/>
        </p:nvSpPr>
        <p:spPr>
          <a:xfrm>
            <a:off x="0" y="369567"/>
            <a:ext cx="279073" cy="686100"/>
          </a:xfrm>
          <a:prstGeom prst="rect">
            <a:avLst/>
          </a:prstGeom>
          <a:solidFill>
            <a:srgbClr val="8A3225"/>
          </a:solidFill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5153246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Full Image without Header &amp; Footer">
  <p:cSld name="16_Full Image without Header &amp; Foot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>
            <a:spLocks noGrp="1"/>
          </p:cNvSpPr>
          <p:nvPr>
            <p:ph type="pic" idx="2"/>
          </p:nvPr>
        </p:nvSpPr>
        <p:spPr>
          <a:xfrm>
            <a:off x="1017836" y="2691200"/>
            <a:ext cx="1694841" cy="3011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35007" y="527905"/>
            <a:ext cx="1092224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aleway Black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36585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  <p:extLst>
      <p:ext uri="{BB962C8B-B14F-4D97-AF65-F5344CB8AC3E}">
        <p14:creationId xmlns:p14="http://schemas.microsoft.com/office/powerpoint/2010/main" val="8957627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20131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7366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62545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28989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6861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57971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preserve="1">
  <p:cSld name="3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tx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1677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95875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477531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7359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0727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973999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772868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606722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60993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50769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4332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960953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06575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6758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 userDrawn="1">
  <p:cSld name="Title and Content 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3"/>
          <p:cNvSpPr txBox="1">
            <a:spLocks noGrp="1"/>
          </p:cNvSpPr>
          <p:nvPr>
            <p:ph type="title"/>
          </p:nvPr>
        </p:nvSpPr>
        <p:spPr>
          <a:xfrm>
            <a:off x="506956" y="372376"/>
            <a:ext cx="394212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21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3"/>
          <p:cNvSpPr txBox="1">
            <a:spLocks noGrp="1"/>
          </p:cNvSpPr>
          <p:nvPr>
            <p:ph type="ftr" idx="11"/>
          </p:nvPr>
        </p:nvSpPr>
        <p:spPr>
          <a:xfrm>
            <a:off x="1029843" y="6444205"/>
            <a:ext cx="1256427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53"/>
          <p:cNvSpPr txBox="1">
            <a:spLocks noGrp="1"/>
          </p:cNvSpPr>
          <p:nvPr>
            <p:ph type="dt" idx="10"/>
          </p:nvPr>
        </p:nvSpPr>
        <p:spPr>
          <a:xfrm>
            <a:off x="609606" y="6377940"/>
            <a:ext cx="280393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B0D8A844-A8DF-4987-9A36-4272C519FEAA}" type="datetime1">
              <a:rPr lang="en-US" smtClean="0"/>
              <a:t>9/29/2026</a:t>
            </a:fld>
            <a:endParaRPr/>
          </a:p>
        </p:txBody>
      </p:sp>
      <p:sp>
        <p:nvSpPr>
          <p:cNvPr id="20" name="Google Shape;20;p53"/>
          <p:cNvSpPr txBox="1">
            <a:spLocks noGrp="1"/>
          </p:cNvSpPr>
          <p:nvPr>
            <p:ph type="sldNum" idx="12"/>
          </p:nvPr>
        </p:nvSpPr>
        <p:spPr>
          <a:xfrm>
            <a:off x="473088" y="6413217"/>
            <a:ext cx="36669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0803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50803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50803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50803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50803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50803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50803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50803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50803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sz="1300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5D7CC7C-6224-B2C5-8C7F-2B641135CEDE}"/>
              </a:ext>
            </a:extLst>
          </p:cNvPr>
          <p:cNvSpPr txBox="1">
            <a:spLocks/>
          </p:cNvSpPr>
          <p:nvPr userDrawn="1"/>
        </p:nvSpPr>
        <p:spPr>
          <a:xfrm>
            <a:off x="11582399" y="6439365"/>
            <a:ext cx="528484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| </a:t>
            </a:r>
            <a:fld id="{A921D9E8-DECC-41F3-947A-55E18105F2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Relationship Id="rId7" Type="http://schemas.openxmlformats.org/officeDocument/2006/relationships/slideLayout" Target="../slideLayouts/slideLayout42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5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74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EC7BA4-872E-EAFF-4322-D066CA64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C5818-36E3-FC13-EA4A-CF97648C7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F92A1-9C2E-01C5-5A6A-A2FF9A1979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A38059-6569-4DB4-AD6A-5945EEF8A6B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F14C-84FF-240E-B3BC-5C3C03C66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E1A4-94CE-128A-E527-DF180C75BC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5827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26518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089686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tags" Target="../tags/tag3.xml"/><Relationship Id="rId7" Type="http://schemas.openxmlformats.org/officeDocument/2006/relationships/image" Target="../media/image20.png"/><Relationship Id="rId12" Type="http://schemas.openxmlformats.org/officeDocument/2006/relationships/image" Target="../media/image24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notesSlide" Target="../notesSlides/notesSlide5.xml"/><Relationship Id="rId11" Type="http://schemas.openxmlformats.org/officeDocument/2006/relationships/image" Target="../media/image23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22.png"/><Relationship Id="rId4" Type="http://schemas.openxmlformats.org/officeDocument/2006/relationships/tags" Target="../tags/tag4.xml"/><Relationship Id="rId9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3" Type="http://schemas.openxmlformats.org/officeDocument/2006/relationships/image" Target="../media/image29.png"/><Relationship Id="rId21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5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42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24" Type="http://schemas.openxmlformats.org/officeDocument/2006/relationships/image" Target="../media/image50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23" Type="http://schemas.openxmlformats.org/officeDocument/2006/relationships/image" Target="../media/image49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Relationship Id="rId22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palni.com%7C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3.jpeg"/><Relationship Id="rId5" Type="http://schemas.openxmlformats.org/officeDocument/2006/relationships/image" Target="../media/image52.png"/><Relationship Id="rId4" Type="http://schemas.openxmlformats.org/officeDocument/2006/relationships/hyperlink" Target="http://www.palni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9290F8-5AB1-B324-44AE-B614F57F93AB}"/>
              </a:ext>
            </a:extLst>
          </p:cNvPr>
          <p:cNvSpPr/>
          <p:nvPr/>
        </p:nvSpPr>
        <p:spPr>
          <a:xfrm>
            <a:off x="-501445" y="2481943"/>
            <a:ext cx="10107561" cy="2840199"/>
          </a:xfrm>
          <a:prstGeom prst="roundRect">
            <a:avLst/>
          </a:prstGeom>
          <a:gradFill flip="none" rotWithShape="1">
            <a:gsLst>
              <a:gs pos="50000">
                <a:srgbClr val="F5D1CB">
                  <a:alpha val="76000"/>
                </a:srgbClr>
              </a:gs>
              <a:gs pos="18000">
                <a:schemeClr val="bg1"/>
              </a:gs>
              <a:gs pos="100000">
                <a:schemeClr val="accent1">
                  <a:lumMod val="30000"/>
                  <a:lumOff val="70000"/>
                  <a:alpha val="37000"/>
                </a:schemeClr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Google Shape;95;p1"/>
          <p:cNvSpPr txBox="1">
            <a:spLocks noGrp="1"/>
          </p:cNvSpPr>
          <p:nvPr>
            <p:ph type="ctrTitle"/>
          </p:nvPr>
        </p:nvSpPr>
        <p:spPr>
          <a:xfrm>
            <a:off x="461211" y="204531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l">
              <a:buSzPts val="2800"/>
            </a:pPr>
            <a:r>
              <a:rPr lang="en-US" sz="3600" dirty="0">
                <a:latin typeface="Montserrat"/>
              </a:rPr>
              <a:t>AI, Custom Software Development </a:t>
            </a:r>
            <a:br>
              <a:rPr lang="en-US" sz="3600" dirty="0">
                <a:latin typeface="Montserrat"/>
              </a:rPr>
            </a:br>
            <a:r>
              <a:rPr lang="en-US" sz="3600" dirty="0">
                <a:latin typeface="Montserrat"/>
              </a:rPr>
              <a:t>&amp; Salesforce Capabilities</a:t>
            </a:r>
            <a:endParaRPr sz="3600" dirty="0">
              <a:latin typeface="Montserrat"/>
            </a:endParaRPr>
          </a:p>
        </p:txBody>
      </p:sp>
      <p:sp>
        <p:nvSpPr>
          <p:cNvPr id="96" name="Google Shape;96;p1"/>
          <p:cNvSpPr txBox="1">
            <a:spLocks noGrp="1"/>
          </p:cNvSpPr>
          <p:nvPr>
            <p:ph type="subTitle" idx="1"/>
          </p:nvPr>
        </p:nvSpPr>
        <p:spPr>
          <a:xfrm>
            <a:off x="0" y="4685406"/>
            <a:ext cx="10003971" cy="6367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b="1" dirty="0"/>
              <a:t>Clear. Focused. A Boutique Technology Partner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Go Deepest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Three of our strongest practices, selected for where we add the most to your customers.</a:t>
            </a:r>
          </a:p>
        </p:txBody>
      </p:sp>
      <p:sp>
        <p:nvSpPr>
          <p:cNvPr id="501" name="Tile Bg"/>
          <p:cNvSpPr/>
          <p:nvPr/>
        </p:nvSpPr>
        <p:spPr>
          <a:xfrm>
            <a:off x="502920" y="1830000"/>
            <a:ext cx="3608720" cy="4118313"/>
          </a:xfrm>
          <a:prstGeom prst="roundRect">
            <a:avLst>
              <a:gd name="adj" fmla="val 350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ile Header"/>
          <p:cNvSpPr/>
          <p:nvPr/>
        </p:nvSpPr>
        <p:spPr>
          <a:xfrm>
            <a:off x="502920" y="1830000"/>
            <a:ext cx="3608720" cy="34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spc="100" dirty="0">
                <a:solidFill>
                  <a:schemeClr val="bg1"/>
                </a:solidFill>
              </a:rPr>
              <a:t>FOCUS AREA 01</a:t>
            </a:r>
          </a:p>
        </p:txBody>
      </p:sp>
      <p:sp>
        <p:nvSpPr>
          <p:cNvPr id="504" name="Tile Headline"/>
          <p:cNvSpPr txBox="1"/>
          <p:nvPr/>
        </p:nvSpPr>
        <p:spPr>
          <a:xfrm>
            <a:off x="722920" y="2351405"/>
            <a:ext cx="3168720" cy="3791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6000"/>
              </a:lnSpc>
            </a:pPr>
            <a:r>
              <a:rPr lang="en-US" sz="1600" b="1" dirty="0">
                <a:solidFill>
                  <a:srgbClr val="C58A2D"/>
                </a:solidFill>
              </a:rPr>
              <a:t>AI &amp; Data</a:t>
            </a:r>
          </a:p>
        </p:txBody>
      </p:sp>
      <p:sp>
        <p:nvSpPr>
          <p:cNvPr id="505" name="Tile Desc"/>
          <p:cNvSpPr txBox="1"/>
          <p:nvPr/>
        </p:nvSpPr>
        <p:spPr>
          <a:xfrm>
            <a:off x="722920" y="2860000"/>
            <a:ext cx="3168720" cy="30128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1" i="0" dirty="0">
                <a:solidFill>
                  <a:srgbClr val="3F3833"/>
                </a:solidFill>
                <a:latin typeface="Arial"/>
              </a:rPr>
              <a:t>Modern data platforms and production AI — from lakehouse architecture to enterprise AI agents.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Snowflake and Databricks platform builds and migrations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AI agents, RAG and document intelligence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Data governance, security and AI readiness</a:t>
            </a:r>
          </a:p>
        </p:txBody>
      </p:sp>
      <p:sp>
        <p:nvSpPr>
          <p:cNvPr id="506" name="Tile Bg"/>
          <p:cNvSpPr/>
          <p:nvPr/>
        </p:nvSpPr>
        <p:spPr>
          <a:xfrm>
            <a:off x="4291640" y="1830000"/>
            <a:ext cx="3608720" cy="4118313"/>
          </a:xfrm>
          <a:prstGeom prst="roundRect">
            <a:avLst>
              <a:gd name="adj" fmla="val 350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ile Header"/>
          <p:cNvSpPr/>
          <p:nvPr/>
        </p:nvSpPr>
        <p:spPr>
          <a:xfrm>
            <a:off x="4291640" y="1830000"/>
            <a:ext cx="3608720" cy="34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spc="100" dirty="0">
                <a:solidFill>
                  <a:schemeClr val="bg1"/>
                </a:solidFill>
              </a:rPr>
              <a:t>FOCUS AREA 02</a:t>
            </a:r>
          </a:p>
        </p:txBody>
      </p:sp>
      <p:sp>
        <p:nvSpPr>
          <p:cNvPr id="509" name="Tile Headline"/>
          <p:cNvSpPr txBox="1"/>
          <p:nvPr/>
        </p:nvSpPr>
        <p:spPr>
          <a:xfrm>
            <a:off x="4511640" y="2351405"/>
            <a:ext cx="3168720" cy="3791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6000"/>
              </a:lnSpc>
            </a:pPr>
            <a:r>
              <a:rPr lang="en-US" sz="1600" b="1" dirty="0">
                <a:solidFill>
                  <a:srgbClr val="912D1B"/>
                </a:solidFill>
              </a:rPr>
              <a:t>Custom Software Development</a:t>
            </a:r>
          </a:p>
        </p:txBody>
      </p:sp>
      <p:sp>
        <p:nvSpPr>
          <p:cNvPr id="510" name="Tile Desc"/>
          <p:cNvSpPr txBox="1"/>
          <p:nvPr/>
        </p:nvSpPr>
        <p:spPr>
          <a:xfrm>
            <a:off x="4511640" y="2860000"/>
            <a:ext cx="3168720" cy="30128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1" i="0" dirty="0">
                <a:solidFill>
                  <a:srgbClr val="3F3833"/>
                </a:solidFill>
                <a:latin typeface="Arial"/>
              </a:rPr>
              <a:t>Senior-led engineering for the applications and integrations off-the-shelf platforms can’t cover.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Enterprise backends in Java, .NET, Python and Node.js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Native and cross-platform mobile apps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Integrations and APIs across enterprise platforms</a:t>
            </a:r>
          </a:p>
        </p:txBody>
      </p:sp>
      <p:sp>
        <p:nvSpPr>
          <p:cNvPr id="511" name="Tile Bg"/>
          <p:cNvSpPr/>
          <p:nvPr/>
        </p:nvSpPr>
        <p:spPr>
          <a:xfrm>
            <a:off x="8080360" y="1830000"/>
            <a:ext cx="3608720" cy="4118313"/>
          </a:xfrm>
          <a:prstGeom prst="roundRect">
            <a:avLst>
              <a:gd name="adj" fmla="val 350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Tile Header"/>
          <p:cNvSpPr/>
          <p:nvPr/>
        </p:nvSpPr>
        <p:spPr>
          <a:xfrm>
            <a:off x="8080360" y="1830000"/>
            <a:ext cx="3608720" cy="34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spc="100" dirty="0">
                <a:solidFill>
                  <a:schemeClr val="bg1"/>
                </a:solidFill>
              </a:rPr>
              <a:t>FOCUS AREA 03</a:t>
            </a:r>
          </a:p>
        </p:txBody>
      </p:sp>
      <p:sp>
        <p:nvSpPr>
          <p:cNvPr id="514" name="Tile Headline"/>
          <p:cNvSpPr txBox="1"/>
          <p:nvPr/>
        </p:nvSpPr>
        <p:spPr>
          <a:xfrm>
            <a:off x="8300360" y="2351405"/>
            <a:ext cx="3168720" cy="379188"/>
          </a:xfrm>
          <a:prstGeom prst="rect">
            <a:avLst/>
          </a:prstGeom>
          <a:noFill/>
        </p:spPr>
        <p:txBody>
          <a:bodyPr wrap="square" lIns="0" tIns="0" rIns="0" bIns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06000"/>
              </a:lnSpc>
              <a:defRPr sz="1600" b="1">
                <a:solidFill>
                  <a:srgbClr val="C58A2D"/>
                </a:solidFill>
              </a:defRPr>
            </a:lvl1pPr>
          </a:lstStyle>
          <a:p>
            <a:r>
              <a:rPr lang="en-US" dirty="0"/>
              <a:t>Salesforce</a:t>
            </a:r>
          </a:p>
        </p:txBody>
      </p:sp>
      <p:sp>
        <p:nvSpPr>
          <p:cNvPr id="515" name="Tile Desc"/>
          <p:cNvSpPr txBox="1"/>
          <p:nvPr/>
        </p:nvSpPr>
        <p:spPr>
          <a:xfrm>
            <a:off x="8300360" y="2860000"/>
            <a:ext cx="3168720" cy="30128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1" i="0" dirty="0">
                <a:solidFill>
                  <a:srgbClr val="3F3833"/>
                </a:solidFill>
                <a:latin typeface="Arial"/>
              </a:rPr>
              <a:t>Certified Salesforce delivery across core clouds, Agentforce and industry solutions.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Sales, Service and Experience Cloud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Agentforce and workflow automation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Health Cloud, CPQ and CRM data foundations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 Specialist Partner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We extend your bench where depth matters — not duplicate what you deliver.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  <p:sp>
        <p:nvSpPr>
          <p:cNvPr id="701" name="Shape"/>
          <p:cNvSpPr txBox="1"/>
          <p:nvPr/>
        </p:nvSpPr>
        <p:spPr>
          <a:xfrm>
            <a:off x="502920" y="1783080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9C6A1C"/>
                </a:solidFill>
                <a:latin typeface="Arial"/>
                <a:cs typeface="Arial"/>
              </a:rPr>
              <a:t>ENTERPRISE AI</a:t>
            </a:r>
          </a:p>
        </p:txBody>
      </p:sp>
      <p:sp>
        <p:nvSpPr>
          <p:cNvPr id="702" name="Shape"/>
          <p:cNvSpPr txBox="1"/>
          <p:nvPr/>
        </p:nvSpPr>
        <p:spPr>
          <a:xfrm>
            <a:off x="502920" y="2029968"/>
            <a:ext cx="3429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4400" b="1" i="0" dirty="0">
                <a:solidFill>
                  <a:srgbClr val="912D1B"/>
                </a:solidFill>
                <a:latin typeface="Arial"/>
                <a:cs typeface="Arial"/>
              </a:rPr>
              <a:t>Since 2019</a:t>
            </a:r>
          </a:p>
        </p:txBody>
      </p:sp>
      <p:sp>
        <p:nvSpPr>
          <p:cNvPr id="703" name="Shape"/>
          <p:cNvSpPr txBox="1"/>
          <p:nvPr/>
        </p:nvSpPr>
        <p:spPr>
          <a:xfrm>
            <a:off x="502920" y="2880360"/>
            <a:ext cx="3429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n-US" sz="1500" b="1" i="0" dirty="0">
                <a:solidFill>
                  <a:srgbClr val="3F3833"/>
                </a:solidFill>
                <a:latin typeface="Arial"/>
                <a:cs typeface="Arial"/>
              </a:rPr>
              <a:t>Enterprise AI in production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Our dedicated AI practice has shipped conversational, knowledge and agentic AI for years — not months.</a:t>
            </a:r>
          </a:p>
        </p:txBody>
      </p:sp>
      <p:sp>
        <p:nvSpPr>
          <p:cNvPr id="704" name="Shape"/>
          <p:cNvSpPr txBox="1"/>
          <p:nvPr/>
        </p:nvSpPr>
        <p:spPr>
          <a:xfrm>
            <a:off x="4379976" y="1783080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9C6A1C"/>
                </a:solidFill>
                <a:latin typeface="Arial"/>
                <a:cs typeface="Arial"/>
              </a:rPr>
              <a:t>SALESFORCE</a:t>
            </a:r>
          </a:p>
        </p:txBody>
      </p:sp>
      <p:sp>
        <p:nvSpPr>
          <p:cNvPr id="705" name="Shape"/>
          <p:cNvSpPr txBox="1"/>
          <p:nvPr/>
        </p:nvSpPr>
        <p:spPr>
          <a:xfrm>
            <a:off x="4379976" y="2029968"/>
            <a:ext cx="3429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4400" b="1" i="0" dirty="0">
                <a:solidFill>
                  <a:srgbClr val="912D1B"/>
                </a:solidFill>
                <a:latin typeface="Arial"/>
                <a:cs typeface="Arial"/>
              </a:rPr>
              <a:t>90+</a:t>
            </a:r>
          </a:p>
        </p:txBody>
      </p:sp>
      <p:sp>
        <p:nvSpPr>
          <p:cNvPr id="706" name="Shape"/>
          <p:cNvSpPr txBox="1"/>
          <p:nvPr/>
        </p:nvSpPr>
        <p:spPr>
          <a:xfrm>
            <a:off x="4379976" y="2880360"/>
            <a:ext cx="3429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n-US" sz="1500" b="1" i="0" dirty="0">
                <a:solidFill>
                  <a:srgbClr val="3F3833"/>
                </a:solidFill>
                <a:latin typeface="Arial"/>
                <a:cs typeface="Arial"/>
              </a:rPr>
              <a:t>Salesforce certifications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Certified talent across architecture, platform, marketing and DevOps, ready for complex programs.</a:t>
            </a:r>
          </a:p>
        </p:txBody>
      </p:sp>
      <p:sp>
        <p:nvSpPr>
          <p:cNvPr id="707" name="Shape"/>
          <p:cNvSpPr txBox="1"/>
          <p:nvPr/>
        </p:nvSpPr>
        <p:spPr>
          <a:xfrm>
            <a:off x="8257032" y="1783080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9C6A1C"/>
                </a:solidFill>
                <a:latin typeface="Arial"/>
                <a:cs typeface="Arial"/>
              </a:rPr>
              <a:t>DELIVERY MODEL</a:t>
            </a:r>
          </a:p>
        </p:txBody>
      </p:sp>
      <p:sp>
        <p:nvSpPr>
          <p:cNvPr id="708" name="Shape"/>
          <p:cNvSpPr txBox="1"/>
          <p:nvPr/>
        </p:nvSpPr>
        <p:spPr>
          <a:xfrm>
            <a:off x="8257032" y="2029968"/>
            <a:ext cx="3429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4400" b="1" i="0" dirty="0">
                <a:solidFill>
                  <a:srgbClr val="912D1B"/>
                </a:solidFill>
                <a:latin typeface="Arial"/>
                <a:cs typeface="Arial"/>
              </a:rPr>
              <a:t>US + India</a:t>
            </a:r>
          </a:p>
        </p:txBody>
      </p:sp>
      <p:sp>
        <p:nvSpPr>
          <p:cNvPr id="709" name="Shape"/>
          <p:cNvSpPr txBox="1"/>
          <p:nvPr/>
        </p:nvSpPr>
        <p:spPr>
          <a:xfrm>
            <a:off x="8257032" y="2880360"/>
            <a:ext cx="3429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n-US" sz="1500" b="1" i="0" dirty="0">
                <a:solidFill>
                  <a:srgbClr val="3F3833"/>
                </a:solidFill>
                <a:latin typeface="Arial"/>
                <a:cs typeface="Arial"/>
              </a:rPr>
              <a:t>Onshore leadership, scalable delivery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6E625A"/>
                </a:solidFill>
                <a:latin typeface="Arial"/>
                <a:cs typeface="Arial"/>
              </a:rPr>
              <a:t>U.S. offices in Texas and Illinois, with delivery centers in Hyderabad.</a:t>
            </a:r>
          </a:p>
        </p:txBody>
      </p:sp>
      <p:cxnSp>
        <p:nvCxnSpPr>
          <p:cNvPr id="710" name="Divider"/>
          <p:cNvCxnSpPr/>
          <p:nvPr/>
        </p:nvCxnSpPr>
        <p:spPr>
          <a:xfrm>
            <a:off x="4160520" y="1828800"/>
            <a:ext cx="0" cy="219456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cxnSp>
        <p:nvCxnSpPr>
          <p:cNvPr id="711" name="Divider"/>
          <p:cNvCxnSpPr/>
          <p:nvPr/>
        </p:nvCxnSpPr>
        <p:spPr>
          <a:xfrm>
            <a:off x="8037576" y="1828800"/>
            <a:ext cx="0" cy="219456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sp>
        <p:nvSpPr>
          <p:cNvPr id="712" name="Benefit Band"/>
          <p:cNvSpPr/>
          <p:nvPr/>
        </p:nvSpPr>
        <p:spPr>
          <a:xfrm>
            <a:off x="502920" y="4343400"/>
            <a:ext cx="11183112" cy="1417320"/>
          </a:xfrm>
          <a:prstGeom prst="roundRect">
            <a:avLst>
              <a:gd name="adj" fmla="val 6000"/>
            </a:avLst>
          </a:prstGeom>
          <a:solidFill>
            <a:srgbClr val="F6F2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713" name="Shape"/>
          <p:cNvSpPr txBox="1"/>
          <p:nvPr/>
        </p:nvSpPr>
        <p:spPr>
          <a:xfrm>
            <a:off x="777240" y="4498848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100" b="1" i="0" spc="200" dirty="0">
                <a:solidFill>
                  <a:srgbClr val="912D1B"/>
                </a:solidFill>
                <a:latin typeface="Arial"/>
                <a:cs typeface="Arial"/>
              </a:rPr>
              <a:t>WHAT THAT MEANS FOR YOU</a:t>
            </a:r>
          </a:p>
        </p:txBody>
      </p:sp>
      <p:sp>
        <p:nvSpPr>
          <p:cNvPr id="714" name="Shape"/>
          <p:cNvSpPr txBox="1"/>
          <p:nvPr/>
        </p:nvSpPr>
        <p:spPr>
          <a:xfrm>
            <a:off x="777240" y="4846320"/>
            <a:ext cx="31546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Multi-LLM, secure enterprise deployment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Governance and audit logging built in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Proven: 99.6% invoice auto-reconciliation</a:t>
            </a:r>
          </a:p>
        </p:txBody>
      </p:sp>
      <p:sp>
        <p:nvSpPr>
          <p:cNvPr id="715" name="Shape"/>
          <p:cNvSpPr txBox="1"/>
          <p:nvPr/>
        </p:nvSpPr>
        <p:spPr>
          <a:xfrm>
            <a:off x="4379976" y="4846320"/>
            <a:ext cx="31546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Architect-level design authority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Core, Agentforce and industry clouds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Integration with data and custom apps</a:t>
            </a:r>
          </a:p>
        </p:txBody>
      </p:sp>
      <p:sp>
        <p:nvSpPr>
          <p:cNvPr id="716" name="Shape"/>
          <p:cNvSpPr txBox="1"/>
          <p:nvPr/>
        </p:nvSpPr>
        <p:spPr>
          <a:xfrm>
            <a:off x="8257032" y="4846320"/>
            <a:ext cx="31546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Senior, U.S.-based engagement leads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Delivers under your customer relationship</a:t>
            </a:r>
          </a:p>
          <a:p>
            <a:pPr marL="228600" indent="-228600" algn="l">
              <a:lnSpc>
                <a:spcPct val="105000"/>
              </a:lnSpc>
              <a:spcAft>
                <a:spcPts val="5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200" b="0" i="0" dirty="0">
                <a:solidFill>
                  <a:srgbClr val="3F3833"/>
                </a:solidFill>
                <a:latin typeface="Arial"/>
                <a:cs typeface="Arial"/>
              </a:rPr>
              <a:t>Fast mobilization for defined scopes</a:t>
            </a:r>
          </a:p>
        </p:txBody>
      </p:sp>
    </p:spTree>
    <p:extLst>
      <p:ext uri="{BB962C8B-B14F-4D97-AF65-F5344CB8AC3E}">
        <p14:creationId xmlns:p14="http://schemas.microsoft.com/office/powerpoint/2010/main" val="2172747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Industries Where We’ve Already Delivered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Proof, not promises — across six industries we already know.</a:t>
            </a:r>
          </a:p>
        </p:txBody>
      </p:sp>
      <p:sp>
        <p:nvSpPr>
          <p:cNvPr id="200" name="Industry Card 1"/>
          <p:cNvSpPr/>
          <p:nvPr/>
        </p:nvSpPr>
        <p:spPr>
          <a:xfrm>
            <a:off x="502920" y="1700000"/>
            <a:ext cx="3606800" cy="2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01" name="Industry Bar 1"/>
          <p:cNvSpPr/>
          <p:nvPr/>
        </p:nvSpPr>
        <p:spPr>
          <a:xfrm>
            <a:off x="502920" y="1700000"/>
            <a:ext cx="45720" cy="210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02" name="Industry Tag 1"/>
          <p:cNvSpPr txBox="1"/>
          <p:nvPr/>
        </p:nvSpPr>
        <p:spPr>
          <a:xfrm>
            <a:off x="731520" y="1850000"/>
            <a:ext cx="3195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000" b="1" i="0" u="none" strike="noStrike" kern="0" cap="none" spc="8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BANKING &amp; FINANCIAL SERVICES</a:t>
            </a:r>
          </a:p>
        </p:txBody>
      </p:sp>
      <p:sp>
        <p:nvSpPr>
          <p:cNvPr id="203" name="Industry Headline 1"/>
          <p:cNvSpPr txBox="1"/>
          <p:nvPr/>
        </p:nvSpPr>
        <p:spPr>
          <a:xfrm>
            <a:off x="731520" y="2130000"/>
            <a:ext cx="3195000" cy="270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Audit-Ready by Design</a:t>
            </a:r>
          </a:p>
        </p:txBody>
      </p:sp>
      <p:sp>
        <p:nvSpPr>
          <p:cNvPr id="204" name="Industry Body 1"/>
          <p:cNvSpPr txBox="1"/>
          <p:nvPr/>
        </p:nvSpPr>
        <p:spPr>
          <a:xfrm>
            <a:off x="731520" y="2489500"/>
            <a:ext cx="3195000" cy="1050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b="0" i="0" u="none" strike="noStrike" kern="0" cap="none" spc="0" normalizeH="0" baseline="0" noProof="0" dirty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ISO 27001-certified delivery with documented, audit-ready records on every engagement — not bolted on after the fact.</a:t>
            </a:r>
          </a:p>
        </p:txBody>
      </p:sp>
      <p:sp>
        <p:nvSpPr>
          <p:cNvPr id="205" name="Industry Card 2"/>
          <p:cNvSpPr/>
          <p:nvPr/>
        </p:nvSpPr>
        <p:spPr>
          <a:xfrm>
            <a:off x="4292600" y="1700000"/>
            <a:ext cx="3606800" cy="2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06" name="Industry Bar 2"/>
          <p:cNvSpPr/>
          <p:nvPr/>
        </p:nvSpPr>
        <p:spPr>
          <a:xfrm>
            <a:off x="4292600" y="1700000"/>
            <a:ext cx="45720" cy="210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07" name="Industry Tag 2"/>
          <p:cNvSpPr txBox="1"/>
          <p:nvPr/>
        </p:nvSpPr>
        <p:spPr>
          <a:xfrm>
            <a:off x="4521200" y="1850000"/>
            <a:ext cx="3195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000" b="1" i="0" u="none" strike="noStrike" kern="0" cap="none" spc="80" normalizeH="0" baseline="0" noProof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HEALTHCARE &amp; LIFE SCIENCES</a:t>
            </a:r>
          </a:p>
        </p:txBody>
      </p:sp>
      <p:sp>
        <p:nvSpPr>
          <p:cNvPr id="208" name="Industry Headline 2"/>
          <p:cNvSpPr txBox="1"/>
          <p:nvPr/>
        </p:nvSpPr>
        <p:spPr>
          <a:xfrm>
            <a:off x="4521200" y="2130000"/>
            <a:ext cx="3195000" cy="270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Compliance-First, Always</a:t>
            </a:r>
          </a:p>
        </p:txBody>
      </p:sp>
      <p:sp>
        <p:nvSpPr>
          <p:cNvPr id="209" name="Industry Body 2"/>
          <p:cNvSpPr txBox="1"/>
          <p:nvPr/>
        </p:nvSpPr>
        <p:spPr>
          <a:xfrm>
            <a:off x="4521200" y="2489500"/>
            <a:ext cx="3195000" cy="781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b="0" i="0" u="none" strike="noStrike" kern="0" cap="none" spc="0" normalizeH="0" baseline="0" noProof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SOC2-ready governance and controls built for environments where a compliance gap isn’t an option.</a:t>
            </a:r>
          </a:p>
        </p:txBody>
      </p:sp>
      <p:sp>
        <p:nvSpPr>
          <p:cNvPr id="210" name="Industry Card 3"/>
          <p:cNvSpPr/>
          <p:nvPr/>
        </p:nvSpPr>
        <p:spPr>
          <a:xfrm>
            <a:off x="8082280" y="1700000"/>
            <a:ext cx="3606800" cy="2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11" name="Industry Bar 3"/>
          <p:cNvSpPr/>
          <p:nvPr/>
        </p:nvSpPr>
        <p:spPr>
          <a:xfrm>
            <a:off x="8082280" y="1700000"/>
            <a:ext cx="45720" cy="210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12" name="Industry Tag 3"/>
          <p:cNvSpPr txBox="1"/>
          <p:nvPr/>
        </p:nvSpPr>
        <p:spPr>
          <a:xfrm>
            <a:off x="8310880" y="1850000"/>
            <a:ext cx="3195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000" b="1" i="0" u="none" strike="noStrike" kern="0" cap="none" spc="80" normalizeH="0" baseline="0" noProof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ENERGY &amp; UTILITIES</a:t>
            </a:r>
          </a:p>
        </p:txBody>
      </p:sp>
      <p:sp>
        <p:nvSpPr>
          <p:cNvPr id="213" name="Industry Headline 3"/>
          <p:cNvSpPr txBox="1"/>
          <p:nvPr/>
        </p:nvSpPr>
        <p:spPr>
          <a:xfrm>
            <a:off x="8310880" y="2130000"/>
            <a:ext cx="3195000" cy="270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70% Faster Reporting</a:t>
            </a:r>
          </a:p>
        </p:txBody>
      </p:sp>
      <p:sp>
        <p:nvSpPr>
          <p:cNvPr id="214" name="Industry Body 3"/>
          <p:cNvSpPr txBox="1"/>
          <p:nvPr/>
        </p:nvSpPr>
        <p:spPr>
          <a:xfrm>
            <a:off x="8310880" y="2489500"/>
            <a:ext cx="3195000" cy="781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b="0" i="0" u="none" strike="noStrike" kern="0" cap="none" spc="0" normalizeH="0" baseline="0" noProof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Unified 3 siloed data sources into one real-time Snowflake layer for a clean energy platform — cutting cost 30%.</a:t>
            </a:r>
          </a:p>
        </p:txBody>
      </p:sp>
      <p:sp>
        <p:nvSpPr>
          <p:cNvPr id="215" name="Industry Card 4"/>
          <p:cNvSpPr/>
          <p:nvPr/>
        </p:nvSpPr>
        <p:spPr>
          <a:xfrm>
            <a:off x="502920" y="4100000"/>
            <a:ext cx="3606800" cy="2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16" name="Industry Bar 4"/>
          <p:cNvSpPr/>
          <p:nvPr/>
        </p:nvSpPr>
        <p:spPr>
          <a:xfrm>
            <a:off x="502920" y="4100000"/>
            <a:ext cx="45720" cy="210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6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17" name="Industry Tag 4"/>
          <p:cNvSpPr txBox="1"/>
          <p:nvPr/>
        </p:nvSpPr>
        <p:spPr>
          <a:xfrm>
            <a:off x="731520" y="4250000"/>
            <a:ext cx="3195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000" b="1" i="0" u="none" strike="noStrike" kern="0" cap="none" spc="80" normalizeH="0" baseline="0" noProof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MANUFACTURING</a:t>
            </a:r>
          </a:p>
        </p:txBody>
      </p:sp>
      <p:sp>
        <p:nvSpPr>
          <p:cNvPr id="218" name="Industry Headline 4"/>
          <p:cNvSpPr txBox="1"/>
          <p:nvPr/>
        </p:nvSpPr>
        <p:spPr>
          <a:xfrm>
            <a:off x="731520" y="4530000"/>
            <a:ext cx="3195000" cy="270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Quote-to-Cash, Automated</a:t>
            </a:r>
          </a:p>
        </p:txBody>
      </p:sp>
      <p:sp>
        <p:nvSpPr>
          <p:cNvPr id="219" name="Industry Body 4"/>
          <p:cNvSpPr txBox="1"/>
          <p:nvPr/>
        </p:nvSpPr>
        <p:spPr>
          <a:xfrm>
            <a:off x="731520" y="4889500"/>
            <a:ext cx="3195000" cy="781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b="0" i="0" u="none" strike="noStrike" kern="0" cap="none" spc="0" normalizeH="0" baseline="0" noProof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Deployed Agentforce AI to automate quoting for an engineer-to-order manufacturer drowning in complexity.</a:t>
            </a:r>
          </a:p>
        </p:txBody>
      </p:sp>
      <p:sp>
        <p:nvSpPr>
          <p:cNvPr id="220" name="Industry Card 5"/>
          <p:cNvSpPr/>
          <p:nvPr/>
        </p:nvSpPr>
        <p:spPr>
          <a:xfrm>
            <a:off x="4292600" y="4100000"/>
            <a:ext cx="3606800" cy="2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21" name="Industry Bar 5"/>
          <p:cNvSpPr/>
          <p:nvPr/>
        </p:nvSpPr>
        <p:spPr>
          <a:xfrm>
            <a:off x="4292600" y="4100000"/>
            <a:ext cx="45720" cy="210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6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22" name="Industry Tag 5"/>
          <p:cNvSpPr txBox="1"/>
          <p:nvPr/>
        </p:nvSpPr>
        <p:spPr>
          <a:xfrm>
            <a:off x="4521200" y="4250000"/>
            <a:ext cx="3195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000" b="1" i="0" u="none" strike="noStrike" kern="0" cap="none" spc="80" normalizeH="0" baseline="0" noProof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AUTOMOTIVE</a:t>
            </a:r>
          </a:p>
        </p:txBody>
      </p:sp>
      <p:sp>
        <p:nvSpPr>
          <p:cNvPr id="223" name="Industry Headline 5"/>
          <p:cNvSpPr txBox="1"/>
          <p:nvPr/>
        </p:nvSpPr>
        <p:spPr>
          <a:xfrm>
            <a:off x="4521200" y="4530000"/>
            <a:ext cx="3195000" cy="270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99.6% Auto-Reconciliation</a:t>
            </a:r>
          </a:p>
        </p:txBody>
      </p:sp>
      <p:sp>
        <p:nvSpPr>
          <p:cNvPr id="224" name="Industry Body 5"/>
          <p:cNvSpPr txBox="1"/>
          <p:nvPr/>
        </p:nvSpPr>
        <p:spPr>
          <a:xfrm>
            <a:off x="4521200" y="4889500"/>
            <a:ext cx="3195000" cy="781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b="0" i="0" u="none" strike="noStrike" kern="0" cap="none" spc="0" normalizeH="0" baseline="0" noProof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Matched 7,970+ invoices automatically for a major auto group — 600+ hours saved every month.</a:t>
            </a:r>
          </a:p>
        </p:txBody>
      </p:sp>
      <p:sp>
        <p:nvSpPr>
          <p:cNvPr id="225" name="Industry Card 6"/>
          <p:cNvSpPr/>
          <p:nvPr/>
        </p:nvSpPr>
        <p:spPr>
          <a:xfrm>
            <a:off x="8082280" y="4100000"/>
            <a:ext cx="3606800" cy="2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26" name="Industry Bar 6"/>
          <p:cNvSpPr/>
          <p:nvPr/>
        </p:nvSpPr>
        <p:spPr>
          <a:xfrm>
            <a:off x="8082280" y="4100000"/>
            <a:ext cx="45720" cy="210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6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27" name="Industry Tag 6"/>
          <p:cNvSpPr txBox="1"/>
          <p:nvPr/>
        </p:nvSpPr>
        <p:spPr>
          <a:xfrm>
            <a:off x="8310880" y="4250000"/>
            <a:ext cx="3195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000" b="1" i="0" u="none" strike="noStrike" kern="0" cap="none" spc="80" normalizeH="0" baseline="0" noProof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TECHNOLOGY &amp; TELECOM</a:t>
            </a:r>
          </a:p>
        </p:txBody>
      </p:sp>
      <p:sp>
        <p:nvSpPr>
          <p:cNvPr id="228" name="Industry Headline 6"/>
          <p:cNvSpPr txBox="1"/>
          <p:nvPr/>
        </p:nvSpPr>
        <p:spPr>
          <a:xfrm>
            <a:off x="8310880" y="4530000"/>
            <a:ext cx="3195000" cy="270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4x the Call Capacity</a:t>
            </a:r>
          </a:p>
        </p:txBody>
      </p:sp>
      <p:sp>
        <p:nvSpPr>
          <p:cNvPr id="229" name="Industry Body 6"/>
          <p:cNvSpPr txBox="1"/>
          <p:nvPr/>
        </p:nvSpPr>
        <p:spPr>
          <a:xfrm>
            <a:off x="8310880" y="4889500"/>
            <a:ext cx="3195000" cy="781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b="0" i="0" u="none" strike="noStrike" kern="0" cap="none" spc="0" normalizeH="0" baseline="0" noProof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 PCI DSS-compliant voice AI agent now handles 100+ payment calls a day — no live agent required.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07567C3D-306D-C0F8-6167-1B62AF2D7F0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HQ, Four Delivery Centers, Two Countries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Onshore leadership. Offshore scale. One accountable team.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1950000"/>
            <a:ext cx="48614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60" normalizeH="0" baseline="0" noProof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UNITED STATES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777240" y="2290000"/>
            <a:ext cx="486140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200" b="1" i="0" u="none" strike="noStrike" kern="0" cap="none" spc="8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Client-Facing Leadership &amp; Solution Architecture</a:t>
            </a:r>
          </a:p>
        </p:txBody>
      </p:sp>
      <p:sp>
        <p:nvSpPr>
          <p:cNvPr id="3" name="Rounded Rectangle 30">
            <a:extLst>
              <a:ext uri="{FF2B5EF4-FFF2-40B4-BE49-F238E27FC236}">
                <a16:creationId xmlns:a16="http://schemas.microsoft.com/office/drawing/2014/main" id="{394F8508-039F-DBC4-0CDA-6D1B557ADE43}"/>
              </a:ext>
            </a:extLst>
          </p:cNvPr>
          <p:cNvSpPr/>
          <p:nvPr/>
        </p:nvSpPr>
        <p:spPr>
          <a:xfrm>
            <a:off x="502920" y="2612636"/>
            <a:ext cx="5410048" cy="17830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Oval 32"/>
          <p:cNvSpPr/>
          <p:nvPr/>
        </p:nvSpPr>
        <p:spPr>
          <a:xfrm>
            <a:off x="777240" y="2894864"/>
            <a:ext cx="100584" cy="100584"/>
          </a:xfrm>
          <a:prstGeom prst="ellipse">
            <a:avLst/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005840" y="2840000"/>
            <a:ext cx="46328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McKinney, TX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79596" y="2821712"/>
            <a:ext cx="1559052" cy="272700"/>
          </a:xfrm>
          <a:prstGeom prst="roundRect">
            <a:avLst>
              <a:gd name="adj" fmla="val 50000"/>
            </a:avLst>
          </a:prstGeom>
          <a:solidFill>
            <a:srgbClr val="F7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200" b="1" dirty="0">
                <a:solidFill>
                  <a:srgbClr val="912D1B"/>
                </a:solidFill>
                <a:cs typeface="Arial"/>
              </a:rPr>
              <a:t>Headquarters</a:t>
            </a:r>
            <a:endParaRPr kumimoji="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Rounded Rectangle 30">
            <a:extLst>
              <a:ext uri="{FF2B5EF4-FFF2-40B4-BE49-F238E27FC236}">
                <a16:creationId xmlns:a16="http://schemas.microsoft.com/office/drawing/2014/main" id="{38AAEEDD-77A9-1989-9D74-5FCC75471942}"/>
              </a:ext>
            </a:extLst>
          </p:cNvPr>
          <p:cNvSpPr/>
          <p:nvPr/>
        </p:nvSpPr>
        <p:spPr>
          <a:xfrm>
            <a:off x="6393028" y="2612636"/>
            <a:ext cx="5410048" cy="17830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7" name="Oval 36"/>
          <p:cNvSpPr/>
          <p:nvPr/>
        </p:nvSpPr>
        <p:spPr>
          <a:xfrm>
            <a:off x="777240" y="3374864"/>
            <a:ext cx="100584" cy="100584"/>
          </a:xfrm>
          <a:prstGeom prst="ellipse">
            <a:avLst/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05840" y="3320000"/>
            <a:ext cx="46328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Chicago, 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79596" y="3301712"/>
            <a:ext cx="1559052" cy="292608"/>
          </a:xfrm>
          <a:prstGeom prst="roundRect">
            <a:avLst>
              <a:gd name="adj" fmla="val 50000"/>
            </a:avLst>
          </a:prstGeom>
          <a:solidFill>
            <a:srgbClr val="F7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912D1B"/>
                </a:solidFill>
                <a:cs typeface="Arial"/>
              </a:rPr>
              <a:t>Delivery Center</a:t>
            </a:r>
          </a:p>
        </p:txBody>
      </p:sp>
      <p:sp>
        <p:nvSpPr>
          <p:cNvPr id="41" name="Oval 40"/>
          <p:cNvSpPr/>
          <p:nvPr/>
        </p:nvSpPr>
        <p:spPr>
          <a:xfrm>
            <a:off x="777240" y="3854864"/>
            <a:ext cx="100584" cy="100584"/>
          </a:xfrm>
          <a:prstGeom prst="ellipse">
            <a:avLst/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05840" y="3800000"/>
            <a:ext cx="46328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Phoenix, AZ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079596" y="3781712"/>
            <a:ext cx="1559052" cy="292608"/>
          </a:xfrm>
          <a:prstGeom prst="roundRect">
            <a:avLst>
              <a:gd name="adj" fmla="val 50000"/>
            </a:avLst>
          </a:prstGeom>
          <a:solidFill>
            <a:srgbClr val="F7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912D1B"/>
                </a:solidFill>
                <a:cs typeface="Arial"/>
              </a:rPr>
              <a:t>Delivery Center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3048" y="1950000"/>
            <a:ext cx="48614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60" normalizeH="0" baseline="0" noProof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INDIA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6553048" y="2290000"/>
            <a:ext cx="486140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200" b="1" i="0" u="none" strike="noStrike" kern="0" cap="none" spc="80" normalizeH="0" baseline="0" noProof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Delivery Engine &amp; Technical Depth at Scale</a:t>
            </a:r>
          </a:p>
        </p:txBody>
      </p:sp>
      <p:sp>
        <p:nvSpPr>
          <p:cNvPr id="47" name="Oval 46"/>
          <p:cNvSpPr/>
          <p:nvPr/>
        </p:nvSpPr>
        <p:spPr>
          <a:xfrm>
            <a:off x="6553048" y="2894864"/>
            <a:ext cx="100584" cy="100584"/>
          </a:xfrm>
          <a:prstGeom prst="ellipse">
            <a:avLst/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781648" y="2840000"/>
            <a:ext cx="46328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Hyderabad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55403" y="2821712"/>
            <a:ext cx="1559052" cy="292608"/>
          </a:xfrm>
          <a:prstGeom prst="roundRect">
            <a:avLst>
              <a:gd name="adj" fmla="val 50000"/>
            </a:avLst>
          </a:prstGeom>
          <a:solidFill>
            <a:srgbClr val="F7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912D1B"/>
                </a:solidFill>
                <a:cs typeface="Arial"/>
              </a:rPr>
              <a:t>Delivery Center</a:t>
            </a:r>
          </a:p>
        </p:txBody>
      </p:sp>
      <p:sp>
        <p:nvSpPr>
          <p:cNvPr id="51" name="Oval 50"/>
          <p:cNvSpPr/>
          <p:nvPr/>
        </p:nvSpPr>
        <p:spPr>
          <a:xfrm>
            <a:off x="6553048" y="3374864"/>
            <a:ext cx="100584" cy="100584"/>
          </a:xfrm>
          <a:prstGeom prst="ellipse">
            <a:avLst/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" name="Rounded Rectangle 30">
            <a:extLst>
              <a:ext uri="{FF2B5EF4-FFF2-40B4-BE49-F238E27FC236}">
                <a16:creationId xmlns:a16="http://schemas.microsoft.com/office/drawing/2014/main" id="{84C92FD8-607F-4656-04FD-4DE732F88944}"/>
              </a:ext>
            </a:extLst>
          </p:cNvPr>
          <p:cNvSpPr/>
          <p:nvPr/>
        </p:nvSpPr>
        <p:spPr>
          <a:xfrm>
            <a:off x="502920" y="4972292"/>
            <a:ext cx="5410048" cy="1198495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781648" y="3320000"/>
            <a:ext cx="46328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sz="1800" b="1" i="0" u="none" strike="noStrike" kern="0" cap="none" spc="0" normalizeH="0" baseline="0" noProof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Bangalore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55403" y="3301712"/>
            <a:ext cx="1559052" cy="292608"/>
          </a:xfrm>
          <a:prstGeom prst="roundRect">
            <a:avLst>
              <a:gd name="adj" fmla="val 50000"/>
            </a:avLst>
          </a:prstGeom>
          <a:solidFill>
            <a:srgbClr val="F7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912D1B"/>
                </a:solidFill>
                <a:cs typeface="Arial"/>
              </a:rPr>
              <a:t>Delivery Center</a:t>
            </a:r>
          </a:p>
        </p:txBody>
      </p:sp>
      <p:sp>
        <p:nvSpPr>
          <p:cNvPr id="60" name="Scale Divider"/>
          <p:cNvSpPr/>
          <p:nvPr/>
        </p:nvSpPr>
        <p:spPr>
          <a:xfrm>
            <a:off x="502920" y="4750704"/>
            <a:ext cx="11186160" cy="12700"/>
          </a:xfrm>
          <a:prstGeom prst="rect">
            <a:avLst/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Scale Number"/>
          <p:cNvSpPr txBox="1"/>
          <p:nvPr/>
        </p:nvSpPr>
        <p:spPr>
          <a:xfrm>
            <a:off x="777240" y="5322223"/>
            <a:ext cx="3302356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2400" b="1" dirty="0">
                <a:solidFill>
                  <a:srgbClr val="912D1B"/>
                </a:solidFill>
              </a:rPr>
              <a:t>1,0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00+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Technologists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912D1B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62" name="Scale Label"/>
          <p:cNvSpPr txBox="1"/>
          <p:nvPr/>
        </p:nvSpPr>
        <p:spPr>
          <a:xfrm>
            <a:off x="777240" y="5734648"/>
            <a:ext cx="4632808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cross enterprise platforms, US and India combined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Rounded Rectangle 30">
            <a:extLst>
              <a:ext uri="{FF2B5EF4-FFF2-40B4-BE49-F238E27FC236}">
                <a16:creationId xmlns:a16="http://schemas.microsoft.com/office/drawing/2014/main" id="{B7B1CFA2-0137-DF59-BD83-8A0A585C26EA}"/>
              </a:ext>
            </a:extLst>
          </p:cNvPr>
          <p:cNvSpPr/>
          <p:nvPr/>
        </p:nvSpPr>
        <p:spPr>
          <a:xfrm>
            <a:off x="6393028" y="4959593"/>
            <a:ext cx="5410048" cy="1198495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3" name="ISO Badge" descr="image105.png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53048" y="5080000"/>
            <a:ext cx="650000" cy="590000"/>
          </a:xfrm>
          <a:prstGeom prst="rect">
            <a:avLst/>
          </a:prstGeom>
        </p:spPr>
      </p:pic>
      <p:sp>
        <p:nvSpPr>
          <p:cNvPr id="64" name="ISO Headline"/>
          <p:cNvSpPr txBox="1"/>
          <p:nvPr/>
        </p:nvSpPr>
        <p:spPr>
          <a:xfrm>
            <a:off x="7350000" y="5362223"/>
            <a:ext cx="43390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sz="2000" b="1" dirty="0">
                <a:solidFill>
                  <a:srgbClr val="912D1B"/>
                </a:solidFill>
              </a:rPr>
              <a:t>ISO 27001 Certified</a:t>
            </a:r>
          </a:p>
        </p:txBody>
      </p:sp>
      <p:sp>
        <p:nvSpPr>
          <p:cNvPr id="65" name="ISO Body"/>
          <p:cNvSpPr txBox="1"/>
          <p:nvPr/>
        </p:nvSpPr>
        <p:spPr>
          <a:xfrm>
            <a:off x="6570082" y="5734648"/>
            <a:ext cx="516164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defTabSz="914400" eaLnBrk="1" fontAlgn="auto" latinLnBrk="0" hangingPunct="1">
              <a:lnSpc>
                <a:spcPct val="115000"/>
              </a:lnSpc>
              <a:buSzTx/>
              <a:buNone/>
              <a:tabLst/>
              <a:defRPr kumimoji="0" sz="1200" kern="0" spc="0" normalizeH="0" baseline="0">
                <a:ln>
                  <a:noFill/>
                </a:ln>
                <a:solidFill>
                  <a:srgbClr val="6E625A"/>
                </a:solidFill>
                <a:effectLst/>
                <a:uLnTx/>
                <a:uFillTx/>
              </a:defRPr>
            </a:lvl1pPr>
          </a:lstStyle>
          <a:p>
            <a:r>
              <a:rPr dirty="0"/>
              <a:t>Independently certified information security management system</a:t>
            </a:r>
          </a:p>
        </p:txBody>
      </p:sp>
      <p:sp>
        <p:nvSpPr>
          <p:cNvPr id="9" name="Google Shape;103;p2">
            <a:extLst>
              <a:ext uri="{FF2B5EF4-FFF2-40B4-BE49-F238E27FC236}">
                <a16:creationId xmlns:a16="http://schemas.microsoft.com/office/drawing/2014/main" id="{3F3AB144-FF85-CC54-ED71-B04C1BAB18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858000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15819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AI &amp; Data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b="0" i="0" dirty="0">
                <a:solidFill>
                  <a:srgbClr val="F5E3DE"/>
                </a:solidFill>
                <a:latin typeface="Arial"/>
                <a:cs typeface="Arial"/>
              </a:rPr>
              <a:t>Modern data platforms and production AI — from lakehouse architecture to enterprise AI agents.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4687003"/>
            <a:ext cx="1353121" cy="31862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Snowflake</a:t>
            </a:r>
          </a:p>
        </p:txBody>
      </p:sp>
      <p:sp>
        <p:nvSpPr>
          <p:cNvPr id="306" name="Chip"/>
          <p:cNvSpPr/>
          <p:nvPr/>
        </p:nvSpPr>
        <p:spPr>
          <a:xfrm>
            <a:off x="1996262" y="4687003"/>
            <a:ext cx="1462163" cy="31862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Databricks</a:t>
            </a:r>
          </a:p>
        </p:txBody>
      </p:sp>
      <p:sp>
        <p:nvSpPr>
          <p:cNvPr id="307" name="Chip"/>
          <p:cNvSpPr/>
          <p:nvPr/>
        </p:nvSpPr>
        <p:spPr>
          <a:xfrm>
            <a:off x="548640" y="5504688"/>
            <a:ext cx="698865" cy="31862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AWS</a:t>
            </a:r>
          </a:p>
        </p:txBody>
      </p:sp>
      <p:sp>
        <p:nvSpPr>
          <p:cNvPr id="308" name="Chip"/>
          <p:cNvSpPr/>
          <p:nvPr/>
        </p:nvSpPr>
        <p:spPr>
          <a:xfrm>
            <a:off x="548640" y="5098483"/>
            <a:ext cx="1025992" cy="31862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309" name="Chip"/>
          <p:cNvSpPr/>
          <p:nvPr/>
        </p:nvSpPr>
        <p:spPr>
          <a:xfrm>
            <a:off x="1679441" y="5098483"/>
            <a:ext cx="1025992" cy="31862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OpenAI</a:t>
            </a:r>
          </a:p>
        </p:txBody>
      </p:sp>
      <p:sp>
        <p:nvSpPr>
          <p:cNvPr id="310" name="Chip"/>
          <p:cNvSpPr/>
          <p:nvPr/>
        </p:nvSpPr>
        <p:spPr>
          <a:xfrm>
            <a:off x="1335675" y="5504688"/>
            <a:ext cx="698865" cy="31862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RAG</a:t>
            </a:r>
          </a:p>
        </p:txBody>
      </p:sp>
      <p:sp>
        <p:nvSpPr>
          <p:cNvPr id="311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5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lnSpc>
                <a:spcPct val="90000"/>
              </a:lnSpc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r>
              <a:rPr lang="en-US" dirty="0"/>
              <a:t>HOW OUR DATA &amp; AI CAPABILITIES FIT TOGETHER</a:t>
            </a:r>
          </a:p>
        </p:txBody>
      </p:sp>
      <p:sp>
        <p:nvSpPr>
          <p:cNvPr id="312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AI &amp; APPS</a:t>
            </a:r>
          </a:p>
        </p:txBody>
      </p:sp>
      <p:sp>
        <p:nvSpPr>
          <p:cNvPr id="313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4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5" name="Icon" descr="ic_ai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6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AI Agents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Domain agents, RAG and conversational AI</a:t>
            </a:r>
          </a:p>
        </p:txBody>
      </p:sp>
      <p:sp>
        <p:nvSpPr>
          <p:cNvPr id="317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8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9" name="Icon" descr="ic_doc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20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Document AI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OCR, NLP, search and summarization</a:t>
            </a:r>
          </a:p>
        </p:txBody>
      </p:sp>
      <p:cxnSp>
        <p:nvCxnSpPr>
          <p:cNvPr id="321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2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3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PLATFORM</a:t>
            </a:r>
          </a:p>
        </p:txBody>
      </p:sp>
      <p:sp>
        <p:nvSpPr>
          <p:cNvPr id="324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5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6" name="Icon" descr="ic_db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7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Modern Data Platform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Lakehouse and medallion architecture on Snowflake and Databricks</a:t>
            </a:r>
          </a:p>
        </p:txBody>
      </p:sp>
      <p:cxnSp>
        <p:nvCxnSpPr>
          <p:cNvPr id="328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9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FOUNDATION</a:t>
            </a:r>
          </a:p>
        </p:txBody>
      </p:sp>
      <p:sp>
        <p:nvSpPr>
          <p:cNvPr id="330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1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2" name="Icon" descr="ic_lock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3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Engineering &amp; Governance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Migrations, ELT pipelines, lineage, RBAC and PII controls</a:t>
            </a:r>
          </a:p>
        </p:txBody>
      </p:sp>
      <p:sp>
        <p:nvSpPr>
          <p:cNvPr id="334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YOUR DATA</a:t>
            </a:r>
          </a:p>
        </p:txBody>
      </p:sp>
      <p:cxnSp>
        <p:nvCxnSpPr>
          <p:cNvPr id="335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6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 &amp; CRM</a:t>
            </a:r>
          </a:p>
        </p:txBody>
      </p:sp>
      <p:cxnSp>
        <p:nvCxnSpPr>
          <p:cNvPr id="337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8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SQL Databases</a:t>
            </a:r>
          </a:p>
        </p:txBody>
      </p:sp>
      <p:cxnSp>
        <p:nvCxnSpPr>
          <p:cNvPr id="339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0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IoT &amp; Time-Series</a:t>
            </a:r>
          </a:p>
        </p:txBody>
      </p:sp>
      <p:cxnSp>
        <p:nvCxnSpPr>
          <p:cNvPr id="341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2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Documents</a:t>
            </a:r>
          </a:p>
        </p:txBody>
      </p:sp>
      <p:sp>
        <p:nvSpPr>
          <p:cNvPr id="2" name="Google Shape;103;p2">
            <a:extLst>
              <a:ext uri="{FF2B5EF4-FFF2-40B4-BE49-F238E27FC236}">
                <a16:creationId xmlns:a16="http://schemas.microsoft.com/office/drawing/2014/main" id="{AAA8CC09-9A38-35B2-3F71-181FDFE8E77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08560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3CE4E-5141-D8AF-EFC7-51FF6136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C5A09-46F4-0DAC-7F7C-F4B027F190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7E8F2CA-2106-D94D-56D0-4D93AFE66BA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r>
              <a:rPr lang="en-US" dirty="0">
                <a:latin typeface="Montserrat"/>
              </a:rPr>
              <a:t>Enterprise AI Capability - Built &amp; Delivered Since 2019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3FC386EF-4248-2424-C4B2-1ADF036A71D3}"/>
              </a:ext>
            </a:extLst>
          </p:cNvPr>
          <p:cNvSpPr>
            <a:spLocks noGrp="1"/>
          </p:cNvSpPr>
          <p:nvPr/>
        </p:nvSpPr>
        <p:spPr>
          <a:xfrm>
            <a:off x="9993059" y="5777463"/>
            <a:ext cx="207635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algn="ctr"/>
            <a:r>
              <a:rPr lang="en-US" sz="1600" i="0" dirty="0" err="1"/>
              <a:t>Palni’s</a:t>
            </a:r>
            <a:r>
              <a:rPr lang="en-US" sz="1600" i="0" dirty="0"/>
              <a:t> Enterprise AI Subsidiary</a:t>
            </a:r>
            <a:endParaRPr lang="en-US" sz="1600" dirty="0"/>
          </a:p>
        </p:txBody>
      </p:sp>
      <p:sp>
        <p:nvSpPr>
          <p:cNvPr id="23" name="Google Shape;952;p35">
            <a:extLst>
              <a:ext uri="{FF2B5EF4-FFF2-40B4-BE49-F238E27FC236}">
                <a16:creationId xmlns:a16="http://schemas.microsoft.com/office/drawing/2014/main" id="{2E8DB31E-9F68-CA45-DF81-B0D65C46AA06}"/>
              </a:ext>
            </a:extLst>
          </p:cNvPr>
          <p:cNvSpPr/>
          <p:nvPr/>
        </p:nvSpPr>
        <p:spPr>
          <a:xfrm>
            <a:off x="2278016" y="2703454"/>
            <a:ext cx="738076" cy="738076"/>
          </a:xfrm>
          <a:custGeom>
            <a:avLst/>
            <a:gdLst/>
            <a:ahLst/>
            <a:cxnLst/>
            <a:rect l="l" t="t" r="r" b="b"/>
            <a:pathLst>
              <a:path w="20730" h="20730" extrusionOk="0">
                <a:moveTo>
                  <a:pt x="10371" y="1"/>
                </a:moveTo>
                <a:cubicBezTo>
                  <a:pt x="4644" y="1"/>
                  <a:pt x="1" y="4644"/>
                  <a:pt x="1" y="10371"/>
                </a:cubicBezTo>
                <a:cubicBezTo>
                  <a:pt x="1" y="16086"/>
                  <a:pt x="4644" y="20730"/>
                  <a:pt x="10371" y="20730"/>
                </a:cubicBezTo>
                <a:cubicBezTo>
                  <a:pt x="16086" y="20730"/>
                  <a:pt x="20729" y="16086"/>
                  <a:pt x="20729" y="10371"/>
                </a:cubicBezTo>
                <a:cubicBezTo>
                  <a:pt x="20729" y="4644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24" name="Google Shape;953;p35">
            <a:extLst>
              <a:ext uri="{FF2B5EF4-FFF2-40B4-BE49-F238E27FC236}">
                <a16:creationId xmlns:a16="http://schemas.microsoft.com/office/drawing/2014/main" id="{D4F489E2-4A85-1862-3FC0-41D5760E2848}"/>
              </a:ext>
            </a:extLst>
          </p:cNvPr>
          <p:cNvSpPr/>
          <p:nvPr/>
        </p:nvSpPr>
        <p:spPr>
          <a:xfrm>
            <a:off x="2647232" y="2786554"/>
            <a:ext cx="511277" cy="797428"/>
          </a:xfrm>
          <a:custGeom>
            <a:avLst/>
            <a:gdLst/>
            <a:ahLst/>
            <a:cxnLst/>
            <a:rect l="l" t="t" r="r" b="b"/>
            <a:pathLst>
              <a:path w="14360" h="22397" fill="none" extrusionOk="0">
                <a:moveTo>
                  <a:pt x="11907" y="1"/>
                </a:moveTo>
                <a:cubicBezTo>
                  <a:pt x="13455" y="2298"/>
                  <a:pt x="14360" y="5061"/>
                  <a:pt x="14360" y="8037"/>
                </a:cubicBezTo>
                <a:cubicBezTo>
                  <a:pt x="14360" y="15967"/>
                  <a:pt x="7930" y="22396"/>
                  <a:pt x="1" y="22396"/>
                </a:cubicBezTo>
              </a:path>
            </a:pathLst>
          </a:custGeom>
          <a:solidFill>
            <a:schemeClr val="accent1">
              <a:lumMod val="75000"/>
            </a:schemeClr>
          </a:solidFill>
          <a:ln w="81550" cap="flat" cmpd="sng">
            <a:solidFill>
              <a:schemeClr val="accent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25" name="Google Shape;954;p35">
            <a:extLst>
              <a:ext uri="{FF2B5EF4-FFF2-40B4-BE49-F238E27FC236}">
                <a16:creationId xmlns:a16="http://schemas.microsoft.com/office/drawing/2014/main" id="{289D8C5A-B284-CF14-62AE-8910AF3BD52E}"/>
              </a:ext>
            </a:extLst>
          </p:cNvPr>
          <p:cNvGrpSpPr/>
          <p:nvPr/>
        </p:nvGrpSpPr>
        <p:grpSpPr>
          <a:xfrm>
            <a:off x="1511030" y="2894043"/>
            <a:ext cx="2553713" cy="1580400"/>
            <a:chOff x="1597088" y="2023550"/>
            <a:chExt cx="1793125" cy="1395125"/>
          </a:xfrm>
        </p:grpSpPr>
        <p:sp>
          <p:nvSpPr>
            <p:cNvPr id="26" name="Google Shape;955;p35">
              <a:extLst>
                <a:ext uri="{FF2B5EF4-FFF2-40B4-BE49-F238E27FC236}">
                  <a16:creationId xmlns:a16="http://schemas.microsoft.com/office/drawing/2014/main" id="{9FCCBA31-B661-A607-C36D-66694385771B}"/>
                </a:ext>
              </a:extLst>
            </p:cNvPr>
            <p:cNvSpPr/>
            <p:nvPr/>
          </p:nvSpPr>
          <p:spPr>
            <a:xfrm>
              <a:off x="2968088" y="2088450"/>
              <a:ext cx="367050" cy="126225"/>
            </a:xfrm>
            <a:custGeom>
              <a:avLst/>
              <a:gdLst/>
              <a:ahLst/>
              <a:cxnLst/>
              <a:rect l="l" t="t" r="r" b="b"/>
              <a:pathLst>
                <a:path w="14682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51" y="0"/>
                    <a:pt x="1" y="2262"/>
                    <a:pt x="1" y="5048"/>
                  </a:cubicBez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7" name="Google Shape;956;p35">
              <a:extLst>
                <a:ext uri="{FF2B5EF4-FFF2-40B4-BE49-F238E27FC236}">
                  <a16:creationId xmlns:a16="http://schemas.microsoft.com/office/drawing/2014/main" id="{03485804-D712-5328-59AF-7834F6909310}"/>
                </a:ext>
              </a:extLst>
            </p:cNvPr>
            <p:cNvSpPr/>
            <p:nvPr/>
          </p:nvSpPr>
          <p:spPr>
            <a:xfrm>
              <a:off x="1597088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72" y="1905"/>
                  </a:moveTo>
                  <a:lnTo>
                    <a:pt x="5037" y="1905"/>
                  </a:lnTo>
                  <a:cubicBezTo>
                    <a:pt x="2251" y="1905"/>
                    <a:pt x="1" y="4167"/>
                    <a:pt x="1" y="6954"/>
                  </a:cubicBezTo>
                  <a:lnTo>
                    <a:pt x="1" y="34671"/>
                  </a:lnTo>
                  <a:cubicBezTo>
                    <a:pt x="1" y="37457"/>
                    <a:pt x="2251" y="39719"/>
                    <a:pt x="5037" y="39719"/>
                  </a:cubicBezTo>
                  <a:lnTo>
                    <a:pt x="20372" y="39719"/>
                  </a:lnTo>
                  <a:cubicBezTo>
                    <a:pt x="21015" y="39719"/>
                    <a:pt x="21634" y="40029"/>
                    <a:pt x="22015" y="40553"/>
                  </a:cubicBezTo>
                  <a:lnTo>
                    <a:pt x="25766" y="47054"/>
                  </a:lnTo>
                  <a:cubicBezTo>
                    <a:pt x="26587" y="48161"/>
                    <a:pt x="28254" y="48161"/>
                    <a:pt x="29064" y="47054"/>
                  </a:cubicBezTo>
                  <a:lnTo>
                    <a:pt x="32814" y="40553"/>
                  </a:lnTo>
                  <a:cubicBezTo>
                    <a:pt x="33207" y="40029"/>
                    <a:pt x="33815" y="39719"/>
                    <a:pt x="34469" y="39719"/>
                  </a:cubicBezTo>
                  <a:lnTo>
                    <a:pt x="49793" y="39719"/>
                  </a:lnTo>
                  <a:cubicBezTo>
                    <a:pt x="52579" y="39719"/>
                    <a:pt x="54841" y="37457"/>
                    <a:pt x="54841" y="34671"/>
                  </a:cubicBezTo>
                  <a:lnTo>
                    <a:pt x="54841" y="0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8" name="Google Shape;957;p35">
              <a:extLst>
                <a:ext uri="{FF2B5EF4-FFF2-40B4-BE49-F238E27FC236}">
                  <a16:creationId xmlns:a16="http://schemas.microsoft.com/office/drawing/2014/main" id="{57D88DCA-4226-C872-8F98-7D62DEE2CDD2}"/>
                </a:ext>
              </a:extLst>
            </p:cNvPr>
            <p:cNvSpPr/>
            <p:nvPr/>
          </p:nvSpPr>
          <p:spPr>
            <a:xfrm>
              <a:off x="3280038" y="2023550"/>
              <a:ext cx="110175" cy="129800"/>
            </a:xfrm>
            <a:custGeom>
              <a:avLst/>
              <a:gdLst/>
              <a:ahLst/>
              <a:cxnLst/>
              <a:rect l="l" t="t" r="r" b="b"/>
              <a:pathLst>
                <a:path w="4407" h="5192" extrusionOk="0">
                  <a:moveTo>
                    <a:pt x="25" y="0"/>
                  </a:moveTo>
                  <a:lnTo>
                    <a:pt x="2263" y="2572"/>
                  </a:lnTo>
                  <a:lnTo>
                    <a:pt x="1" y="5180"/>
                  </a:lnTo>
                  <a:lnTo>
                    <a:pt x="13" y="5192"/>
                  </a:lnTo>
                  <a:lnTo>
                    <a:pt x="2120" y="5192"/>
                  </a:lnTo>
                  <a:lnTo>
                    <a:pt x="3334" y="3799"/>
                  </a:lnTo>
                  <a:lnTo>
                    <a:pt x="4406" y="2572"/>
                  </a:lnTo>
                  <a:lnTo>
                    <a:pt x="216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29" name="Google Shape;958;p35">
            <a:extLst>
              <a:ext uri="{FF2B5EF4-FFF2-40B4-BE49-F238E27FC236}">
                <a16:creationId xmlns:a16="http://schemas.microsoft.com/office/drawing/2014/main" id="{BB9F3393-48BB-2B3F-112F-D09DE6DAA7B8}"/>
              </a:ext>
            </a:extLst>
          </p:cNvPr>
          <p:cNvGrpSpPr/>
          <p:nvPr/>
        </p:nvGrpSpPr>
        <p:grpSpPr>
          <a:xfrm>
            <a:off x="2455698" y="4563511"/>
            <a:ext cx="63197" cy="375197"/>
            <a:chOff x="2260263" y="3508250"/>
            <a:chExt cx="44375" cy="263450"/>
          </a:xfrm>
        </p:grpSpPr>
        <p:sp>
          <p:nvSpPr>
            <p:cNvPr id="30" name="Google Shape;959;p35">
              <a:extLst>
                <a:ext uri="{FF2B5EF4-FFF2-40B4-BE49-F238E27FC236}">
                  <a16:creationId xmlns:a16="http://schemas.microsoft.com/office/drawing/2014/main" id="{2FC8E64E-A487-C160-D297-8E190BDED750}"/>
                </a:ext>
              </a:extLst>
            </p:cNvPr>
            <p:cNvSpPr/>
            <p:nvPr/>
          </p:nvSpPr>
          <p:spPr>
            <a:xfrm>
              <a:off x="2260263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75" y="1382"/>
                    <a:pt x="1775" y="894"/>
                  </a:cubicBezTo>
                  <a:cubicBezTo>
                    <a:pt x="1775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1" name="Google Shape;960;p35">
              <a:extLst>
                <a:ext uri="{FF2B5EF4-FFF2-40B4-BE49-F238E27FC236}">
                  <a16:creationId xmlns:a16="http://schemas.microsoft.com/office/drawing/2014/main" id="{BCBB59E6-544A-EDCF-FA3F-6E9615BE691B}"/>
                </a:ext>
              </a:extLst>
            </p:cNvPr>
            <p:cNvSpPr/>
            <p:nvPr/>
          </p:nvSpPr>
          <p:spPr>
            <a:xfrm>
              <a:off x="2260263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2" name="Google Shape;961;p35">
              <a:extLst>
                <a:ext uri="{FF2B5EF4-FFF2-40B4-BE49-F238E27FC236}">
                  <a16:creationId xmlns:a16="http://schemas.microsoft.com/office/drawing/2014/main" id="{32E64F0A-057C-49EF-E2DD-BFBAB3806394}"/>
                </a:ext>
              </a:extLst>
            </p:cNvPr>
            <p:cNvSpPr/>
            <p:nvPr/>
          </p:nvSpPr>
          <p:spPr>
            <a:xfrm>
              <a:off x="2260263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3" name="Google Shape;962;p35">
              <a:extLst>
                <a:ext uri="{FF2B5EF4-FFF2-40B4-BE49-F238E27FC236}">
                  <a16:creationId xmlns:a16="http://schemas.microsoft.com/office/drawing/2014/main" id="{976A0735-5293-0B55-A0E0-AB537067A1AE}"/>
                </a:ext>
              </a:extLst>
            </p:cNvPr>
            <p:cNvSpPr/>
            <p:nvPr/>
          </p:nvSpPr>
          <p:spPr>
            <a:xfrm>
              <a:off x="2260263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34" name="Google Shape;966;p35">
            <a:extLst>
              <a:ext uri="{FF2B5EF4-FFF2-40B4-BE49-F238E27FC236}">
                <a16:creationId xmlns:a16="http://schemas.microsoft.com/office/drawing/2014/main" id="{41E582BF-5365-61D3-84D5-7A51E39BC319}"/>
              </a:ext>
            </a:extLst>
          </p:cNvPr>
          <p:cNvSpPr/>
          <p:nvPr/>
        </p:nvSpPr>
        <p:spPr>
          <a:xfrm>
            <a:off x="4682085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59" y="1"/>
                </a:moveTo>
                <a:cubicBezTo>
                  <a:pt x="4644" y="1"/>
                  <a:pt x="1" y="4633"/>
                  <a:pt x="1" y="10359"/>
                </a:cubicBezTo>
                <a:cubicBezTo>
                  <a:pt x="1" y="16074"/>
                  <a:pt x="4644" y="20718"/>
                  <a:pt x="10359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5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2021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35" name="Google Shape;967;p35">
            <a:extLst>
              <a:ext uri="{FF2B5EF4-FFF2-40B4-BE49-F238E27FC236}">
                <a16:creationId xmlns:a16="http://schemas.microsoft.com/office/drawing/2014/main" id="{D533BF08-725B-D6E0-C8AB-AE744F260940}"/>
              </a:ext>
            </a:extLst>
          </p:cNvPr>
          <p:cNvSpPr/>
          <p:nvPr/>
        </p:nvSpPr>
        <p:spPr>
          <a:xfrm>
            <a:off x="4425200" y="3860484"/>
            <a:ext cx="463781" cy="863972"/>
          </a:xfrm>
          <a:custGeom>
            <a:avLst/>
            <a:gdLst/>
            <a:ahLst/>
            <a:cxnLst/>
            <a:rect l="l" t="t" r="r" b="b"/>
            <a:pathLst>
              <a:path w="13026" h="24266" fill="none" extrusionOk="0">
                <a:moveTo>
                  <a:pt x="13026" y="24265"/>
                </a:moveTo>
                <a:cubicBezTo>
                  <a:pt x="10311" y="23742"/>
                  <a:pt x="7716" y="22420"/>
                  <a:pt x="5608" y="20313"/>
                </a:cubicBezTo>
                <a:cubicBezTo>
                  <a:pt x="0" y="14705"/>
                  <a:pt x="0" y="5608"/>
                  <a:pt x="5608" y="1"/>
                </a:cubicBezTo>
              </a:path>
            </a:pathLst>
          </a:custGeom>
          <a:noFill/>
          <a:ln w="81550" cap="flat" cmpd="sng">
            <a:solidFill>
              <a:schemeClr val="accent2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36" name="Google Shape;968;p35">
            <a:extLst>
              <a:ext uri="{FF2B5EF4-FFF2-40B4-BE49-F238E27FC236}">
                <a16:creationId xmlns:a16="http://schemas.microsoft.com/office/drawing/2014/main" id="{3F4F5965-D268-7DB1-69A3-D7C6C2D06D8F}"/>
              </a:ext>
            </a:extLst>
          </p:cNvPr>
          <p:cNvGrpSpPr/>
          <p:nvPr/>
        </p:nvGrpSpPr>
        <p:grpSpPr>
          <a:xfrm flipH="1">
            <a:off x="3716474" y="2944437"/>
            <a:ext cx="2553678" cy="1581221"/>
            <a:chOff x="2679963" y="2089625"/>
            <a:chExt cx="1793100" cy="1395450"/>
          </a:xfrm>
        </p:grpSpPr>
        <p:sp>
          <p:nvSpPr>
            <p:cNvPr id="37" name="Google Shape;969;p35">
              <a:extLst>
                <a:ext uri="{FF2B5EF4-FFF2-40B4-BE49-F238E27FC236}">
                  <a16:creationId xmlns:a16="http://schemas.microsoft.com/office/drawing/2014/main" id="{4B898F28-BFD5-D2E2-6208-BF76528CEA30}"/>
                </a:ext>
              </a:extLst>
            </p:cNvPr>
            <p:cNvSpPr/>
            <p:nvPr/>
          </p:nvSpPr>
          <p:spPr>
            <a:xfrm>
              <a:off x="27350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3" y="5048"/>
                  </a:lnTo>
                  <a:cubicBezTo>
                    <a:pt x="12419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8" name="Google Shape;970;p35">
              <a:extLst>
                <a:ext uri="{FF2B5EF4-FFF2-40B4-BE49-F238E27FC236}">
                  <a16:creationId xmlns:a16="http://schemas.microsoft.com/office/drawing/2014/main" id="{128A083B-F8D6-1A33-D750-162A0D4C4CDD}"/>
                </a:ext>
              </a:extLst>
            </p:cNvPr>
            <p:cNvSpPr/>
            <p:nvPr/>
          </p:nvSpPr>
          <p:spPr>
            <a:xfrm>
              <a:off x="3102038" y="2089625"/>
              <a:ext cx="1371025" cy="1204349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793" y="46268"/>
                  </a:lnTo>
                  <a:cubicBezTo>
                    <a:pt x="52579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79" y="8454"/>
                    <a:pt x="49793" y="8454"/>
                  </a:cubicBezTo>
                  <a:lnTo>
                    <a:pt x="34469" y="8454"/>
                  </a:lnTo>
                  <a:cubicBezTo>
                    <a:pt x="33815" y="8454"/>
                    <a:pt x="33207" y="8145"/>
                    <a:pt x="32814" y="7621"/>
                  </a:cubicBezTo>
                  <a:lnTo>
                    <a:pt x="29064" y="1120"/>
                  </a:lnTo>
                  <a:cubicBezTo>
                    <a:pt x="28254" y="1"/>
                    <a:pt x="26587" y="1"/>
                    <a:pt x="25766" y="1120"/>
                  </a:cubicBezTo>
                  <a:lnTo>
                    <a:pt x="22015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37" y="8454"/>
                  </a:lnTo>
                  <a:cubicBezTo>
                    <a:pt x="2251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9" name="Google Shape;971;p35">
              <a:extLst>
                <a:ext uri="{FF2B5EF4-FFF2-40B4-BE49-F238E27FC236}">
                  <a16:creationId xmlns:a16="http://schemas.microsoft.com/office/drawing/2014/main" id="{1C7A6281-207A-299E-6FED-BD56E2755D42}"/>
                </a:ext>
              </a:extLst>
            </p:cNvPr>
            <p:cNvSpPr/>
            <p:nvPr/>
          </p:nvSpPr>
          <p:spPr>
            <a:xfrm>
              <a:off x="2679963" y="3354975"/>
              <a:ext cx="110175" cy="130100"/>
            </a:xfrm>
            <a:custGeom>
              <a:avLst/>
              <a:gdLst/>
              <a:ahLst/>
              <a:cxnLst/>
              <a:rect l="l" t="t" r="r" b="b"/>
              <a:pathLst>
                <a:path w="4407" h="5204" extrusionOk="0">
                  <a:moveTo>
                    <a:pt x="2287" y="0"/>
                  </a:moveTo>
                  <a:lnTo>
                    <a:pt x="1060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70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40" name="Google Shape;972;p35">
            <a:extLst>
              <a:ext uri="{FF2B5EF4-FFF2-40B4-BE49-F238E27FC236}">
                <a16:creationId xmlns:a16="http://schemas.microsoft.com/office/drawing/2014/main" id="{C5331F88-6456-8B77-DFED-D662660F7390}"/>
              </a:ext>
            </a:extLst>
          </p:cNvPr>
          <p:cNvGrpSpPr/>
          <p:nvPr/>
        </p:nvGrpSpPr>
        <p:grpSpPr>
          <a:xfrm>
            <a:off x="4637509" y="2500235"/>
            <a:ext cx="63625" cy="375197"/>
            <a:chOff x="3765213" y="1736900"/>
            <a:chExt cx="44675" cy="263450"/>
          </a:xfrm>
        </p:grpSpPr>
        <p:sp>
          <p:nvSpPr>
            <p:cNvPr id="41" name="Google Shape;973;p35">
              <a:extLst>
                <a:ext uri="{FF2B5EF4-FFF2-40B4-BE49-F238E27FC236}">
                  <a16:creationId xmlns:a16="http://schemas.microsoft.com/office/drawing/2014/main" id="{1878C4C4-1DE4-E80A-0364-C27E6C7994EC}"/>
                </a:ext>
              </a:extLst>
            </p:cNvPr>
            <p:cNvSpPr/>
            <p:nvPr/>
          </p:nvSpPr>
          <p:spPr>
            <a:xfrm>
              <a:off x="37652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2" name="Google Shape;974;p35">
              <a:extLst>
                <a:ext uri="{FF2B5EF4-FFF2-40B4-BE49-F238E27FC236}">
                  <a16:creationId xmlns:a16="http://schemas.microsoft.com/office/drawing/2014/main" id="{3377A356-29D0-8C6C-A6D3-E60A549E76B1}"/>
                </a:ext>
              </a:extLst>
            </p:cNvPr>
            <p:cNvSpPr/>
            <p:nvPr/>
          </p:nvSpPr>
          <p:spPr>
            <a:xfrm>
              <a:off x="37652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3" name="Google Shape;975;p35">
              <a:extLst>
                <a:ext uri="{FF2B5EF4-FFF2-40B4-BE49-F238E27FC236}">
                  <a16:creationId xmlns:a16="http://schemas.microsoft.com/office/drawing/2014/main" id="{5B12E24E-731D-8DCF-D8C4-C4D37443911F}"/>
                </a:ext>
              </a:extLst>
            </p:cNvPr>
            <p:cNvSpPr/>
            <p:nvPr/>
          </p:nvSpPr>
          <p:spPr>
            <a:xfrm>
              <a:off x="37652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4" name="Google Shape;976;p35">
              <a:extLst>
                <a:ext uri="{FF2B5EF4-FFF2-40B4-BE49-F238E27FC236}">
                  <a16:creationId xmlns:a16="http://schemas.microsoft.com/office/drawing/2014/main" id="{908FB6AD-6DCA-3078-E0DE-E58C4D091D05}"/>
                </a:ext>
              </a:extLst>
            </p:cNvPr>
            <p:cNvSpPr/>
            <p:nvPr/>
          </p:nvSpPr>
          <p:spPr>
            <a:xfrm>
              <a:off x="37652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45" name="Google Shape;980;p35">
            <a:extLst>
              <a:ext uri="{FF2B5EF4-FFF2-40B4-BE49-F238E27FC236}">
                <a16:creationId xmlns:a16="http://schemas.microsoft.com/office/drawing/2014/main" id="{9A390F3E-3C1C-54C5-E882-A2E5BAD1FDE0}"/>
              </a:ext>
            </a:extLst>
          </p:cNvPr>
          <p:cNvSpPr/>
          <p:nvPr/>
        </p:nvSpPr>
        <p:spPr>
          <a:xfrm>
            <a:off x="6689452" y="2703454"/>
            <a:ext cx="737648" cy="738076"/>
          </a:xfrm>
          <a:custGeom>
            <a:avLst/>
            <a:gdLst/>
            <a:ahLst/>
            <a:cxnLst/>
            <a:rect l="l" t="t" r="r" b="b"/>
            <a:pathLst>
              <a:path w="20718" h="20730" extrusionOk="0">
                <a:moveTo>
                  <a:pt x="10359" y="1"/>
                </a:moveTo>
                <a:cubicBezTo>
                  <a:pt x="4632" y="1"/>
                  <a:pt x="1" y="4644"/>
                  <a:pt x="1" y="10371"/>
                </a:cubicBezTo>
                <a:cubicBezTo>
                  <a:pt x="1" y="16086"/>
                  <a:pt x="4632" y="20730"/>
                  <a:pt x="10359" y="20730"/>
                </a:cubicBezTo>
                <a:cubicBezTo>
                  <a:pt x="16086" y="20730"/>
                  <a:pt x="20718" y="16086"/>
                  <a:pt x="20718" y="10371"/>
                </a:cubicBezTo>
                <a:cubicBezTo>
                  <a:pt x="20718" y="4644"/>
                  <a:pt x="16086" y="1"/>
                  <a:pt x="10359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600" b="1" dirty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46" name="Google Shape;981;p35">
            <a:extLst>
              <a:ext uri="{FF2B5EF4-FFF2-40B4-BE49-F238E27FC236}">
                <a16:creationId xmlns:a16="http://schemas.microsoft.com/office/drawing/2014/main" id="{F9FC17AF-8AA4-B6FE-0957-FCC45A862E63}"/>
              </a:ext>
            </a:extLst>
          </p:cNvPr>
          <p:cNvSpPr/>
          <p:nvPr/>
        </p:nvSpPr>
        <p:spPr>
          <a:xfrm>
            <a:off x="7058276" y="2786554"/>
            <a:ext cx="511668" cy="797428"/>
          </a:xfrm>
          <a:custGeom>
            <a:avLst/>
            <a:gdLst/>
            <a:ahLst/>
            <a:cxnLst/>
            <a:rect l="l" t="t" r="r" b="b"/>
            <a:pathLst>
              <a:path w="14371" h="22397" fill="none" extrusionOk="0">
                <a:moveTo>
                  <a:pt x="11918" y="1"/>
                </a:moveTo>
                <a:cubicBezTo>
                  <a:pt x="13466" y="2298"/>
                  <a:pt x="14371" y="5061"/>
                  <a:pt x="14371" y="8037"/>
                </a:cubicBezTo>
                <a:cubicBezTo>
                  <a:pt x="14371" y="15967"/>
                  <a:pt x="7930" y="22396"/>
                  <a:pt x="0" y="22396"/>
                </a:cubicBezTo>
              </a:path>
            </a:pathLst>
          </a:custGeom>
          <a:noFill/>
          <a:ln w="81550" cap="flat" cmpd="sng">
            <a:solidFill>
              <a:schemeClr val="tx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47" name="Google Shape;982;p35">
            <a:extLst>
              <a:ext uri="{FF2B5EF4-FFF2-40B4-BE49-F238E27FC236}">
                <a16:creationId xmlns:a16="http://schemas.microsoft.com/office/drawing/2014/main" id="{DA87C47B-5E7A-7481-B800-DDEC4DC17071}"/>
              </a:ext>
            </a:extLst>
          </p:cNvPr>
          <p:cNvGrpSpPr/>
          <p:nvPr/>
        </p:nvGrpSpPr>
        <p:grpSpPr>
          <a:xfrm>
            <a:off x="5921883" y="2894043"/>
            <a:ext cx="2553678" cy="1580400"/>
            <a:chOff x="4618913" y="2023550"/>
            <a:chExt cx="1793100" cy="1395125"/>
          </a:xfrm>
        </p:grpSpPr>
        <p:sp>
          <p:nvSpPr>
            <p:cNvPr id="48" name="Google Shape;983;p35">
              <a:extLst>
                <a:ext uri="{FF2B5EF4-FFF2-40B4-BE49-F238E27FC236}">
                  <a16:creationId xmlns:a16="http://schemas.microsoft.com/office/drawing/2014/main" id="{4E2C880D-E30A-AAA1-39CC-275CC69499FE}"/>
                </a:ext>
              </a:extLst>
            </p:cNvPr>
            <p:cNvSpPr/>
            <p:nvPr/>
          </p:nvSpPr>
          <p:spPr>
            <a:xfrm>
              <a:off x="5989913" y="20884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62" y="0"/>
                    <a:pt x="0" y="2262"/>
                    <a:pt x="0" y="5048"/>
                  </a:cubicBez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9" name="Google Shape;984;p35">
              <a:extLst>
                <a:ext uri="{FF2B5EF4-FFF2-40B4-BE49-F238E27FC236}">
                  <a16:creationId xmlns:a16="http://schemas.microsoft.com/office/drawing/2014/main" id="{E12323C6-280E-5745-957E-43E39B94A862}"/>
                </a:ext>
              </a:extLst>
            </p:cNvPr>
            <p:cNvSpPr/>
            <p:nvPr/>
          </p:nvSpPr>
          <p:spPr>
            <a:xfrm>
              <a:off x="4618913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83" y="1905"/>
                  </a:moveTo>
                  <a:lnTo>
                    <a:pt x="5036" y="1905"/>
                  </a:lnTo>
                  <a:cubicBezTo>
                    <a:pt x="2250" y="1905"/>
                    <a:pt x="0" y="4167"/>
                    <a:pt x="0" y="6954"/>
                  </a:cubicBezTo>
                  <a:lnTo>
                    <a:pt x="0" y="34671"/>
                  </a:lnTo>
                  <a:cubicBezTo>
                    <a:pt x="0" y="37457"/>
                    <a:pt x="2250" y="39719"/>
                    <a:pt x="5036" y="39719"/>
                  </a:cubicBezTo>
                  <a:lnTo>
                    <a:pt x="20372" y="39719"/>
                  </a:lnTo>
                  <a:cubicBezTo>
                    <a:pt x="21027" y="39719"/>
                    <a:pt x="21634" y="40029"/>
                    <a:pt x="22015" y="40553"/>
                  </a:cubicBezTo>
                  <a:lnTo>
                    <a:pt x="25765" y="47054"/>
                  </a:lnTo>
                  <a:cubicBezTo>
                    <a:pt x="26587" y="48161"/>
                    <a:pt x="28254" y="48161"/>
                    <a:pt x="29063" y="47054"/>
                  </a:cubicBezTo>
                  <a:lnTo>
                    <a:pt x="32814" y="40553"/>
                  </a:lnTo>
                  <a:cubicBezTo>
                    <a:pt x="33207" y="40029"/>
                    <a:pt x="33814" y="39719"/>
                    <a:pt x="34469" y="39719"/>
                  </a:cubicBezTo>
                  <a:lnTo>
                    <a:pt x="49792" y="39719"/>
                  </a:lnTo>
                  <a:cubicBezTo>
                    <a:pt x="52578" y="39719"/>
                    <a:pt x="54840" y="37457"/>
                    <a:pt x="54840" y="34671"/>
                  </a:cubicBezTo>
                  <a:lnTo>
                    <a:pt x="54840" y="0"/>
                  </a:ln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0" name="Google Shape;985;p35">
              <a:extLst>
                <a:ext uri="{FF2B5EF4-FFF2-40B4-BE49-F238E27FC236}">
                  <a16:creationId xmlns:a16="http://schemas.microsoft.com/office/drawing/2014/main" id="{80B2D75B-3EEF-CBDC-CE5E-DEA6F39500E5}"/>
                </a:ext>
              </a:extLst>
            </p:cNvPr>
            <p:cNvSpPr/>
            <p:nvPr/>
          </p:nvSpPr>
          <p:spPr>
            <a:xfrm>
              <a:off x="6301863" y="2023550"/>
              <a:ext cx="110150" cy="129800"/>
            </a:xfrm>
            <a:custGeom>
              <a:avLst/>
              <a:gdLst/>
              <a:ahLst/>
              <a:cxnLst/>
              <a:rect l="l" t="t" r="r" b="b"/>
              <a:pathLst>
                <a:path w="4406" h="5192" extrusionOk="0">
                  <a:moveTo>
                    <a:pt x="24" y="0"/>
                  </a:moveTo>
                  <a:lnTo>
                    <a:pt x="2274" y="2572"/>
                  </a:lnTo>
                  <a:lnTo>
                    <a:pt x="0" y="5180"/>
                  </a:lnTo>
                  <a:lnTo>
                    <a:pt x="12" y="5192"/>
                  </a:lnTo>
                  <a:lnTo>
                    <a:pt x="2119" y="5192"/>
                  </a:lnTo>
                  <a:lnTo>
                    <a:pt x="3334" y="3799"/>
                  </a:lnTo>
                  <a:lnTo>
                    <a:pt x="4405" y="2572"/>
                  </a:lnTo>
                  <a:lnTo>
                    <a:pt x="21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51" name="Google Shape;986;p35">
            <a:extLst>
              <a:ext uri="{FF2B5EF4-FFF2-40B4-BE49-F238E27FC236}">
                <a16:creationId xmlns:a16="http://schemas.microsoft.com/office/drawing/2014/main" id="{2EE6988B-AEC7-DE17-28A1-5D52AC37A0FF}"/>
              </a:ext>
            </a:extLst>
          </p:cNvPr>
          <p:cNvGrpSpPr/>
          <p:nvPr/>
        </p:nvGrpSpPr>
        <p:grpSpPr>
          <a:xfrm>
            <a:off x="6866554" y="4563511"/>
            <a:ext cx="63198" cy="375197"/>
            <a:chOff x="5282088" y="3508250"/>
            <a:chExt cx="44375" cy="263450"/>
          </a:xfrm>
        </p:grpSpPr>
        <p:sp>
          <p:nvSpPr>
            <p:cNvPr id="52" name="Google Shape;987;p35">
              <a:extLst>
                <a:ext uri="{FF2B5EF4-FFF2-40B4-BE49-F238E27FC236}">
                  <a16:creationId xmlns:a16="http://schemas.microsoft.com/office/drawing/2014/main" id="{0595C07A-2B4A-EBCB-E310-913AF47E0BEE}"/>
                </a:ext>
              </a:extLst>
            </p:cNvPr>
            <p:cNvSpPr/>
            <p:nvPr/>
          </p:nvSpPr>
          <p:spPr>
            <a:xfrm>
              <a:off x="5282088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94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94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3" name="Google Shape;988;p35">
              <a:extLst>
                <a:ext uri="{FF2B5EF4-FFF2-40B4-BE49-F238E27FC236}">
                  <a16:creationId xmlns:a16="http://schemas.microsoft.com/office/drawing/2014/main" id="{3B2B4CFC-6B02-1C54-4FE8-8FE7AFFB669A}"/>
                </a:ext>
              </a:extLst>
            </p:cNvPr>
            <p:cNvSpPr/>
            <p:nvPr/>
          </p:nvSpPr>
          <p:spPr>
            <a:xfrm>
              <a:off x="5282088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4" name="Google Shape;989;p35">
              <a:extLst>
                <a:ext uri="{FF2B5EF4-FFF2-40B4-BE49-F238E27FC236}">
                  <a16:creationId xmlns:a16="http://schemas.microsoft.com/office/drawing/2014/main" id="{67C41CCC-CF09-716E-37B3-03FC004E6444}"/>
                </a:ext>
              </a:extLst>
            </p:cNvPr>
            <p:cNvSpPr/>
            <p:nvPr/>
          </p:nvSpPr>
          <p:spPr>
            <a:xfrm>
              <a:off x="5282088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5" name="Google Shape;990;p35">
              <a:extLst>
                <a:ext uri="{FF2B5EF4-FFF2-40B4-BE49-F238E27FC236}">
                  <a16:creationId xmlns:a16="http://schemas.microsoft.com/office/drawing/2014/main" id="{97DE9285-FC3F-7184-724F-24161B2FFEB9}"/>
                </a:ext>
              </a:extLst>
            </p:cNvPr>
            <p:cNvSpPr/>
            <p:nvPr/>
          </p:nvSpPr>
          <p:spPr>
            <a:xfrm>
              <a:off x="5282088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56" name="Google Shape;994;p35">
            <a:extLst>
              <a:ext uri="{FF2B5EF4-FFF2-40B4-BE49-F238E27FC236}">
                <a16:creationId xmlns:a16="http://schemas.microsoft.com/office/drawing/2014/main" id="{369DAABB-78D4-89F2-5B44-E915F46CBEE3}"/>
              </a:ext>
            </a:extLst>
          </p:cNvPr>
          <p:cNvSpPr/>
          <p:nvPr/>
        </p:nvSpPr>
        <p:spPr>
          <a:xfrm>
            <a:off x="9096083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71" y="1"/>
                </a:moveTo>
                <a:cubicBezTo>
                  <a:pt x="4644" y="1"/>
                  <a:pt x="0" y="4633"/>
                  <a:pt x="0" y="10359"/>
                </a:cubicBezTo>
                <a:cubicBezTo>
                  <a:pt x="0" y="16074"/>
                  <a:pt x="4644" y="20718"/>
                  <a:pt x="10371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2025</a:t>
            </a:r>
            <a:endParaRPr lang="en-US" sz="3200" b="1" dirty="0">
              <a:solidFill>
                <a:srgbClr val="FFFFFF"/>
              </a:solidFill>
            </a:endParaRPr>
          </a:p>
        </p:txBody>
      </p:sp>
      <p:sp>
        <p:nvSpPr>
          <p:cNvPr id="57" name="Google Shape;995;p35">
            <a:extLst>
              <a:ext uri="{FF2B5EF4-FFF2-40B4-BE49-F238E27FC236}">
                <a16:creationId xmlns:a16="http://schemas.microsoft.com/office/drawing/2014/main" id="{B373124D-A429-DA02-35FF-95056B12E496}"/>
              </a:ext>
            </a:extLst>
          </p:cNvPr>
          <p:cNvSpPr/>
          <p:nvPr/>
        </p:nvSpPr>
        <p:spPr>
          <a:xfrm>
            <a:off x="8839199" y="3860484"/>
            <a:ext cx="464208" cy="863972"/>
          </a:xfrm>
          <a:custGeom>
            <a:avLst/>
            <a:gdLst/>
            <a:ahLst/>
            <a:cxnLst/>
            <a:rect l="l" t="t" r="r" b="b"/>
            <a:pathLst>
              <a:path w="13038" h="24266" fill="none" extrusionOk="0">
                <a:moveTo>
                  <a:pt x="13038" y="24265"/>
                </a:moveTo>
                <a:cubicBezTo>
                  <a:pt x="10311" y="23742"/>
                  <a:pt x="7716" y="22420"/>
                  <a:pt x="5620" y="20313"/>
                </a:cubicBezTo>
                <a:cubicBezTo>
                  <a:pt x="0" y="14705"/>
                  <a:pt x="0" y="5608"/>
                  <a:pt x="5620" y="1"/>
                </a:cubicBezTo>
              </a:path>
            </a:pathLst>
          </a:custGeom>
          <a:solidFill>
            <a:schemeClr val="accent4">
              <a:lumMod val="75000"/>
            </a:schemeClr>
          </a:solidFill>
          <a:ln w="81550" cap="flat" cmpd="sng">
            <a:solidFill>
              <a:schemeClr val="accent4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58" name="Google Shape;996;p35">
            <a:extLst>
              <a:ext uri="{FF2B5EF4-FFF2-40B4-BE49-F238E27FC236}">
                <a16:creationId xmlns:a16="http://schemas.microsoft.com/office/drawing/2014/main" id="{CD80D15B-73B8-6137-1BF1-02375D6953BE}"/>
              </a:ext>
            </a:extLst>
          </p:cNvPr>
          <p:cNvGrpSpPr/>
          <p:nvPr/>
        </p:nvGrpSpPr>
        <p:grpSpPr>
          <a:xfrm flipH="1">
            <a:off x="8127292" y="2944437"/>
            <a:ext cx="2553678" cy="1581221"/>
            <a:chOff x="5753863" y="2089625"/>
            <a:chExt cx="1793100" cy="1395450"/>
          </a:xfrm>
        </p:grpSpPr>
        <p:sp>
          <p:nvSpPr>
            <p:cNvPr id="59" name="Google Shape;997;p35">
              <a:extLst>
                <a:ext uri="{FF2B5EF4-FFF2-40B4-BE49-F238E27FC236}">
                  <a16:creationId xmlns:a16="http://schemas.microsoft.com/office/drawing/2014/main" id="{53DAB1D7-81F8-1771-95ED-6671DB188DA5}"/>
                </a:ext>
              </a:extLst>
            </p:cNvPr>
            <p:cNvSpPr/>
            <p:nvPr/>
          </p:nvSpPr>
          <p:spPr>
            <a:xfrm>
              <a:off x="58089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2" y="5048"/>
                  </a:lnTo>
                  <a:cubicBezTo>
                    <a:pt x="12418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0" name="Google Shape;998;p35">
              <a:extLst>
                <a:ext uri="{FF2B5EF4-FFF2-40B4-BE49-F238E27FC236}">
                  <a16:creationId xmlns:a16="http://schemas.microsoft.com/office/drawing/2014/main" id="{7F1B6F96-B183-AD08-F700-53072A5510C2}"/>
                </a:ext>
              </a:extLst>
            </p:cNvPr>
            <p:cNvSpPr/>
            <p:nvPr/>
          </p:nvSpPr>
          <p:spPr>
            <a:xfrm>
              <a:off x="6175938" y="2089625"/>
              <a:ext cx="1371025" cy="1204350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805" y="46268"/>
                  </a:lnTo>
                  <a:cubicBezTo>
                    <a:pt x="52591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91" y="8454"/>
                    <a:pt x="49805" y="8454"/>
                  </a:cubicBezTo>
                  <a:lnTo>
                    <a:pt x="34469" y="8454"/>
                  </a:lnTo>
                  <a:cubicBezTo>
                    <a:pt x="33814" y="8454"/>
                    <a:pt x="33207" y="8145"/>
                    <a:pt x="32826" y="7621"/>
                  </a:cubicBezTo>
                  <a:lnTo>
                    <a:pt x="29076" y="1120"/>
                  </a:lnTo>
                  <a:cubicBezTo>
                    <a:pt x="28254" y="1"/>
                    <a:pt x="26587" y="1"/>
                    <a:pt x="25778" y="1120"/>
                  </a:cubicBezTo>
                  <a:lnTo>
                    <a:pt x="22027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49" y="8454"/>
                  </a:lnTo>
                  <a:cubicBezTo>
                    <a:pt x="2263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1" name="Google Shape;999;p35">
              <a:extLst>
                <a:ext uri="{FF2B5EF4-FFF2-40B4-BE49-F238E27FC236}">
                  <a16:creationId xmlns:a16="http://schemas.microsoft.com/office/drawing/2014/main" id="{4F5CD511-FB43-2BB3-A405-538A18A952DC}"/>
                </a:ext>
              </a:extLst>
            </p:cNvPr>
            <p:cNvSpPr/>
            <p:nvPr/>
          </p:nvSpPr>
          <p:spPr>
            <a:xfrm>
              <a:off x="5753863" y="3354975"/>
              <a:ext cx="110150" cy="130100"/>
            </a:xfrm>
            <a:custGeom>
              <a:avLst/>
              <a:gdLst/>
              <a:ahLst/>
              <a:cxnLst/>
              <a:rect l="l" t="t" r="r" b="b"/>
              <a:pathLst>
                <a:path w="4406" h="5204" extrusionOk="0">
                  <a:moveTo>
                    <a:pt x="2287" y="0"/>
                  </a:moveTo>
                  <a:lnTo>
                    <a:pt x="1072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82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62" name="Google Shape;1000;p35">
            <a:extLst>
              <a:ext uri="{FF2B5EF4-FFF2-40B4-BE49-F238E27FC236}">
                <a16:creationId xmlns:a16="http://schemas.microsoft.com/office/drawing/2014/main" id="{F6A54133-E4BE-37A0-55EC-06A35AC8F07D}"/>
              </a:ext>
            </a:extLst>
          </p:cNvPr>
          <p:cNvGrpSpPr/>
          <p:nvPr/>
        </p:nvGrpSpPr>
        <p:grpSpPr>
          <a:xfrm>
            <a:off x="9071773" y="2500235"/>
            <a:ext cx="63625" cy="375197"/>
            <a:chOff x="6839113" y="1736900"/>
            <a:chExt cx="44675" cy="263450"/>
          </a:xfrm>
        </p:grpSpPr>
        <p:sp>
          <p:nvSpPr>
            <p:cNvPr id="63" name="Google Shape;1001;p35">
              <a:extLst>
                <a:ext uri="{FF2B5EF4-FFF2-40B4-BE49-F238E27FC236}">
                  <a16:creationId xmlns:a16="http://schemas.microsoft.com/office/drawing/2014/main" id="{633D9793-A361-1901-BB97-78ECD27CB508}"/>
                </a:ext>
              </a:extLst>
            </p:cNvPr>
            <p:cNvSpPr/>
            <p:nvPr/>
          </p:nvSpPr>
          <p:spPr>
            <a:xfrm>
              <a:off x="68391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4" name="Google Shape;1002;p35">
              <a:extLst>
                <a:ext uri="{FF2B5EF4-FFF2-40B4-BE49-F238E27FC236}">
                  <a16:creationId xmlns:a16="http://schemas.microsoft.com/office/drawing/2014/main" id="{F4207350-6489-CB3C-25DC-DF3D3830A619}"/>
                </a:ext>
              </a:extLst>
            </p:cNvPr>
            <p:cNvSpPr/>
            <p:nvPr/>
          </p:nvSpPr>
          <p:spPr>
            <a:xfrm>
              <a:off x="68391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5" name="Google Shape;1003;p35">
              <a:extLst>
                <a:ext uri="{FF2B5EF4-FFF2-40B4-BE49-F238E27FC236}">
                  <a16:creationId xmlns:a16="http://schemas.microsoft.com/office/drawing/2014/main" id="{AEB1E6FA-EC8F-4EDE-AA75-F629221F8DAE}"/>
                </a:ext>
              </a:extLst>
            </p:cNvPr>
            <p:cNvSpPr/>
            <p:nvPr/>
          </p:nvSpPr>
          <p:spPr>
            <a:xfrm>
              <a:off x="68391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6" name="Google Shape;1004;p35">
              <a:extLst>
                <a:ext uri="{FF2B5EF4-FFF2-40B4-BE49-F238E27FC236}">
                  <a16:creationId xmlns:a16="http://schemas.microsoft.com/office/drawing/2014/main" id="{AC1CE98E-90F8-079A-28AA-B7A9EBDEC9A0}"/>
                </a:ext>
              </a:extLst>
            </p:cNvPr>
            <p:cNvSpPr/>
            <p:nvPr/>
          </p:nvSpPr>
          <p:spPr>
            <a:xfrm>
              <a:off x="68391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1027" name="TextBox 37">
            <a:extLst>
              <a:ext uri="{FF2B5EF4-FFF2-40B4-BE49-F238E27FC236}">
                <a16:creationId xmlns:a16="http://schemas.microsoft.com/office/drawing/2014/main" id="{35A6025D-6655-3E90-5179-6400759D2570}"/>
              </a:ext>
            </a:extLst>
          </p:cNvPr>
          <p:cNvSpPr txBox="1"/>
          <p:nvPr/>
        </p:nvSpPr>
        <p:spPr>
          <a:xfrm>
            <a:off x="848663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Conversational AI</a:t>
            </a:r>
          </a:p>
          <a:p>
            <a:pPr algn="ctr"/>
            <a:r>
              <a:rPr lang="en-US" dirty="0"/>
              <a:t>Enterprise chatbot deployments</a:t>
            </a:r>
            <a:br>
              <a:rPr lang="en-US" dirty="0"/>
            </a:br>
            <a:r>
              <a:rPr lang="en-US" dirty="0"/>
              <a:t>Workflow-driven automation</a:t>
            </a:r>
            <a:br>
              <a:rPr lang="en-US" dirty="0"/>
            </a:br>
            <a:r>
              <a:rPr lang="en-US" dirty="0"/>
              <a:t>CRM / ITSM integrations</a:t>
            </a:r>
          </a:p>
        </p:txBody>
      </p:sp>
      <p:sp>
        <p:nvSpPr>
          <p:cNvPr id="1028" name="TextBox 37">
            <a:extLst>
              <a:ext uri="{FF2B5EF4-FFF2-40B4-BE49-F238E27FC236}">
                <a16:creationId xmlns:a16="http://schemas.microsoft.com/office/drawing/2014/main" id="{B394B3AD-7578-B750-5FC5-7C484DEE20EF}"/>
              </a:ext>
            </a:extLst>
          </p:cNvPr>
          <p:cNvSpPr txBox="1"/>
          <p:nvPr/>
        </p:nvSpPr>
        <p:spPr>
          <a:xfrm>
            <a:off x="3070505" y="1513265"/>
            <a:ext cx="3198706" cy="95410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2"/>
                </a:solidFill>
              </a:rPr>
              <a:t>Knowledge AI &amp; NLP</a:t>
            </a:r>
          </a:p>
          <a:p>
            <a:pPr algn="ctr"/>
            <a:r>
              <a:rPr lang="en-US" dirty="0"/>
              <a:t>Enterprise search</a:t>
            </a:r>
            <a:br>
              <a:rPr lang="en-US" dirty="0"/>
            </a:br>
            <a:r>
              <a:rPr lang="en-US" dirty="0"/>
              <a:t>Document summarization</a:t>
            </a:r>
            <a:br>
              <a:rPr lang="en-US" dirty="0"/>
            </a:br>
            <a:r>
              <a:rPr lang="en-US" dirty="0"/>
              <a:t>Context-aware responses</a:t>
            </a:r>
            <a:endParaRPr lang="en-US" sz="1400" dirty="0"/>
          </a:p>
        </p:txBody>
      </p:sp>
      <p:sp>
        <p:nvSpPr>
          <p:cNvPr id="1030" name="TextBox 37">
            <a:extLst>
              <a:ext uri="{FF2B5EF4-FFF2-40B4-BE49-F238E27FC236}">
                <a16:creationId xmlns:a16="http://schemas.microsoft.com/office/drawing/2014/main" id="{7D6EE420-C93A-A416-EDBC-479A16CE102F}"/>
              </a:ext>
            </a:extLst>
          </p:cNvPr>
          <p:cNvSpPr txBox="1"/>
          <p:nvPr/>
        </p:nvSpPr>
        <p:spPr>
          <a:xfrm>
            <a:off x="5275161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Agentic AI</a:t>
            </a:r>
          </a:p>
          <a:p>
            <a:pPr algn="ctr"/>
            <a:r>
              <a:rPr lang="en-US" sz="1400" dirty="0"/>
              <a:t> Multi-step task execution</a:t>
            </a:r>
          </a:p>
          <a:p>
            <a:pPr algn="ctr"/>
            <a:r>
              <a:rPr lang="en-US" sz="1400" dirty="0"/>
              <a:t>Cross-system automation</a:t>
            </a:r>
          </a:p>
          <a:p>
            <a:pPr algn="ctr"/>
            <a:r>
              <a:rPr lang="en-US" sz="1400" dirty="0"/>
              <a:t>AI-driven workflow orchestration</a:t>
            </a:r>
          </a:p>
        </p:txBody>
      </p:sp>
      <p:sp>
        <p:nvSpPr>
          <p:cNvPr id="1032" name="TextBox 37">
            <a:extLst>
              <a:ext uri="{FF2B5EF4-FFF2-40B4-BE49-F238E27FC236}">
                <a16:creationId xmlns:a16="http://schemas.microsoft.com/office/drawing/2014/main" id="{E8C10AA9-E7D0-441A-6E37-4AFD3F1E0B8A}"/>
              </a:ext>
            </a:extLst>
          </p:cNvPr>
          <p:cNvSpPr txBox="1"/>
          <p:nvPr/>
        </p:nvSpPr>
        <p:spPr>
          <a:xfrm>
            <a:off x="7517776" y="1297821"/>
            <a:ext cx="3198706" cy="116955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Platform Capabilities</a:t>
            </a:r>
          </a:p>
          <a:p>
            <a:pPr algn="ctr"/>
            <a:r>
              <a:rPr lang="en-US" sz="1400" dirty="0"/>
              <a:t>Multi-LLM support</a:t>
            </a:r>
          </a:p>
          <a:p>
            <a:pPr algn="ctr"/>
            <a:r>
              <a:rPr lang="en-US" sz="1400" dirty="0"/>
              <a:t>Secure enterprise deployment</a:t>
            </a:r>
          </a:p>
          <a:p>
            <a:pPr algn="ctr"/>
            <a:r>
              <a:rPr lang="en-US" sz="1400" dirty="0"/>
              <a:t>API-first integrations</a:t>
            </a:r>
          </a:p>
          <a:p>
            <a:pPr algn="ctr"/>
            <a:r>
              <a:rPr lang="en-US" sz="1400" dirty="0"/>
              <a:t>Governance &amp; audit logging</a:t>
            </a:r>
          </a:p>
        </p:txBody>
      </p:sp>
      <p:pic>
        <p:nvPicPr>
          <p:cNvPr id="1034" name="Picture 2" descr="SmartBots AI | LinkedIn">
            <a:extLst>
              <a:ext uri="{FF2B5EF4-FFF2-40B4-BE49-F238E27FC236}">
                <a16:creationId xmlns:a16="http://schemas.microsoft.com/office/drawing/2014/main" id="{96035ACF-4941-900B-26BE-B5B4B4B4E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7094" y="5125430"/>
            <a:ext cx="889148" cy="889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30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Modern Data Platform on Snowflake</a:t>
            </a:r>
            <a:endParaRPr dirty="0">
              <a:latin typeface="Montserrat"/>
            </a:endParaRPr>
          </a:p>
        </p:txBody>
      </p:sp>
      <p:sp>
        <p:nvSpPr>
          <p:cNvPr id="361" name="Google Shape;361;p1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grpSp>
        <p:nvGrpSpPr>
          <p:cNvPr id="362" name="Google Shape;362;p11"/>
          <p:cNvGrpSpPr/>
          <p:nvPr/>
        </p:nvGrpSpPr>
        <p:grpSpPr>
          <a:xfrm>
            <a:off x="1210953" y="1274626"/>
            <a:ext cx="2970399" cy="3401926"/>
            <a:chOff x="1210953" y="1457019"/>
            <a:chExt cx="2970399" cy="3401926"/>
          </a:xfrm>
        </p:grpSpPr>
        <p:grpSp>
          <p:nvGrpSpPr>
            <p:cNvPr id="363" name="Google Shape;363;p11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364" name="Google Shape;364;p11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11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66" name="Google Shape;366;p11"/>
            <p:cNvSpPr txBox="1"/>
            <p:nvPr/>
          </p:nvSpPr>
          <p:spPr>
            <a:xfrm>
              <a:off x="1480157" y="1904290"/>
              <a:ext cx="2701195" cy="2954655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global clean energy platform managing solar, wind, and storage data faced data fragmentation across </a:t>
              </a:r>
              <a:r>
                <a:rPr lang="en-US" sz="1600" b="0" i="0" u="none" strike="noStrike" cap="none" err="1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InfluxDB</a:t>
              </a: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, SQL Server, and analytics databases.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Historical and daily data streams were siloed, and reporting was slow, error-prone, and inconsistent across teams.</a:t>
              </a: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7" name="Google Shape;367;p11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8" name="Google Shape;368;p11"/>
          <p:cNvGrpSpPr/>
          <p:nvPr/>
        </p:nvGrpSpPr>
        <p:grpSpPr>
          <a:xfrm>
            <a:off x="4803773" y="1274626"/>
            <a:ext cx="7337036" cy="2122736"/>
            <a:chOff x="4803773" y="1274626"/>
            <a:chExt cx="7337036" cy="2122736"/>
          </a:xfrm>
        </p:grpSpPr>
        <p:grpSp>
          <p:nvGrpSpPr>
            <p:cNvPr id="369" name="Google Shape;369;p11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370" name="Google Shape;370;p11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1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1"/>
            <p:cNvSpPr txBox="1"/>
            <p:nvPr/>
          </p:nvSpPr>
          <p:spPr>
            <a:xfrm>
              <a:off x="5094822" y="1750757"/>
              <a:ext cx="7045987" cy="16466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designed a robust data pipeline and reporting layer using Snowflake.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Migrated 35M+ records from 3 source systems in minutes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Set up daily incremental pipelines with limitless scaling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Eliminated data silos with a single reporting layer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Enabled real-time access via a user-friendly, low-code interface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Built secure, configurable metadata-driven architecture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3" name="Google Shape;373;p11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74" name="Google Shape;374;p11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375" name="Google Shape;375;p11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11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Clean, consolidated energy data at scale — powering faster decisions and enterprise visibility.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🔄 70% faster reporting times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🧩 3 data sources unified into a single source of truth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📊 Real-time access via low-code platform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💵 30% cost reduction in data infrastructure </a:t>
              </a:r>
              <a:endParaRPr sz="14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7" name="Google Shape;377;p11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4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Real-Time Invoice Reconciliation at Scale</a:t>
            </a:r>
            <a:endParaRPr dirty="0">
              <a:latin typeface="Montserrat"/>
            </a:endParaRPr>
          </a:p>
        </p:txBody>
      </p:sp>
      <p:sp>
        <p:nvSpPr>
          <p:cNvPr id="430" name="Google Shape;430;p14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  <p:grpSp>
        <p:nvGrpSpPr>
          <p:cNvPr id="431" name="Google Shape;431;p14"/>
          <p:cNvGrpSpPr/>
          <p:nvPr/>
        </p:nvGrpSpPr>
        <p:grpSpPr>
          <a:xfrm>
            <a:off x="1210953" y="1274626"/>
            <a:ext cx="2970399" cy="3894369"/>
            <a:chOff x="1210953" y="1457019"/>
            <a:chExt cx="2970399" cy="3894369"/>
          </a:xfrm>
        </p:grpSpPr>
        <p:grpSp>
          <p:nvGrpSpPr>
            <p:cNvPr id="432" name="Google Shape;432;p14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33" name="Google Shape;433;p14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14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35" name="Google Shape;435;p14"/>
            <p:cNvSpPr txBox="1"/>
            <p:nvPr/>
          </p:nvSpPr>
          <p:spPr>
            <a:xfrm>
              <a:off x="1480157" y="1904290"/>
              <a:ext cx="2701195" cy="3447098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major auto group was drowning in mismatched invoice formats.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were manually reconciling Excel, PDF, and CSV invoices — all structured differently across OEMs.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This created delays, manual rework, and frequent errors that impacted payment cycles and reporting.</a:t>
              </a:r>
              <a:endParaRPr/>
            </a:p>
          </p:txBody>
        </p:sp>
        <p:sp>
          <p:nvSpPr>
            <p:cNvPr id="436" name="Google Shape;436;p14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37" name="Google Shape;437;p14"/>
          <p:cNvGrpSpPr/>
          <p:nvPr/>
        </p:nvGrpSpPr>
        <p:grpSpPr>
          <a:xfrm>
            <a:off x="4803773" y="1274626"/>
            <a:ext cx="7337036" cy="2467445"/>
            <a:chOff x="4803773" y="1274626"/>
            <a:chExt cx="7337036" cy="2467445"/>
          </a:xfrm>
        </p:grpSpPr>
        <p:grpSp>
          <p:nvGrpSpPr>
            <p:cNvPr id="438" name="Google Shape;438;p14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39" name="Google Shape;439;p14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0" name="Google Shape;440;p14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1" name="Google Shape;441;p14"/>
            <p:cNvSpPr txBox="1"/>
            <p:nvPr/>
          </p:nvSpPr>
          <p:spPr>
            <a:xfrm>
              <a:off x="5094822" y="1750757"/>
              <a:ext cx="7045987" cy="19913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deployed a GenAI-powered invoice reconciliation solution using OCR, NLP, and scalable cloud infrastructure.</a:t>
              </a:r>
              <a:endParaRPr sz="1600" b="0" i="0" u="none" strike="noStrike" cap="none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Automatically processed and interpreted invoices across varied formats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Standardized terminology across manufacturers (e.g., "Reference No." vs "Invoice ID")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Matched invoices against multiple external reports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Designed a low-latency, user-friendly UI with sub-2s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Deployed on AWS for scale and flexibility</a:t>
              </a:r>
              <a:endParaRPr/>
            </a:p>
          </p:txBody>
        </p:sp>
        <p:sp>
          <p:nvSpPr>
            <p:cNvPr id="442" name="Google Shape;442;p14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43" name="Google Shape;443;p14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44" name="Google Shape;444;p14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14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now process thousands of invoices in real time — with unmatched speed and accuracy.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⚡99.6% auto-reconciliation rate across 7,970 invoices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⏱️600+ hours saved monthly by eliminating manual entry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📉20% reduction in payment delays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📈15% improvement in bookkeeping accuracy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46" name="Google Shape;446;p14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858000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Custom Software Development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Senior-led engineering for the applications and integrations off-the-shelf platforms can’t cover.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Java</a:t>
            </a:r>
          </a:p>
        </p:txBody>
      </p:sp>
      <p:sp>
        <p:nvSpPr>
          <p:cNvPr id="306" name="Chip"/>
          <p:cNvSpPr/>
          <p:nvPr/>
        </p:nvSpPr>
        <p:spPr>
          <a:xfrm>
            <a:off x="1254557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.NET</a:t>
            </a:r>
          </a:p>
        </p:txBody>
      </p:sp>
      <p:sp>
        <p:nvSpPr>
          <p:cNvPr id="307" name="Chip"/>
          <p:cNvSpPr/>
          <p:nvPr/>
        </p:nvSpPr>
        <p:spPr>
          <a:xfrm>
            <a:off x="1960474" y="5120640"/>
            <a:ext cx="757123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Python</a:t>
            </a:r>
          </a:p>
        </p:txBody>
      </p:sp>
      <p:sp>
        <p:nvSpPr>
          <p:cNvPr id="308" name="Chip"/>
          <p:cNvSpPr/>
          <p:nvPr/>
        </p:nvSpPr>
        <p:spPr>
          <a:xfrm>
            <a:off x="2827325" y="512064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Node.js</a:t>
            </a:r>
          </a:p>
        </p:txBody>
      </p:sp>
      <p:sp>
        <p:nvSpPr>
          <p:cNvPr id="309" name="Chip"/>
          <p:cNvSpPr/>
          <p:nvPr/>
        </p:nvSpPr>
        <p:spPr>
          <a:xfrm>
            <a:off x="548640" y="5532120"/>
            <a:ext cx="676656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React</a:t>
            </a:r>
          </a:p>
        </p:txBody>
      </p:sp>
      <p:sp>
        <p:nvSpPr>
          <p:cNvPr id="310" name="Chip"/>
          <p:cNvSpPr/>
          <p:nvPr/>
        </p:nvSpPr>
        <p:spPr>
          <a:xfrm>
            <a:off x="1335024" y="553212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Angular</a:t>
            </a:r>
          </a:p>
        </p:txBody>
      </p:sp>
      <p:sp>
        <p:nvSpPr>
          <p:cNvPr id="311" name="Chip"/>
          <p:cNvSpPr/>
          <p:nvPr/>
        </p:nvSpPr>
        <p:spPr>
          <a:xfrm>
            <a:off x="2282342" y="5532120"/>
            <a:ext cx="83759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Flutter</a:t>
            </a:r>
          </a:p>
        </p:txBody>
      </p:sp>
      <p:sp>
        <p:nvSpPr>
          <p:cNvPr id="312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5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lnSpc>
                <a:spcPct val="90000"/>
              </a:lnSpc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  <a:ea typeface="Montserrat"/>
                <a:cs typeface="Montserrat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r>
              <a:rPr lang="en-US" dirty="0"/>
              <a:t>HOW OUR BUILD CAPABILITIES FIT TOGETHER</a:t>
            </a:r>
          </a:p>
        </p:txBody>
      </p:sp>
      <p:sp>
        <p:nvSpPr>
          <p:cNvPr id="313" name="Shape"/>
          <p:cNvSpPr txBox="1"/>
          <p:nvPr/>
        </p:nvSpPr>
        <p:spPr>
          <a:xfrm>
            <a:off x="4226357" y="1508760"/>
            <a:ext cx="1488644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EXPERIENCE</a:t>
            </a:r>
          </a:p>
        </p:txBody>
      </p:sp>
      <p:sp>
        <p:nvSpPr>
          <p:cNvPr id="314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5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6" name="Icon" descr="ic_mobil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7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Mobile Apps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Native iOS &amp; Android, React Native, Flutter</a:t>
            </a:r>
          </a:p>
        </p:txBody>
      </p:sp>
      <p:sp>
        <p:nvSpPr>
          <p:cNvPr id="318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9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0" name="Icon" descr="ic_lapto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21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Web &amp; Frontend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React, Angular, PHP / Magento</a:t>
            </a:r>
          </a:p>
        </p:txBody>
      </p:sp>
      <p:cxnSp>
        <p:nvCxnSpPr>
          <p:cNvPr id="322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3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4" name="Shape"/>
          <p:cNvSpPr txBox="1"/>
          <p:nvPr/>
        </p:nvSpPr>
        <p:spPr>
          <a:xfrm>
            <a:off x="4226357" y="2852928"/>
            <a:ext cx="148864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SERVICES</a:t>
            </a:r>
          </a:p>
        </p:txBody>
      </p:sp>
      <p:sp>
        <p:nvSpPr>
          <p:cNvPr id="325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6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7" name="Icon" descr="ic_serve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8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Enterprise Backend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Java, .NET, Python &amp; Node.js — architecture through delivery, built to scale</a:t>
            </a:r>
          </a:p>
        </p:txBody>
      </p:sp>
      <p:cxnSp>
        <p:nvCxnSpPr>
          <p:cNvPr id="329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0" name="Shape"/>
          <p:cNvSpPr txBox="1"/>
          <p:nvPr/>
        </p:nvSpPr>
        <p:spPr>
          <a:xfrm>
            <a:off x="4226357" y="4059936"/>
            <a:ext cx="148864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INTEGRATION</a:t>
            </a:r>
          </a:p>
        </p:txBody>
      </p:sp>
      <p:sp>
        <p:nvSpPr>
          <p:cNvPr id="331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2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3" name="Icon" descr="ic_node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4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Integration &amp; APIs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APIs and middleware connecting custom apps to your enterprise platforms</a:t>
            </a:r>
          </a:p>
        </p:txBody>
      </p:sp>
      <p:sp>
        <p:nvSpPr>
          <p:cNvPr id="335" name="Shape"/>
          <p:cNvSpPr txBox="1"/>
          <p:nvPr/>
        </p:nvSpPr>
        <p:spPr>
          <a:xfrm>
            <a:off x="4226357" y="5321808"/>
            <a:ext cx="14886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YOUR PLATFORMS</a:t>
            </a:r>
          </a:p>
        </p:txBody>
      </p:sp>
      <p:cxnSp>
        <p:nvCxnSpPr>
          <p:cNvPr id="336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7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ServiceNow</a:t>
            </a:r>
          </a:p>
        </p:txBody>
      </p:sp>
      <p:cxnSp>
        <p:nvCxnSpPr>
          <p:cNvPr id="338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9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Salesforce</a:t>
            </a:r>
          </a:p>
        </p:txBody>
      </p:sp>
      <p:cxnSp>
        <p:nvCxnSpPr>
          <p:cNvPr id="340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1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Snowflake</a:t>
            </a:r>
          </a:p>
        </p:txBody>
      </p:sp>
      <p:cxnSp>
        <p:nvCxnSpPr>
          <p:cNvPr id="342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3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 &amp; CRM</a:t>
            </a:r>
          </a:p>
        </p:txBody>
      </p:sp>
      <p:sp>
        <p:nvSpPr>
          <p:cNvPr id="2" name="Google Shape;430;p14">
            <a:extLst>
              <a:ext uri="{FF2B5EF4-FFF2-40B4-BE49-F238E27FC236}">
                <a16:creationId xmlns:a16="http://schemas.microsoft.com/office/drawing/2014/main" id="{0238CE76-DF9D-A58D-DA4E-00C3F01DDD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61466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/>
              <a:t>Custom Software Development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Full-stack build capability, from backend to mobile to integration.</a:t>
            </a:r>
          </a:p>
        </p:txBody>
      </p:sp>
      <p:sp>
        <p:nvSpPr>
          <p:cNvPr id="701" name="Cap Row Bg 1"/>
          <p:cNvSpPr/>
          <p:nvPr/>
        </p:nvSpPr>
        <p:spPr>
          <a:xfrm>
            <a:off x="502920" y="1700000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2" name="Cap Row Bar 1"/>
          <p:cNvSpPr/>
          <p:nvPr/>
        </p:nvSpPr>
        <p:spPr>
          <a:xfrm>
            <a:off x="502920" y="1700000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3" name="Cap Tag 1"/>
          <p:cNvSpPr txBox="1"/>
          <p:nvPr/>
        </p:nvSpPr>
        <p:spPr>
          <a:xfrm>
            <a:off x="722920" y="1840000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CAPABILITY 01</a:t>
            </a:r>
          </a:p>
        </p:txBody>
      </p:sp>
      <p:sp>
        <p:nvSpPr>
          <p:cNvPr id="704" name="Cap Headline 1"/>
          <p:cNvSpPr txBox="1"/>
          <p:nvPr/>
        </p:nvSpPr>
        <p:spPr>
          <a:xfrm>
            <a:off x="722920" y="2124770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Enterprise Backend Development</a:t>
            </a:r>
          </a:p>
        </p:txBody>
      </p:sp>
      <p:sp>
        <p:nvSpPr>
          <p:cNvPr id="705" name="Cap Desc 1"/>
          <p:cNvSpPr txBox="1"/>
          <p:nvPr/>
        </p:nvSpPr>
        <p:spPr>
          <a:xfrm>
            <a:off x="4996340" y="1843129"/>
            <a:ext cx="6472740" cy="56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Java, Python, .NET, and Node.js — architecture through delivery for systems built to scale.</a:t>
            </a:r>
          </a:p>
        </p:txBody>
      </p:sp>
      <p:sp>
        <p:nvSpPr>
          <p:cNvPr id="706" name="Cap Row Bg 2"/>
          <p:cNvSpPr/>
          <p:nvPr/>
        </p:nvSpPr>
        <p:spPr>
          <a:xfrm>
            <a:off x="502920" y="2690000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7" name="Cap Row Bar 2"/>
          <p:cNvSpPr/>
          <p:nvPr/>
        </p:nvSpPr>
        <p:spPr>
          <a:xfrm>
            <a:off x="502920" y="2690000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8" name="Cap Tag 2"/>
          <p:cNvSpPr txBox="1"/>
          <p:nvPr/>
        </p:nvSpPr>
        <p:spPr>
          <a:xfrm>
            <a:off x="722920" y="2830000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CAPABILITY 02</a:t>
            </a:r>
          </a:p>
        </p:txBody>
      </p:sp>
      <p:sp>
        <p:nvSpPr>
          <p:cNvPr id="709" name="Cap Headline 2"/>
          <p:cNvSpPr txBox="1"/>
          <p:nvPr/>
        </p:nvSpPr>
        <p:spPr>
          <a:xfrm>
            <a:off x="722920" y="3114770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Mobile Application Development</a:t>
            </a:r>
          </a:p>
        </p:txBody>
      </p:sp>
      <p:sp>
        <p:nvSpPr>
          <p:cNvPr id="710" name="Cap Desc 2"/>
          <p:cNvSpPr txBox="1"/>
          <p:nvPr/>
        </p:nvSpPr>
        <p:spPr>
          <a:xfrm>
            <a:off x="4996340" y="2833129"/>
            <a:ext cx="6472740" cy="56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Native iOS and Android, plus React Native and Flutter, for cross-platform builds from one senior-led team.</a:t>
            </a:r>
          </a:p>
        </p:txBody>
      </p:sp>
      <p:sp>
        <p:nvSpPr>
          <p:cNvPr id="711" name="Cap Row Bg 3"/>
          <p:cNvSpPr/>
          <p:nvPr/>
        </p:nvSpPr>
        <p:spPr>
          <a:xfrm>
            <a:off x="502920" y="3680000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Cap Row Bar 3"/>
          <p:cNvSpPr/>
          <p:nvPr/>
        </p:nvSpPr>
        <p:spPr>
          <a:xfrm>
            <a:off x="502920" y="3680000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3" name="Cap Tag 3"/>
          <p:cNvSpPr txBox="1"/>
          <p:nvPr/>
        </p:nvSpPr>
        <p:spPr>
          <a:xfrm>
            <a:off x="722920" y="3820000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CAPABILITY 03</a:t>
            </a:r>
          </a:p>
        </p:txBody>
      </p:sp>
      <p:sp>
        <p:nvSpPr>
          <p:cNvPr id="714" name="Cap Headline 3"/>
          <p:cNvSpPr txBox="1"/>
          <p:nvPr/>
        </p:nvSpPr>
        <p:spPr>
          <a:xfrm>
            <a:off x="722920" y="4104770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Web &amp; Frontend Engineering</a:t>
            </a:r>
          </a:p>
        </p:txBody>
      </p:sp>
      <p:sp>
        <p:nvSpPr>
          <p:cNvPr id="715" name="Cap Desc 3"/>
          <p:cNvSpPr txBox="1"/>
          <p:nvPr/>
        </p:nvSpPr>
        <p:spPr>
          <a:xfrm>
            <a:off x="4996340" y="3823129"/>
            <a:ext cx="6472740" cy="56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React, Angular, and PHP/Magento — modern front-end delivery integrated with the platforms you already run.</a:t>
            </a:r>
          </a:p>
        </p:txBody>
      </p:sp>
      <p:sp>
        <p:nvSpPr>
          <p:cNvPr id="716" name="Cap Row Bg 4"/>
          <p:cNvSpPr/>
          <p:nvPr/>
        </p:nvSpPr>
        <p:spPr>
          <a:xfrm>
            <a:off x="502920" y="4670000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Cap Row Bar 4"/>
          <p:cNvSpPr/>
          <p:nvPr/>
        </p:nvSpPr>
        <p:spPr>
          <a:xfrm>
            <a:off x="502920" y="4670000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8" name="Cap Tag 4"/>
          <p:cNvSpPr txBox="1"/>
          <p:nvPr/>
        </p:nvSpPr>
        <p:spPr>
          <a:xfrm>
            <a:off x="722920" y="4810000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CAPABILITY 04</a:t>
            </a:r>
          </a:p>
        </p:txBody>
      </p:sp>
      <p:sp>
        <p:nvSpPr>
          <p:cNvPr id="719" name="Cap Headline 4"/>
          <p:cNvSpPr txBox="1"/>
          <p:nvPr/>
        </p:nvSpPr>
        <p:spPr>
          <a:xfrm>
            <a:off x="722920" y="5094770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Integration &amp; API Development</a:t>
            </a:r>
          </a:p>
        </p:txBody>
      </p:sp>
      <p:sp>
        <p:nvSpPr>
          <p:cNvPr id="720" name="Cap Desc 4"/>
          <p:cNvSpPr txBox="1"/>
          <p:nvPr/>
        </p:nvSpPr>
        <p:spPr>
          <a:xfrm>
            <a:off x="4996340" y="4813129"/>
            <a:ext cx="6472740" cy="56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Connecting custom applications to the enterprise platforms you already run — ServiceNow, Salesforce, Snowflake, and beyond.</a:t>
            </a:r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Voice-Enabled Sales Assistant for Field Reps</a:t>
            </a:r>
            <a:endParaRPr dirty="0">
              <a:latin typeface="Montserrat"/>
            </a:endParaRPr>
          </a:p>
        </p:txBody>
      </p:sp>
      <p:sp>
        <p:nvSpPr>
          <p:cNvPr id="453" name="Google Shape;453;p1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grpSp>
        <p:nvGrpSpPr>
          <p:cNvPr id="454" name="Google Shape;454;p15"/>
          <p:cNvGrpSpPr/>
          <p:nvPr/>
        </p:nvGrpSpPr>
        <p:grpSpPr>
          <a:xfrm>
            <a:off x="1210953" y="1274626"/>
            <a:ext cx="2970399" cy="2909484"/>
            <a:chOff x="1210953" y="1457019"/>
            <a:chExt cx="2970399" cy="2909484"/>
          </a:xfrm>
        </p:grpSpPr>
        <p:grpSp>
          <p:nvGrpSpPr>
            <p:cNvPr id="455" name="Google Shape;455;p15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56" name="Google Shape;456;p15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7" name="Google Shape;457;p15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58" name="Google Shape;458;p15"/>
            <p:cNvSpPr txBox="1"/>
            <p:nvPr/>
          </p:nvSpPr>
          <p:spPr>
            <a:xfrm>
              <a:off x="1480157" y="1904290"/>
              <a:ext cx="2701195" cy="2462213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at a global healthcare tech firm had difficulty accessing product and customer data.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Time was lost navigating portals or calling HQ — slowing down client engagement and reducing sales efficiency.</a:t>
              </a:r>
              <a:endParaRPr/>
            </a:p>
          </p:txBody>
        </p:sp>
        <p:sp>
          <p:nvSpPr>
            <p:cNvPr id="459" name="Google Shape;459;p15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0" name="Google Shape;460;p15"/>
          <p:cNvGrpSpPr/>
          <p:nvPr/>
        </p:nvGrpSpPr>
        <p:grpSpPr>
          <a:xfrm>
            <a:off x="4803773" y="1274626"/>
            <a:ext cx="7337036" cy="1984236"/>
            <a:chOff x="4803773" y="1274626"/>
            <a:chExt cx="7337036" cy="1984236"/>
          </a:xfrm>
        </p:grpSpPr>
        <p:grpSp>
          <p:nvGrpSpPr>
            <p:cNvPr id="461" name="Google Shape;461;p15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62" name="Google Shape;462;p15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3" name="Google Shape;463;p15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64" name="Google Shape;464;p15"/>
            <p:cNvSpPr txBox="1"/>
            <p:nvPr/>
          </p:nvSpPr>
          <p:spPr>
            <a:xfrm>
              <a:off x="5094822" y="1750757"/>
              <a:ext cx="7045987" cy="15081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built an AI-powered virtual sales assistant using Amazon Lex.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Voice-enabled mobile app for real-time rep support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Integrated with Salesforce CRM, ERP, and enterprise KB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Used Amazon Lambda and RDS to drive dynamic conversations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Delivered intuitive natural language experience with sub-second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Fully integrated with legacy and modern systems</a:t>
              </a:r>
              <a:endParaRPr/>
            </a:p>
          </p:txBody>
        </p:sp>
        <p:sp>
          <p:nvSpPr>
            <p:cNvPr id="465" name="Google Shape;465;p15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6" name="Google Shape;466;p15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67" name="Google Shape;467;p15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8" name="Google Shape;468;p15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now get answers on the go — faster decisions, smarter conversations, better outcomes.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🗣️ Voice assistant integrated with all core systems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 Faster rep onboarding and daily productivity gains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🔍 No more digging — answers in seconds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🤖 Seamless user experience powered by conversational AI 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69" name="Google Shape;469;p15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858000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18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Salesforce</a:t>
            </a:r>
          </a:p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Certified Salesforce delivery across core clouds, Agentforce and industry solutions.</a:t>
            </a:r>
          </a:p>
        </p:txBody>
      </p:sp>
      <p:sp>
        <p:nvSpPr>
          <p:cNvPr id="305" name="Chip"/>
          <p:cNvSpPr/>
          <p:nvPr/>
        </p:nvSpPr>
        <p:spPr>
          <a:xfrm>
            <a:off x="548640" y="5120640"/>
            <a:ext cx="107899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Agentforce</a:t>
            </a:r>
          </a:p>
        </p:txBody>
      </p:sp>
      <p:sp>
        <p:nvSpPr>
          <p:cNvPr id="306" name="Chip"/>
          <p:cNvSpPr/>
          <p:nvPr/>
        </p:nvSpPr>
        <p:spPr>
          <a:xfrm>
            <a:off x="1737360" y="5120640"/>
            <a:ext cx="596189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Apex</a:t>
            </a:r>
          </a:p>
        </p:txBody>
      </p:sp>
      <p:sp>
        <p:nvSpPr>
          <p:cNvPr id="307" name="Chip"/>
          <p:cNvSpPr/>
          <p:nvPr/>
        </p:nvSpPr>
        <p:spPr>
          <a:xfrm>
            <a:off x="2443277" y="5120640"/>
            <a:ext cx="998525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Lightning</a:t>
            </a:r>
          </a:p>
        </p:txBody>
      </p:sp>
      <p:sp>
        <p:nvSpPr>
          <p:cNvPr id="308" name="Chip"/>
          <p:cNvSpPr/>
          <p:nvPr/>
        </p:nvSpPr>
        <p:spPr>
          <a:xfrm>
            <a:off x="548640" y="5532120"/>
            <a:ext cx="1239926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Health Cloud</a:t>
            </a:r>
          </a:p>
        </p:txBody>
      </p:sp>
      <p:sp>
        <p:nvSpPr>
          <p:cNvPr id="309" name="Chip"/>
          <p:cNvSpPr/>
          <p:nvPr/>
        </p:nvSpPr>
        <p:spPr>
          <a:xfrm>
            <a:off x="1898294" y="5532120"/>
            <a:ext cx="51572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cs typeface="Arial"/>
              </a:rPr>
              <a:t>CPQ</a:t>
            </a:r>
          </a:p>
        </p:txBody>
      </p:sp>
      <p:sp>
        <p:nvSpPr>
          <p:cNvPr id="310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5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lnSpc>
                <a:spcPct val="90000"/>
              </a:lnSpc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  <a:ea typeface="Montserrat"/>
                <a:cs typeface="Montserrat"/>
              </a:defRPr>
            </a:lvl1pPr>
            <a:lvl2pPr>
              <a:buSzPts val="1400"/>
              <a:buNone/>
              <a:defRPr sz="1800"/>
            </a:lvl2pPr>
            <a:lvl3pPr>
              <a:buSzPts val="1400"/>
              <a:buNone/>
              <a:defRPr sz="1800"/>
            </a:lvl3pPr>
            <a:lvl4pPr>
              <a:buSzPts val="1400"/>
              <a:buNone/>
              <a:defRPr sz="1800"/>
            </a:lvl4pPr>
            <a:lvl5pPr>
              <a:buSzPts val="1400"/>
              <a:buNone/>
              <a:defRPr sz="1800"/>
            </a:lvl5pPr>
            <a:lvl6pPr>
              <a:buSzPts val="1400"/>
              <a:buNone/>
              <a:defRPr sz="1800"/>
            </a:lvl6pPr>
            <a:lvl7pPr>
              <a:buSzPts val="1400"/>
              <a:buNone/>
              <a:defRPr sz="1800"/>
            </a:lvl7pPr>
            <a:lvl8pPr>
              <a:buSzPts val="1400"/>
              <a:buNone/>
              <a:defRPr sz="1800"/>
            </a:lvl8pPr>
            <a:lvl9pPr>
              <a:buSzPts val="1400"/>
              <a:buNone/>
              <a:defRPr sz="1800"/>
            </a:lvl9pPr>
          </a:lstStyle>
          <a:p>
            <a:r>
              <a:rPr lang="en-US" dirty="0"/>
              <a:t>HOW OUR SALESFORCE CAPABILITIES FIT TOGETHER</a:t>
            </a:r>
          </a:p>
        </p:txBody>
      </p:sp>
      <p:sp>
        <p:nvSpPr>
          <p:cNvPr id="311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CLOUDS</a:t>
            </a:r>
          </a:p>
        </p:txBody>
      </p:sp>
      <p:sp>
        <p:nvSpPr>
          <p:cNvPr id="312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3" name="Icon Ring"/>
          <p:cNvSpPr/>
          <p:nvPr/>
        </p:nvSpPr>
        <p:spPr>
          <a:xfrm>
            <a:off x="598932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4" name="Icon" descr="ic_char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04534" y="1875434"/>
            <a:ext cx="318211" cy="318211"/>
          </a:xfrm>
          <a:prstGeom prst="rect">
            <a:avLst/>
          </a:prstGeom>
        </p:spPr>
      </p:pic>
      <p:sp>
        <p:nvSpPr>
          <p:cNvPr id="315" name="Shape"/>
          <p:cNvSpPr txBox="1"/>
          <p:nvPr/>
        </p:nvSpPr>
        <p:spPr>
          <a:xfrm>
            <a:off x="667512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b="1" i="0" dirty="0">
                <a:solidFill>
                  <a:srgbClr val="3F3833"/>
                </a:solidFill>
                <a:latin typeface="Arial"/>
                <a:cs typeface="Arial"/>
              </a:rPr>
              <a:t>Sales &amp; Revenue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Sales Cloud, CPQ and quote-to-cash</a:t>
            </a:r>
          </a:p>
        </p:txBody>
      </p:sp>
      <p:sp>
        <p:nvSpPr>
          <p:cNvPr id="316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7" name="Icon Ring"/>
          <p:cNvSpPr/>
          <p:nvPr/>
        </p:nvSpPr>
        <p:spPr>
          <a:xfrm>
            <a:off x="9029700" y="1760220"/>
            <a:ext cx="548640" cy="5486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8" name="Icon" descr="ic_headse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914" y="1875434"/>
            <a:ext cx="318211" cy="318211"/>
          </a:xfrm>
          <a:prstGeom prst="rect">
            <a:avLst/>
          </a:prstGeom>
        </p:spPr>
      </p:pic>
      <p:sp>
        <p:nvSpPr>
          <p:cNvPr id="319" name="Shape"/>
          <p:cNvSpPr txBox="1"/>
          <p:nvPr/>
        </p:nvSpPr>
        <p:spPr>
          <a:xfrm>
            <a:off x="9715500" y="1508760"/>
            <a:ext cx="18516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Service &amp; Portals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Service Cloud, omnichannel and Experience Cloud</a:t>
            </a:r>
          </a:p>
        </p:txBody>
      </p:sp>
      <p:cxnSp>
        <p:nvCxnSpPr>
          <p:cNvPr id="320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cxnSp>
        <p:nvCxnSpPr>
          <p:cNvPr id="321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2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AI &amp; AUTOMATION</a:t>
            </a:r>
          </a:p>
        </p:txBody>
      </p:sp>
      <p:sp>
        <p:nvSpPr>
          <p:cNvPr id="323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4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5" name="Icon" descr="ic_bo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3297" y="3119201"/>
            <a:ext cx="381853" cy="381853"/>
          </a:xfrm>
          <a:prstGeom prst="rect">
            <a:avLst/>
          </a:prstGeom>
        </p:spPr>
      </p:pic>
      <p:sp>
        <p:nvSpPr>
          <p:cNvPr id="326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Agentforce &amp; Automation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AI agents, next-best actions and workflow automation across Salesforce</a:t>
            </a:r>
          </a:p>
        </p:txBody>
      </p:sp>
      <p:cxnSp>
        <p:nvCxnSpPr>
          <p:cNvPr id="327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28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PLATFORM</a:t>
            </a:r>
          </a:p>
        </p:txBody>
      </p:sp>
      <p:sp>
        <p:nvSpPr>
          <p:cNvPr id="329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DEDA"/>
            </a:solidFill>
          </a:ln>
          <a:effectLst>
            <a:outerShdw blurRad="76200" dist="19050" dir="5400000" algn="t" rotWithShape="0">
              <a:prstClr val="black">
                <a:alpha val="14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0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3DED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1" name="Icon" descr="ic_node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3297" y="4326209"/>
            <a:ext cx="381853" cy="381853"/>
          </a:xfrm>
          <a:prstGeom prst="rect">
            <a:avLst/>
          </a:prstGeom>
        </p:spPr>
      </p:pic>
      <p:sp>
        <p:nvSpPr>
          <p:cNvPr id="332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400" b="1" i="0" dirty="0">
                <a:solidFill>
                  <a:srgbClr val="3F3833"/>
                </a:solidFill>
                <a:latin typeface="Arial"/>
                <a:cs typeface="Arial"/>
              </a:rPr>
              <a:t>Platform &amp; Integration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Apex / Lightning, APIs, middleware and CRM data foundations</a:t>
            </a:r>
          </a:p>
        </p:txBody>
      </p:sp>
      <p:sp>
        <p:nvSpPr>
          <p:cNvPr id="333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200" b="1" i="0" spc="120" dirty="0">
                <a:solidFill>
                  <a:srgbClr val="6E625A"/>
                </a:solidFill>
                <a:latin typeface="Arial"/>
                <a:cs typeface="Arial"/>
              </a:rPr>
              <a:t>YOUR SYSTEMS</a:t>
            </a:r>
          </a:p>
        </p:txBody>
      </p:sp>
      <p:cxnSp>
        <p:nvCxnSpPr>
          <p:cNvPr id="334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5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</a:t>
            </a:r>
          </a:p>
        </p:txBody>
      </p:sp>
      <p:cxnSp>
        <p:nvCxnSpPr>
          <p:cNvPr id="336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7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Data Platforms</a:t>
            </a:r>
          </a:p>
        </p:txBody>
      </p:sp>
      <p:cxnSp>
        <p:nvCxnSpPr>
          <p:cNvPr id="338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39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ITSM</a:t>
            </a:r>
          </a:p>
        </p:txBody>
      </p:sp>
      <p:cxnSp>
        <p:nvCxnSpPr>
          <p:cNvPr id="340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C1BC"/>
            </a:solidFill>
            <a:prstDash val="dash"/>
          </a:ln>
        </p:spPr>
      </p:cxnSp>
      <p:sp>
        <p:nvSpPr>
          <p:cNvPr id="341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C1B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Custom Apps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B1AAFD25-FDDB-983F-6BED-289A3E517D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13</a:t>
            </a:fld>
            <a:endParaRPr kumimoji="0" lang="en" sz="1300" b="0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3371476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C353C97-50DC-0827-3A2B-289885C6B5C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Enterprise Salesforce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6B020-89A1-2E6B-73CA-C29DAA59AE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</a:t>
            </a:fld>
            <a:endParaRPr kumimoji="0" lang="en" sz="1300" b="0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B9F05DC6-8F41-548B-6954-15A05A57C779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E50BC74-746F-FF0F-E611-BA13BC345664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11993BB-77E9-D825-57D5-E2B214A486E9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40D5BF0-4849-1AB0-F2EF-582CA923209D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25C10D7-34B1-09E7-9EC4-D4849D7E61FA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EF8A0F4-4B3F-F465-442D-4039D80FF02C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B60C3EB-9173-9ED5-D62D-7F6F4A2F48A9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B710974-F85E-700B-7CA4-93955A212DAD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010B79A-7C91-C563-B11C-5ACA0EF30E4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Cloud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 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Opportunity &amp; pipeline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Forecasting &amp; reporting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process automation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6FACEE2-6D2F-CCEC-700F-B3E7C11B96CF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Experience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Customer &amp; partner portals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Self-service experiences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Digital engagement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7D9F29F-E3B1-D4FD-CF1E-1ECFEE1F457A}"/>
              </a:ext>
            </a:extLst>
          </p:cNvPr>
          <p:cNvSpPr/>
          <p:nvPr/>
        </p:nvSpPr>
        <p:spPr bwMode="auto">
          <a:xfrm>
            <a:off x="685206" y="4627556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F2B8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Service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Case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Omnichannel routing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Knowledge &amp; automation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8CE7ED5-A452-525D-966B-4C7CA76D83E4}"/>
              </a:ext>
            </a:extLst>
          </p:cNvPr>
          <p:cNvSpPr/>
          <p:nvPr/>
        </p:nvSpPr>
        <p:spPr bwMode="auto">
          <a:xfrm>
            <a:off x="8205522" y="4627556"/>
            <a:ext cx="3585422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2400" b="1" i="0" u="sng" strike="noStrike" kern="0" cap="none" spc="0" normalizeH="0" baseline="0" noProof="0" dirty="0">
                <a:ln>
                  <a:noFill/>
                </a:ln>
                <a:solidFill>
                  <a:srgbClr val="2C2C2C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Platform and Integration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Apex / Lightning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APIs &amp; middleware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integrations</a:t>
            </a:r>
          </a:p>
        </p:txBody>
      </p:sp>
      <p:pic>
        <p:nvPicPr>
          <p:cNvPr id="2" name="Google Shape;302;p7">
            <a:extLst>
              <a:ext uri="{FF2B5EF4-FFF2-40B4-BE49-F238E27FC236}">
                <a16:creationId xmlns:a16="http://schemas.microsoft.com/office/drawing/2014/main" id="{685ACD69-263C-F149-D8A1-56E9479BF74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375772" y="3562437"/>
            <a:ext cx="1403214" cy="10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4548ED-C8E3-96F1-1096-0D5F8737431C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DA4260-579A-EF73-C560-640AA20FE05D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AC2757-6693-87E5-013D-3CF40029A5EC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CEF6EC-DC54-DAA9-0F18-49F4A2A97847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112A1115-C550-79CE-0957-3F95A9C40178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Revenue and customer experience platforms, from Sales Cloud to </a:t>
            </a:r>
            <a:r>
              <a:rPr lang="en-US" dirty="0" err="1"/>
              <a:t>Agentforce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073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36B5E-1837-C407-73E6-4AEC768F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704A2FA2-0CF8-5470-536A-A24C59A6E79C}"/>
              </a:ext>
            </a:extLst>
          </p:cNvPr>
          <p:cNvSpPr>
            <a:spLocks noChangeAspect="1"/>
          </p:cNvSpPr>
          <p:nvPr/>
        </p:nvSpPr>
        <p:spPr>
          <a:xfrm>
            <a:off x="6230687" y="4811331"/>
            <a:ext cx="831273" cy="83127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BB4B79A-23EB-3F9C-30D9-F7CDB51994C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Expanded Salesforce Capabilities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4895E-CDF3-C0B8-3316-A0B0030288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15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92C92B-7DD7-C249-E5BB-D945A4250AC5}"/>
              </a:ext>
            </a:extLst>
          </p:cNvPr>
          <p:cNvSpPr/>
          <p:nvPr/>
        </p:nvSpPr>
        <p:spPr>
          <a:xfrm>
            <a:off x="1798734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Agentforce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AI &amp; Intelligent Automation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AI agents embedded into Salesforce workflows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Guides sales reps with next-best actions in real time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Automates follow-ups and reduces manual CRM updates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case resolution with AI-assisted responses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Orchestrates workflows across Salesforce and external systems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8906A5-007C-E690-0A52-EE26C3C8BD06}"/>
              </a:ext>
            </a:extLst>
          </p:cNvPr>
          <p:cNvSpPr/>
          <p:nvPr/>
        </p:nvSpPr>
        <p:spPr>
          <a:xfrm>
            <a:off x="1514954" y="1639937"/>
            <a:ext cx="283779" cy="2150400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0760CD-30EC-7A42-BBC8-8B302F452308}"/>
              </a:ext>
            </a:extLst>
          </p:cNvPr>
          <p:cNvSpPr>
            <a:spLocks noChangeAspect="1"/>
          </p:cNvSpPr>
          <p:nvPr/>
        </p:nvSpPr>
        <p:spPr>
          <a:xfrm>
            <a:off x="469073" y="2296793"/>
            <a:ext cx="831273" cy="83127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F77F83-2126-AF12-856D-39AD5691E12B}"/>
              </a:ext>
            </a:extLst>
          </p:cNvPr>
          <p:cNvCxnSpPr>
            <a:cxnSpLocks/>
            <a:stCxn id="6" idx="6"/>
            <a:endCxn id="3" idx="1"/>
          </p:cNvCxnSpPr>
          <p:nvPr/>
        </p:nvCxnSpPr>
        <p:spPr>
          <a:xfrm>
            <a:off x="1300346" y="2712430"/>
            <a:ext cx="214608" cy="2707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61229D4-A38D-D640-8690-811A4F53C7A1}"/>
              </a:ext>
            </a:extLst>
          </p:cNvPr>
          <p:cNvSpPr/>
          <p:nvPr/>
        </p:nvSpPr>
        <p:spPr>
          <a:xfrm>
            <a:off x="1798734" y="4144646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 Clouds (Health, Financial Services, Manufacturing)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Industry-specific solutions tailored to complex business models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Health Cloud: unified patient view and care coordination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Financial Services Cloud: relationship-based client management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Manufacturing Cloud: aligned forecasting and demand planning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F2DCC-A862-45A3-9CBF-4B3F409D879A}"/>
              </a:ext>
            </a:extLst>
          </p:cNvPr>
          <p:cNvSpPr/>
          <p:nvPr/>
        </p:nvSpPr>
        <p:spPr>
          <a:xfrm>
            <a:off x="1514954" y="4144646"/>
            <a:ext cx="283779" cy="21504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726B37D-406A-E8F9-9A3D-A461AC119A5D}"/>
              </a:ext>
            </a:extLst>
          </p:cNvPr>
          <p:cNvSpPr>
            <a:spLocks noChangeAspect="1"/>
          </p:cNvSpPr>
          <p:nvPr/>
        </p:nvSpPr>
        <p:spPr>
          <a:xfrm>
            <a:off x="469073" y="4811331"/>
            <a:ext cx="831273" cy="83127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F8F89E-52AA-B3A5-3397-32B2A2C389F2}"/>
              </a:ext>
            </a:extLst>
          </p:cNvPr>
          <p:cNvCxnSpPr>
            <a:cxnSpLocks/>
            <a:stCxn id="10" idx="6"/>
            <a:endCxn id="9" idx="1"/>
          </p:cNvCxnSpPr>
          <p:nvPr/>
        </p:nvCxnSpPr>
        <p:spPr>
          <a:xfrm flipV="1">
            <a:off x="1300346" y="5219846"/>
            <a:ext cx="214608" cy="7122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5C5E10B-2A16-A4CA-FF77-07E569A53D20}"/>
              </a:ext>
            </a:extLst>
          </p:cNvPr>
          <p:cNvSpPr/>
          <p:nvPr/>
        </p:nvSpPr>
        <p:spPr>
          <a:xfrm>
            <a:off x="7560348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Revenue &amp; CPQ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End-to-end quote-to-cash execution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deal cycles with automated quoting and approvals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pricing accuracy and discount governance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Streamlines contract lifecycle from quote to revenue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visibility into revenue and pipeline performance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73AA38-390A-7495-E0E1-3D75B233FF20}"/>
              </a:ext>
            </a:extLst>
          </p:cNvPr>
          <p:cNvSpPr/>
          <p:nvPr/>
        </p:nvSpPr>
        <p:spPr>
          <a:xfrm>
            <a:off x="7276568" y="1639937"/>
            <a:ext cx="283779" cy="21504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31435AE-EC62-B5B5-C962-1442BEEE3177}"/>
              </a:ext>
            </a:extLst>
          </p:cNvPr>
          <p:cNvSpPr>
            <a:spLocks noChangeAspect="1"/>
          </p:cNvSpPr>
          <p:nvPr/>
        </p:nvSpPr>
        <p:spPr>
          <a:xfrm>
            <a:off x="6230687" y="2296793"/>
            <a:ext cx="831273" cy="831273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8F7682-ACB7-CDCB-D548-677428E9A3EA}"/>
              </a:ext>
            </a:extLst>
          </p:cNvPr>
          <p:cNvCxnSpPr>
            <a:cxnSpLocks/>
            <a:stCxn id="16" idx="6"/>
            <a:endCxn id="15" idx="1"/>
          </p:cNvCxnSpPr>
          <p:nvPr/>
        </p:nvCxnSpPr>
        <p:spPr>
          <a:xfrm>
            <a:off x="7061960" y="2712430"/>
            <a:ext cx="214608" cy="2707"/>
          </a:xfrm>
          <a:prstGeom prst="line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32714AD-F519-226B-DD57-816D3730C860}"/>
              </a:ext>
            </a:extLst>
          </p:cNvPr>
          <p:cNvSpPr/>
          <p:nvPr/>
        </p:nvSpPr>
        <p:spPr>
          <a:xfrm>
            <a:off x="7560348" y="4152959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Customer Experience &amp; Engagement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Personalized, data-driven customer journeys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Delivers targeted campaigns based on customer behavior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engagement with personalized interactions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unified customer insights across touchpoints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Drives retention and lifetime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2DD039-A514-CA18-57F4-1EFC94D1A476}"/>
              </a:ext>
            </a:extLst>
          </p:cNvPr>
          <p:cNvSpPr/>
          <p:nvPr/>
        </p:nvSpPr>
        <p:spPr>
          <a:xfrm>
            <a:off x="7276568" y="4144646"/>
            <a:ext cx="283779" cy="21504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2A11-F320-910E-C878-49E117E46199}"/>
              </a:ext>
            </a:extLst>
          </p:cNvPr>
          <p:cNvCxnSpPr>
            <a:cxnSpLocks/>
            <a:stCxn id="25" idx="6"/>
            <a:endCxn id="24" idx="1"/>
          </p:cNvCxnSpPr>
          <p:nvPr/>
        </p:nvCxnSpPr>
        <p:spPr>
          <a:xfrm flipV="1">
            <a:off x="7061960" y="5219846"/>
            <a:ext cx="214608" cy="7122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EAC413C0-7BC8-45CD-82D5-FE3A84A575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8480" y="4824100"/>
            <a:ext cx="855687" cy="85568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95B7C305-F2D2-11ED-B648-7CC5CDB50AC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4861284"/>
            <a:ext cx="781320" cy="78132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2B566611-3045-7B88-AC5F-956F75E04DC7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2755" y="2227654"/>
            <a:ext cx="950351" cy="950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B32628A-A2DE-6045-B30E-81E1444423C0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2296793"/>
            <a:ext cx="727073" cy="727073"/>
          </a:xfrm>
          <a:prstGeom prst="rect">
            <a:avLst/>
          </a:prstGeom>
        </p:spPr>
      </p:pic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9DC4C1D-49CF-6D1E-662F-3862154E46D5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Agentforce</a:t>
            </a:r>
            <a:r>
              <a:rPr lang="en-US" dirty="0"/>
              <a:t> AI to industry clouds, built for revenue teams.</a:t>
            </a:r>
          </a:p>
        </p:txBody>
      </p:sp>
    </p:spTree>
    <p:extLst>
      <p:ext uri="{BB962C8B-B14F-4D97-AF65-F5344CB8AC3E}">
        <p14:creationId xmlns:p14="http://schemas.microsoft.com/office/powerpoint/2010/main" val="197782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553EF-137E-DF94-3C83-2CDD5127F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96CBC-223F-957F-73D5-F03E83AC70CC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Certified Salesforce Talent at Scale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443B4-9C51-CCE9-11EB-977420FFBD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AEC5C3-9B6E-7F9B-7EF6-EF79FA111B61}"/>
              </a:ext>
            </a:extLst>
          </p:cNvPr>
          <p:cNvGrpSpPr/>
          <p:nvPr/>
        </p:nvGrpSpPr>
        <p:grpSpPr>
          <a:xfrm>
            <a:off x="195835" y="1897498"/>
            <a:ext cx="11486382" cy="3939257"/>
            <a:chOff x="195835" y="1321765"/>
            <a:chExt cx="11486382" cy="3939257"/>
          </a:xfrm>
        </p:grpSpPr>
        <p:pic>
          <p:nvPicPr>
            <p:cNvPr id="5" name="Google Shape;424;p38" descr="Certification - Architect Overview">
              <a:extLst>
                <a:ext uri="{FF2B5EF4-FFF2-40B4-BE49-F238E27FC236}">
                  <a16:creationId xmlns:a16="http://schemas.microsoft.com/office/drawing/2014/main" id="{987073A0-7544-0B94-DCF1-E11966EFC6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63428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425;p38" descr="Certification - Architect Overview">
              <a:extLst>
                <a:ext uri="{FF2B5EF4-FFF2-40B4-BE49-F238E27FC236}">
                  <a16:creationId xmlns:a16="http://schemas.microsoft.com/office/drawing/2014/main" id="{9D81A088-AC47-ADDE-C6BE-CE5667F9678C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03410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426;p38" descr="Certification - Integration Architect">
              <a:extLst>
                <a:ext uri="{FF2B5EF4-FFF2-40B4-BE49-F238E27FC236}">
                  <a16:creationId xmlns:a16="http://schemas.microsoft.com/office/drawing/2014/main" id="{9051E1FE-7357-94E5-E058-12C012E2FE9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46148" y="1446387"/>
              <a:ext cx="989662" cy="9681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427;p38" descr="A blue and white label with white text&#10;&#10;AI-generated content may be incorrect.">
              <a:extLst>
                <a:ext uri="{FF2B5EF4-FFF2-40B4-BE49-F238E27FC236}">
                  <a16:creationId xmlns:a16="http://schemas.microsoft.com/office/drawing/2014/main" id="{CE07C900-C848-627A-ED40-5BAE2541E50F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135811" y="1364143"/>
              <a:ext cx="1156405" cy="1138476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7" name="Google Shape;428;p38">
              <a:extLst>
                <a:ext uri="{FF2B5EF4-FFF2-40B4-BE49-F238E27FC236}">
                  <a16:creationId xmlns:a16="http://schemas.microsoft.com/office/drawing/2014/main" id="{54F07A69-2BF1-AA1B-D0CB-E058478991C5}"/>
                </a:ext>
              </a:extLst>
            </p:cNvPr>
            <p:cNvCxnSpPr/>
            <p:nvPr/>
          </p:nvCxnSpPr>
          <p:spPr>
            <a:xfrm>
              <a:off x="2905628" y="2534066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" name="Google Shape;429;p38">
              <a:extLst>
                <a:ext uri="{FF2B5EF4-FFF2-40B4-BE49-F238E27FC236}">
                  <a16:creationId xmlns:a16="http://schemas.microsoft.com/office/drawing/2014/main" id="{A07141D5-E196-DA2A-52B1-8C79A554B762}"/>
                </a:ext>
              </a:extLst>
            </p:cNvPr>
            <p:cNvCxnSpPr/>
            <p:nvPr/>
          </p:nvCxnSpPr>
          <p:spPr>
            <a:xfrm>
              <a:off x="2905628" y="3924595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41" name="Google Shape;430;p38" descr="Logo, company name&#10;&#10;Description automatically generated">
              <a:extLst>
                <a:ext uri="{FF2B5EF4-FFF2-40B4-BE49-F238E27FC236}">
                  <a16:creationId xmlns:a16="http://schemas.microsoft.com/office/drawing/2014/main" id="{9C81AF9D-5D64-E1E9-A242-2848166E7D4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17235" y="2724211"/>
              <a:ext cx="991107" cy="9917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1;p38" descr="A picture containing logo&#10;&#10;Description automatically generated">
              <a:extLst>
                <a:ext uri="{FF2B5EF4-FFF2-40B4-BE49-F238E27FC236}">
                  <a16:creationId xmlns:a16="http://schemas.microsoft.com/office/drawing/2014/main" id="{CB59B371-6598-8924-61AE-6E6C296C3F0D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034201" y="2746495"/>
              <a:ext cx="945651" cy="9462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32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56EDD405-2EE0-C8EC-8193-AF2BE9CC3A98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221971" y="2724213"/>
              <a:ext cx="1023754" cy="102439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33;p38" descr="Logo, company name&#10;&#10;Description automatically generated">
              <a:extLst>
                <a:ext uri="{FF2B5EF4-FFF2-40B4-BE49-F238E27FC236}">
                  <a16:creationId xmlns:a16="http://schemas.microsoft.com/office/drawing/2014/main" id="{514167E5-E7C4-1291-4AA9-7FDAC022F37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50234" y="2700845"/>
              <a:ext cx="991106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34;p38" descr="A blue and white label with white text&#10;&#10;Description automatically generated">
              <a:extLst>
                <a:ext uri="{FF2B5EF4-FFF2-40B4-BE49-F238E27FC236}">
                  <a16:creationId xmlns:a16="http://schemas.microsoft.com/office/drawing/2014/main" id="{AA94404A-ECF6-481A-6EB9-C7B0C8874040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7209126" y="1321765"/>
              <a:ext cx="1156405" cy="11384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435;p38" descr="Certification Logo* Certified Sharing and Visibility ...">
              <a:extLst>
                <a:ext uri="{FF2B5EF4-FFF2-40B4-BE49-F238E27FC236}">
                  <a16:creationId xmlns:a16="http://schemas.microsoft.com/office/drawing/2014/main" id="{54735F0B-FF31-C7C9-F751-29BC1FD0FE8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8432223" y="1482711"/>
              <a:ext cx="1006623" cy="989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436;p38" descr="Logo, company name&#10;&#10;Description automatically generated">
              <a:extLst>
                <a:ext uri="{FF2B5EF4-FFF2-40B4-BE49-F238E27FC236}">
                  <a16:creationId xmlns:a16="http://schemas.microsoft.com/office/drawing/2014/main" id="{7E49F57D-A849-71BC-ACF4-531EF7A2E52C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7963537" y="4243611"/>
              <a:ext cx="985768" cy="9936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" name="Google Shape;437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C502B71A-9820-B86A-90F5-94AC96C0012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9505537" y="1472543"/>
              <a:ext cx="1006623" cy="100726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438;p38" descr="A hexagon with white text and blue clouds&#10;&#10;AI-generated content may be incorrect.">
              <a:extLst>
                <a:ext uri="{FF2B5EF4-FFF2-40B4-BE49-F238E27FC236}">
                  <a16:creationId xmlns:a16="http://schemas.microsoft.com/office/drawing/2014/main" id="{57A1823D-7B63-F372-753C-AA8F4448923D}"/>
                </a:ext>
              </a:extLst>
            </p:cNvPr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10581144" y="1482712"/>
              <a:ext cx="1006623" cy="10156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9" name="Google Shape;439;p38" descr="Icon&#10;&#10;Description automatically generated">
              <a:extLst>
                <a:ext uri="{FF2B5EF4-FFF2-40B4-BE49-F238E27FC236}">
                  <a16:creationId xmlns:a16="http://schemas.microsoft.com/office/drawing/2014/main" id="{AD7A0007-49B2-45E6-8BF4-190B3C9C9672}"/>
                </a:ext>
              </a:extLst>
            </p:cNvPr>
            <p:cNvPicPr preferRelativeResize="0"/>
            <p:nvPr/>
          </p:nvPicPr>
          <p:blipFill rotWithShape="1">
            <a:blip r:embed="rId16">
              <a:alphaModFix/>
            </a:blip>
            <a:srcRect l="9195" t="3424" r="11765" b="4621"/>
            <a:stretch/>
          </p:blipFill>
          <p:spPr>
            <a:xfrm>
              <a:off x="10264946" y="4139340"/>
              <a:ext cx="1095153" cy="11108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440;p38" descr="Logo, company name&#10;&#10;Description automatically generated">
              <a:extLst>
                <a:ext uri="{FF2B5EF4-FFF2-40B4-BE49-F238E27FC236}">
                  <a16:creationId xmlns:a16="http://schemas.microsoft.com/office/drawing/2014/main" id="{0260A65C-C4D2-500D-23E7-2BEC75C94D06}"/>
                </a:ext>
              </a:extLst>
            </p:cNvPr>
            <p:cNvPicPr preferRelativeResize="0"/>
            <p:nvPr/>
          </p:nvPicPr>
          <p:blipFill rotWithShape="1">
            <a:blip r:embed="rId17">
              <a:alphaModFix/>
            </a:blip>
            <a:srcRect/>
            <a:stretch/>
          </p:blipFill>
          <p:spPr>
            <a:xfrm>
              <a:off x="4262578" y="4165869"/>
              <a:ext cx="1072916" cy="10835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441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3943E461-C5F3-2280-A4E6-A3E5DA95DC4C}"/>
                </a:ext>
              </a:extLst>
            </p:cNvPr>
            <p:cNvPicPr preferRelativeResize="0"/>
            <p:nvPr/>
          </p:nvPicPr>
          <p:blipFill rotWithShape="1">
            <a:blip r:embed="rId18">
              <a:alphaModFix/>
            </a:blip>
            <a:srcRect/>
            <a:stretch/>
          </p:blipFill>
          <p:spPr>
            <a:xfrm>
              <a:off x="5416111" y="4165869"/>
              <a:ext cx="1159009" cy="10951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442;p38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3DE93C3F-E149-B0AD-E2E2-D03CE92B5DD7}"/>
                </a:ext>
              </a:extLst>
            </p:cNvPr>
            <p:cNvPicPr preferRelativeResize="0"/>
            <p:nvPr/>
          </p:nvPicPr>
          <p:blipFill rotWithShape="1">
            <a:blip r:embed="rId19">
              <a:alphaModFix/>
            </a:blip>
            <a:srcRect/>
            <a:stretch/>
          </p:blipFill>
          <p:spPr>
            <a:xfrm>
              <a:off x="9095672" y="4156452"/>
              <a:ext cx="1083518" cy="10835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443;p38">
              <a:extLst>
                <a:ext uri="{FF2B5EF4-FFF2-40B4-BE49-F238E27FC236}">
                  <a16:creationId xmlns:a16="http://schemas.microsoft.com/office/drawing/2014/main" id="{DBAA98B3-A4CC-5E37-4E68-9E04735FCF43}"/>
                </a:ext>
              </a:extLst>
            </p:cNvPr>
            <p:cNvSpPr/>
            <p:nvPr/>
          </p:nvSpPr>
          <p:spPr>
            <a:xfrm>
              <a:off x="195835" y="4290599"/>
              <a:ext cx="252507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DevOps, Domain &amp; Others</a:t>
              </a:r>
              <a:endParaRPr sz="1400"/>
            </a:p>
          </p:txBody>
        </p:sp>
        <p:sp>
          <p:nvSpPr>
            <p:cNvPr id="69" name="Google Shape;444;p38">
              <a:extLst>
                <a:ext uri="{FF2B5EF4-FFF2-40B4-BE49-F238E27FC236}">
                  <a16:creationId xmlns:a16="http://schemas.microsoft.com/office/drawing/2014/main" id="{A2C66540-EE47-1526-D675-BB233FDEA263}"/>
                </a:ext>
              </a:extLst>
            </p:cNvPr>
            <p:cNvSpPr/>
            <p:nvPr/>
          </p:nvSpPr>
          <p:spPr>
            <a:xfrm>
              <a:off x="206942" y="2929900"/>
              <a:ext cx="253114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Marketing (DX)</a:t>
              </a:r>
              <a:endParaRPr sz="1400"/>
            </a:p>
          </p:txBody>
        </p:sp>
        <p:sp>
          <p:nvSpPr>
            <p:cNvPr id="71" name="Google Shape;445;p38">
              <a:extLst>
                <a:ext uri="{FF2B5EF4-FFF2-40B4-BE49-F238E27FC236}">
                  <a16:creationId xmlns:a16="http://schemas.microsoft.com/office/drawing/2014/main" id="{722CF78C-1D93-0210-1114-D57E59F6FA89}"/>
                </a:ext>
              </a:extLst>
            </p:cNvPr>
            <p:cNvSpPr/>
            <p:nvPr/>
          </p:nvSpPr>
          <p:spPr>
            <a:xfrm>
              <a:off x="206941" y="1580784"/>
              <a:ext cx="2554624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Architecture (Core)</a:t>
              </a:r>
              <a:endParaRPr sz="1400"/>
            </a:p>
          </p:txBody>
        </p:sp>
        <p:pic>
          <p:nvPicPr>
            <p:cNvPr id="73" name="Google Shape;446;p38" descr="Logo&#10;&#10;Description automatically generated">
              <a:extLst>
                <a:ext uri="{FF2B5EF4-FFF2-40B4-BE49-F238E27FC236}">
                  <a16:creationId xmlns:a16="http://schemas.microsoft.com/office/drawing/2014/main" id="{E74F4EAF-76C1-F598-D4A3-A874617BD335}"/>
                </a:ext>
              </a:extLst>
            </p:cNvPr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6748998" y="4221005"/>
              <a:ext cx="995394" cy="100428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447;p38" descr="Certification">
              <a:extLst>
                <a:ext uri="{FF2B5EF4-FFF2-40B4-BE49-F238E27FC236}">
                  <a16:creationId xmlns:a16="http://schemas.microsoft.com/office/drawing/2014/main" id="{D3C31655-5BEE-EF63-BB16-F485508D960E}"/>
                </a:ext>
              </a:extLst>
            </p:cNvPr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7359355" y="2741218"/>
              <a:ext cx="1011473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448;p38" descr="Marketing Cloud Personalization Accredited Professional - Credly">
              <a:extLst>
                <a:ext uri="{FF2B5EF4-FFF2-40B4-BE49-F238E27FC236}">
                  <a16:creationId xmlns:a16="http://schemas.microsoft.com/office/drawing/2014/main" id="{F8CE20A5-888B-1ADA-0D00-824D10392873}"/>
                </a:ext>
              </a:extLst>
            </p:cNvPr>
            <p:cNvPicPr preferRelativeResize="0"/>
            <p:nvPr/>
          </p:nvPicPr>
          <p:blipFill rotWithShape="1">
            <a:blip r:embed="rId22">
              <a:alphaModFix/>
            </a:blip>
            <a:srcRect/>
            <a:stretch/>
          </p:blipFill>
          <p:spPr>
            <a:xfrm>
              <a:off x="8487490" y="2720309"/>
              <a:ext cx="1018047" cy="10180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449;p38" descr="Data Cloud Accredited Professional - Credly">
              <a:extLst>
                <a:ext uri="{FF2B5EF4-FFF2-40B4-BE49-F238E27FC236}">
                  <a16:creationId xmlns:a16="http://schemas.microsoft.com/office/drawing/2014/main" id="{CFE9D987-DD86-1FDE-5DFD-BE0B4B088A21}"/>
                </a:ext>
              </a:extLst>
            </p:cNvPr>
            <p:cNvPicPr preferRelativeResize="0"/>
            <p:nvPr/>
          </p:nvPicPr>
          <p:blipFill rotWithShape="1">
            <a:blip r:embed="rId23">
              <a:alphaModFix/>
            </a:blip>
            <a:srcRect/>
            <a:stretch/>
          </p:blipFill>
          <p:spPr>
            <a:xfrm>
              <a:off x="9563095" y="2759590"/>
              <a:ext cx="1018048" cy="10180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451;p38" descr="A blue and yellow hexagon with white text&#10;&#10;AI-generated content may be incorrect.">
              <a:extLst>
                <a:ext uri="{FF2B5EF4-FFF2-40B4-BE49-F238E27FC236}">
                  <a16:creationId xmlns:a16="http://schemas.microsoft.com/office/drawing/2014/main" id="{C8663A51-0244-E9D6-6D11-62F5407E2333}"/>
                </a:ext>
              </a:extLst>
            </p:cNvPr>
            <p:cNvPicPr preferRelativeResize="0"/>
            <p:nvPr/>
          </p:nvPicPr>
          <p:blipFill rotWithShape="1">
            <a:blip r:embed="rId24">
              <a:alphaModFix/>
            </a:blip>
            <a:srcRect/>
            <a:stretch/>
          </p:blipFill>
          <p:spPr>
            <a:xfrm>
              <a:off x="2894788" y="4164919"/>
              <a:ext cx="1094452" cy="107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452;p38" descr="A hexagon with blue text&#10;&#10;AI-generated content may be incorrect.">
              <a:extLst>
                <a:ext uri="{FF2B5EF4-FFF2-40B4-BE49-F238E27FC236}">
                  <a16:creationId xmlns:a16="http://schemas.microsoft.com/office/drawing/2014/main" id="{93197ABB-87A2-0D50-DC2F-29412141761E}"/>
                </a:ext>
              </a:extLst>
            </p:cNvPr>
            <p:cNvPicPr preferRelativeResize="0"/>
            <p:nvPr/>
          </p:nvPicPr>
          <p:blipFill rotWithShape="1">
            <a:blip r:embed="rId25">
              <a:alphaModFix/>
            </a:blip>
            <a:srcRect/>
            <a:stretch/>
          </p:blipFill>
          <p:spPr>
            <a:xfrm>
              <a:off x="10581144" y="2759591"/>
              <a:ext cx="1101073" cy="10826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5" name="Google Shape;455;p38">
              <a:extLst>
                <a:ext uri="{FF2B5EF4-FFF2-40B4-BE49-F238E27FC236}">
                  <a16:creationId xmlns:a16="http://schemas.microsoft.com/office/drawing/2014/main" id="{D705E9FB-81B4-E2C1-DF59-B92F70135EA2}"/>
                </a:ext>
              </a:extLst>
            </p:cNvPr>
            <p:cNvSpPr txBox="1"/>
            <p:nvPr/>
          </p:nvSpPr>
          <p:spPr>
            <a:xfrm>
              <a:off x="2645045" y="2709056"/>
              <a:ext cx="6092456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 sz="1400"/>
            </a:p>
          </p:txBody>
        </p:sp>
      </p:grp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5DFE327A-3702-F944-15DC-41F111237FC6}"/>
              </a:ext>
            </a:extLst>
          </p:cNvPr>
          <p:cNvSpPr>
            <a:spLocks noGrp="1"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i="0" dirty="0"/>
              <a:t>90+ Certifications Across Architecture, Platform &amp; Cloud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374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>
          <a:extLst>
            <a:ext uri="{FF2B5EF4-FFF2-40B4-BE49-F238E27FC236}">
              <a16:creationId xmlns:a16="http://schemas.microsoft.com/office/drawing/2014/main" id="{CF2C89E5-E6C0-5ED6-CE05-C6067BD2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">
            <a:extLst>
              <a:ext uri="{FF2B5EF4-FFF2-40B4-BE49-F238E27FC236}">
                <a16:creationId xmlns:a16="http://schemas.microsoft.com/office/drawing/2014/main" id="{5ACA4496-A18C-B783-0B22-C53D9A1727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Case Study: </a:t>
            </a:r>
            <a:r>
              <a:rPr lang="en-US" dirty="0" err="1">
                <a:latin typeface="Montserrat"/>
              </a:rPr>
              <a:t>Agentforce</a:t>
            </a:r>
            <a:r>
              <a:rPr lang="en-US" dirty="0">
                <a:latin typeface="Montserrat"/>
              </a:rPr>
              <a:t> Sales Automation at Scale</a:t>
            </a:r>
          </a:p>
        </p:txBody>
      </p:sp>
      <p:sp>
        <p:nvSpPr>
          <p:cNvPr id="361" name="Google Shape;361;p11">
            <a:extLst>
              <a:ext uri="{FF2B5EF4-FFF2-40B4-BE49-F238E27FC236}">
                <a16:creationId xmlns:a16="http://schemas.microsoft.com/office/drawing/2014/main" id="{7CD990FA-C962-DBBC-A2BA-C90119E232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</a:t>
            </a:fld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362" name="Google Shape;362;p11">
            <a:extLst>
              <a:ext uri="{FF2B5EF4-FFF2-40B4-BE49-F238E27FC236}">
                <a16:creationId xmlns:a16="http://schemas.microsoft.com/office/drawing/2014/main" id="{8BF405DE-A65A-D2E2-7B63-41761D37C0C1}"/>
              </a:ext>
            </a:extLst>
          </p:cNvPr>
          <p:cNvGrpSpPr/>
          <p:nvPr/>
        </p:nvGrpSpPr>
        <p:grpSpPr>
          <a:xfrm>
            <a:off x="1210953" y="1274626"/>
            <a:ext cx="2970399" cy="4863865"/>
            <a:chOff x="1210953" y="1457019"/>
            <a:chExt cx="2970399" cy="4863865"/>
          </a:xfrm>
        </p:grpSpPr>
        <p:grpSp>
          <p:nvGrpSpPr>
            <p:cNvPr id="363" name="Google Shape;363;p11">
              <a:extLst>
                <a:ext uri="{FF2B5EF4-FFF2-40B4-BE49-F238E27FC236}">
                  <a16:creationId xmlns:a16="http://schemas.microsoft.com/office/drawing/2014/main" id="{8F24175E-CD9B-CB8E-5B71-B229D9C1FABB}"/>
                </a:ext>
              </a:extLst>
            </p:cNvPr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364" name="Google Shape;364;p11">
                <a:extLst>
                  <a:ext uri="{FF2B5EF4-FFF2-40B4-BE49-F238E27FC236}">
                    <a16:creationId xmlns:a16="http://schemas.microsoft.com/office/drawing/2014/main" id="{CA4006DA-87BB-D00F-4BDC-9C0464B5E70B}"/>
                  </a:ext>
                </a:extLst>
              </p:cNvPr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C2C2C"/>
                  </a:buClr>
                  <a:buSzPts val="1600"/>
                  <a:buFont typeface="Open Sans"/>
                  <a:buNone/>
                  <a:tabLst/>
                  <a:defRPr/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11">
                <a:extLst>
                  <a:ext uri="{FF2B5EF4-FFF2-40B4-BE49-F238E27FC236}">
                    <a16:creationId xmlns:a16="http://schemas.microsoft.com/office/drawing/2014/main" id="{A6541DDB-F3C4-2F43-CA61-168C413B5F81}"/>
                  </a:ext>
                </a:extLst>
              </p:cNvPr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66" name="Google Shape;366;p11">
              <a:extLst>
                <a:ext uri="{FF2B5EF4-FFF2-40B4-BE49-F238E27FC236}">
                  <a16:creationId xmlns:a16="http://schemas.microsoft.com/office/drawing/2014/main" id="{C4977CB7-CDE4-E9A5-9497-8A3F7FEE72E6}"/>
                </a:ext>
              </a:extLst>
            </p:cNvPr>
            <p:cNvSpPr txBox="1"/>
            <p:nvPr/>
          </p:nvSpPr>
          <p:spPr>
            <a:xfrm>
              <a:off x="1480157" y="1904290"/>
              <a:ext cx="2701195" cy="4416594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0" indent="0">
                <a:buSzPts val="1600"/>
                <a:buNone/>
                <a:defRPr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A manufacturing company with engineer-to-order products struggled with a complex quoting process:</a:t>
              </a: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Each customer required custom Excel/PDF quote formats</a:t>
              </a: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Sales reps spent significant time on manual data entry</a:t>
              </a: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Opportunity and quote creation was inconsistent and delayed</a:t>
              </a: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Deals were managed outside Salesforce, leading to missing pipeline visibility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01010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Arial"/>
                </a:rPr>
                <a:t>Operating with low adoption and limited insight into true pipeline performance.</a:t>
              </a:r>
            </a:p>
          </p:txBody>
        </p:sp>
        <p:sp>
          <p:nvSpPr>
            <p:cNvPr id="367" name="Google Shape;367;p11">
              <a:extLst>
                <a:ext uri="{FF2B5EF4-FFF2-40B4-BE49-F238E27FC236}">
                  <a16:creationId xmlns:a16="http://schemas.microsoft.com/office/drawing/2014/main" id="{22C3F8DD-4DF4-A5DB-A141-7487AC383556}"/>
                </a:ext>
              </a:extLst>
            </p:cNvPr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  <a:tabLst/>
                <a:defRPr/>
              </a:pPr>
              <a: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Montserrat ExtraBold" pitchFamily="2" charset="0"/>
                  <a:ea typeface="Montserrat"/>
                  <a:cs typeface="Montserrat"/>
                  <a:sym typeface="Montserrat"/>
                </a:rPr>
                <a:t>The Challenge</a:t>
              </a:r>
              <a:endPara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 ExtraBold" pitchFamily="2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8" name="Google Shape;368;p11">
            <a:extLst>
              <a:ext uri="{FF2B5EF4-FFF2-40B4-BE49-F238E27FC236}">
                <a16:creationId xmlns:a16="http://schemas.microsoft.com/office/drawing/2014/main" id="{9C2BBA96-5167-1CDE-7998-C82D25913CA6}"/>
              </a:ext>
            </a:extLst>
          </p:cNvPr>
          <p:cNvGrpSpPr/>
          <p:nvPr/>
        </p:nvGrpSpPr>
        <p:grpSpPr>
          <a:xfrm>
            <a:off x="4803773" y="1274626"/>
            <a:ext cx="7337036" cy="843825"/>
            <a:chOff x="4803773" y="1274626"/>
            <a:chExt cx="7337036" cy="843825"/>
          </a:xfrm>
        </p:grpSpPr>
        <p:grpSp>
          <p:nvGrpSpPr>
            <p:cNvPr id="369" name="Google Shape;369;p11">
              <a:extLst>
                <a:ext uri="{FF2B5EF4-FFF2-40B4-BE49-F238E27FC236}">
                  <a16:creationId xmlns:a16="http://schemas.microsoft.com/office/drawing/2014/main" id="{49DB38F8-C043-1603-F109-F299E9F473A9}"/>
                </a:ext>
              </a:extLst>
            </p:cNvPr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370" name="Google Shape;370;p11">
                <a:extLst>
                  <a:ext uri="{FF2B5EF4-FFF2-40B4-BE49-F238E27FC236}">
                    <a16:creationId xmlns:a16="http://schemas.microsoft.com/office/drawing/2014/main" id="{2384748D-442F-35F1-5986-8F3A43DDF42C}"/>
                  </a:ext>
                </a:extLst>
              </p:cNvPr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1">
                <a:extLst>
                  <a:ext uri="{FF2B5EF4-FFF2-40B4-BE49-F238E27FC236}">
                    <a16:creationId xmlns:a16="http://schemas.microsoft.com/office/drawing/2014/main" id="{669FAF2A-2030-A440-A1E5-D6F1DE7E961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1">
              <a:extLst>
                <a:ext uri="{FF2B5EF4-FFF2-40B4-BE49-F238E27FC236}">
                  <a16:creationId xmlns:a16="http://schemas.microsoft.com/office/drawing/2014/main" id="{8D2C7DB5-4891-7A6F-6CB8-E86502A40875}"/>
                </a:ext>
              </a:extLst>
            </p:cNvPr>
            <p:cNvSpPr txBox="1"/>
            <p:nvPr/>
          </p:nvSpPr>
          <p:spPr>
            <a:xfrm>
              <a:off x="5094822" y="1750757"/>
              <a:ext cx="7045987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101010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Arial"/>
              </a:endParaRPr>
            </a:p>
          </p:txBody>
        </p:sp>
        <p:sp>
          <p:nvSpPr>
            <p:cNvPr id="373" name="Google Shape;373;p11">
              <a:extLst>
                <a:ext uri="{FF2B5EF4-FFF2-40B4-BE49-F238E27FC236}">
                  <a16:creationId xmlns:a16="http://schemas.microsoft.com/office/drawing/2014/main" id="{9A520F55-C87E-99E9-532F-6830F8387614}"/>
                </a:ext>
              </a:extLst>
            </p:cNvPr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  <a:tabLst/>
                <a:defRPr/>
              </a:pPr>
              <a: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Montserrat ExtraBold" pitchFamily="2" charset="0"/>
                  <a:ea typeface="Montserrat"/>
                  <a:cs typeface="Montserrat"/>
                  <a:sym typeface="Montserrat"/>
                </a:rPr>
                <a:t>What We Did</a:t>
              </a:r>
              <a:endPara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 ExtraBold" pitchFamily="2" charset="0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" name="Google Shape;372;p11">
            <a:extLst>
              <a:ext uri="{FF2B5EF4-FFF2-40B4-BE49-F238E27FC236}">
                <a16:creationId xmlns:a16="http://schemas.microsoft.com/office/drawing/2014/main" id="{BAB680F8-BF68-A0B0-6499-0987175890F8}"/>
              </a:ext>
            </a:extLst>
          </p:cNvPr>
          <p:cNvSpPr txBox="1"/>
          <p:nvPr/>
        </p:nvSpPr>
        <p:spPr>
          <a:xfrm>
            <a:off x="5094822" y="1750757"/>
            <a:ext cx="7045987" cy="209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01010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Built an AI-driven intake and orchestration workflow: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101010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  <a:p>
            <a:pPr marL="285750" lvl="0" indent="-285750"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  <a:defRPr/>
            </a:pPr>
            <a:r>
              <a:rPr lang="en-US" sz="1400" i="1" dirty="0"/>
              <a:t>Enabled users to submit quote requests via email (PDF/Excel)</a:t>
            </a:r>
          </a:p>
          <a:p>
            <a:pPr marL="285750" lvl="0" indent="-285750"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  <a:defRPr/>
            </a:pPr>
            <a:r>
              <a:rPr lang="en-US" sz="1400" i="1" dirty="0" err="1"/>
              <a:t>Agentforce</a:t>
            </a:r>
            <a:r>
              <a:rPr lang="en-US" sz="1400" i="1" dirty="0"/>
              <a:t> engaged users to collect missing deal information</a:t>
            </a:r>
          </a:p>
          <a:p>
            <a:pPr marL="285750" lvl="0" indent="-285750"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  <a:defRPr/>
            </a:pPr>
            <a:r>
              <a:rPr lang="en-US" sz="1400" i="1" dirty="0"/>
              <a:t>Automated creation of opportunities and quote starting points</a:t>
            </a:r>
          </a:p>
          <a:p>
            <a:pPr marL="285750" lvl="0" indent="-285750"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  <a:defRPr/>
            </a:pPr>
            <a:r>
              <a:rPr lang="en-US" sz="1400" i="1" dirty="0"/>
              <a:t>Standardized intake while preserving customer-specific</a:t>
            </a:r>
            <a:endParaRPr kumimoji="0" lang="en-US" sz="1400" b="0" i="1" u="none" strike="noStrike" kern="0" cap="none" spc="0" normalizeH="0" baseline="0" noProof="0" dirty="0">
              <a:ln>
                <a:noFill/>
              </a:ln>
              <a:solidFill>
                <a:srgbClr val="101010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101010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01010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Reduced manual data entry and improved consistency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01010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Increased adoption of Salesforce for deal tracking</a:t>
            </a:r>
            <a:endParaRPr kumimoji="0" sz="9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4" name="Google Shape;374;p11">
            <a:extLst>
              <a:ext uri="{FF2B5EF4-FFF2-40B4-BE49-F238E27FC236}">
                <a16:creationId xmlns:a16="http://schemas.microsoft.com/office/drawing/2014/main" id="{11ABD63B-8CBB-DF77-3130-7C317381CE12}"/>
              </a:ext>
            </a:extLst>
          </p:cNvPr>
          <p:cNvGrpSpPr/>
          <p:nvPr/>
        </p:nvGrpSpPr>
        <p:grpSpPr>
          <a:xfrm>
            <a:off x="4803772" y="4168312"/>
            <a:ext cx="6925383" cy="2309080"/>
            <a:chOff x="4803773" y="3780116"/>
            <a:chExt cx="5815290" cy="2309080"/>
          </a:xfrm>
        </p:grpSpPr>
        <p:sp>
          <p:nvSpPr>
            <p:cNvPr id="5" name="Google Shape;375;p11">
              <a:extLst>
                <a:ext uri="{FF2B5EF4-FFF2-40B4-BE49-F238E27FC236}">
                  <a16:creationId xmlns:a16="http://schemas.microsoft.com/office/drawing/2014/main" id="{E9916893-1B06-DC34-4D79-3A18643973CA}"/>
                </a:ext>
              </a:extLst>
            </p:cNvPr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376;p11">
              <a:extLst>
                <a:ext uri="{FF2B5EF4-FFF2-40B4-BE49-F238E27FC236}">
                  <a16:creationId xmlns:a16="http://schemas.microsoft.com/office/drawing/2014/main" id="{DAE5E86B-4527-7DDF-57F9-D2C3743BDF10}"/>
                </a:ext>
              </a:extLst>
            </p:cNvPr>
            <p:cNvSpPr txBox="1"/>
            <p:nvPr/>
          </p:nvSpPr>
          <p:spPr>
            <a:xfrm>
              <a:off x="5094822" y="4245614"/>
              <a:ext cx="5524241" cy="18435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Implemented:</a:t>
              </a:r>
              <a:endParaRPr kumimoji="0" sz="16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Arial"/>
              </a:endParaRPr>
            </a:p>
            <a:p>
              <a:pPr marL="412750" marR="0" lvl="1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400" b="0" i="1" u="none" strike="noStrike" kern="0" cap="none" spc="0" normalizeH="0" baseline="0" noProof="0" dirty="0" err="1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Agentforce</a:t>
              </a: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 AI for guided sales intake</a:t>
              </a:r>
            </a:p>
            <a:p>
              <a:pPr marL="412750" marR="0" lvl="1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Automated opportunity and quote creation</a:t>
              </a:r>
            </a:p>
            <a:p>
              <a:pPr marL="412750" marR="0" lvl="1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Integrated email-to-Salesforce workflow</a:t>
              </a:r>
              <a:endParaRPr kumimoji="0" lang="en-US" sz="1400" b="0" i="1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Arial"/>
              </a:endParaRPr>
            </a:p>
            <a:p>
              <a:pPr marL="127000" marR="0" lvl="1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Result:</a:t>
              </a:r>
            </a:p>
            <a:p>
              <a:pPr marL="127000" marR="0" lvl="1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Significantly streamlined sales process and improved pipeline visibility — with </a:t>
              </a:r>
              <a:r>
                <a:rPr kumimoji="0" lang="en-US" sz="1400" b="1" i="1" u="none" strike="noStrike" kern="0" cap="none" spc="0" normalizeH="0" baseline="0" noProof="0" dirty="0">
                  <a:ln>
                    <a:noFill/>
                  </a:ln>
                  <a:solidFill>
                    <a:srgbClr val="2C2C2C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higher adoption and reduced manual effort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endPara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8" name="Google Shape;377;p11">
              <a:extLst>
                <a:ext uri="{FF2B5EF4-FFF2-40B4-BE49-F238E27FC236}">
                  <a16:creationId xmlns:a16="http://schemas.microsoft.com/office/drawing/2014/main" id="{C810A384-F35D-B283-D627-527B621E06A3}"/>
                </a:ext>
              </a:extLst>
            </p:cNvPr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  <a:tabLst/>
                <a:defRPr/>
              </a:pPr>
              <a: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101010"/>
                  </a:solidFill>
                  <a:effectLst/>
                  <a:uLnTx/>
                  <a:uFillTx/>
                  <a:latin typeface="Montserrat ExtraBold" pitchFamily="2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 ExtraBold" pitchFamily="2" charset="0"/>
                <a:ea typeface="Montserrat"/>
                <a:cs typeface="Montserrat"/>
                <a:sym typeface="Montserra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5756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/>
              <a:t>Proven Partner Delivery: Healthcare JSM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A Jira Service Management project consolidation for a healthcare provider, delivered as a specialist partner.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55EF12C-DC60-8627-09DC-42213C1376C8}"/>
              </a:ext>
            </a:extLst>
          </p:cNvPr>
          <p:cNvGrpSpPr/>
          <p:nvPr/>
        </p:nvGrpSpPr>
        <p:grpSpPr>
          <a:xfrm>
            <a:off x="502920" y="2026212"/>
            <a:ext cx="11186160" cy="1186523"/>
            <a:chOff x="502920" y="1891389"/>
            <a:chExt cx="11186160" cy="850000"/>
          </a:xfrm>
        </p:grpSpPr>
        <p:sp>
          <p:nvSpPr>
            <p:cNvPr id="701" name="Cap Row Bg 1"/>
            <p:cNvSpPr/>
            <p:nvPr/>
          </p:nvSpPr>
          <p:spPr>
            <a:xfrm>
              <a:off x="502920" y="1891389"/>
              <a:ext cx="11186160" cy="85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2" name="Cap Row Bar 1"/>
            <p:cNvSpPr/>
            <p:nvPr/>
          </p:nvSpPr>
          <p:spPr>
            <a:xfrm>
              <a:off x="502920" y="1891389"/>
              <a:ext cx="45720" cy="850000"/>
            </a:xfrm>
            <a:prstGeom prst="rect">
              <a:avLst/>
            </a:prstGeom>
            <a:solidFill>
              <a:srgbClr val="912D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703" name="Cap Tag 1"/>
            <p:cNvSpPr txBox="1"/>
            <p:nvPr/>
          </p:nvSpPr>
          <p:spPr>
            <a:xfrm>
              <a:off x="722920" y="2027389"/>
              <a:ext cx="2880000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lang="en-US" sz="1050" b="1" i="0" spc="100" dirty="0">
                  <a:solidFill>
                    <a:srgbClr val="C58A2D"/>
                  </a:solidFill>
                  <a:latin typeface="Arial"/>
                </a:rPr>
                <a:t>WHAT WE DELIVERED 01</a:t>
              </a:r>
            </a:p>
          </p:txBody>
        </p:sp>
        <p:sp>
          <p:nvSpPr>
            <p:cNvPr id="704" name="Cap Headline 1"/>
            <p:cNvSpPr txBox="1"/>
            <p:nvPr/>
          </p:nvSpPr>
          <p:spPr>
            <a:xfrm>
              <a:off x="722920" y="2265389"/>
              <a:ext cx="3765104" cy="2769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08000"/>
                </a:lnSpc>
              </a:pPr>
              <a:r>
                <a:rPr lang="en-US" sz="1600" b="1" dirty="0">
                  <a:solidFill>
                    <a:srgbClr val="912D1B"/>
                  </a:solidFill>
                </a:rPr>
                <a:t>Discovery &amp; Workflow Design</a:t>
              </a:r>
            </a:p>
          </p:txBody>
        </p:sp>
        <p:sp>
          <p:nvSpPr>
            <p:cNvPr id="705" name="Cap Desc 1"/>
            <p:cNvSpPr txBox="1"/>
            <p:nvPr/>
          </p:nvSpPr>
          <p:spPr>
            <a:xfrm>
              <a:off x="4996340" y="2027389"/>
              <a:ext cx="6472740" cy="578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20000"/>
                </a:lnSpc>
                <a:spcAft>
                  <a:spcPts val="0"/>
                </a:spcAft>
              </a:pPr>
              <a:r>
                <a:rPr lang="en-US" sz="1400" b="0" i="0" dirty="0">
                  <a:solidFill>
                    <a:srgbClr val="6E625A"/>
                  </a:solidFill>
                  <a:latin typeface="Arial"/>
                </a:rPr>
                <a:t>Current-state assessment, discovery, and service management process design.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8F8A3E4-E19B-F195-D1BA-24F759CFB578}"/>
              </a:ext>
            </a:extLst>
          </p:cNvPr>
          <p:cNvGrpSpPr/>
          <p:nvPr/>
        </p:nvGrpSpPr>
        <p:grpSpPr>
          <a:xfrm>
            <a:off x="502920" y="3511212"/>
            <a:ext cx="11186160" cy="1186523"/>
            <a:chOff x="502920" y="2881389"/>
            <a:chExt cx="11186160" cy="850000"/>
          </a:xfrm>
        </p:grpSpPr>
        <p:sp>
          <p:nvSpPr>
            <p:cNvPr id="706" name="Cap Row Bg 2"/>
            <p:cNvSpPr/>
            <p:nvPr/>
          </p:nvSpPr>
          <p:spPr>
            <a:xfrm>
              <a:off x="502920" y="2881389"/>
              <a:ext cx="11186160" cy="85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7" name="Cap Row Bar 2"/>
            <p:cNvSpPr/>
            <p:nvPr/>
          </p:nvSpPr>
          <p:spPr>
            <a:xfrm>
              <a:off x="502920" y="2881389"/>
              <a:ext cx="45720" cy="850000"/>
            </a:xfrm>
            <a:prstGeom prst="rect">
              <a:avLst/>
            </a:prstGeom>
            <a:solidFill>
              <a:srgbClr val="912D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708" name="Cap Tag 2"/>
            <p:cNvSpPr txBox="1"/>
            <p:nvPr/>
          </p:nvSpPr>
          <p:spPr>
            <a:xfrm>
              <a:off x="722920" y="3017389"/>
              <a:ext cx="2880000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lang="en-US" sz="1050" b="1" i="0" spc="100" dirty="0">
                  <a:solidFill>
                    <a:srgbClr val="C58A2D"/>
                  </a:solidFill>
                  <a:latin typeface="Arial"/>
                </a:rPr>
                <a:t>WHAT WE DELIVERED 02</a:t>
              </a:r>
            </a:p>
          </p:txBody>
        </p:sp>
        <p:sp>
          <p:nvSpPr>
            <p:cNvPr id="709" name="Cap Headline 2"/>
            <p:cNvSpPr txBox="1"/>
            <p:nvPr/>
          </p:nvSpPr>
          <p:spPr>
            <a:xfrm>
              <a:off x="722920" y="3255389"/>
              <a:ext cx="3765104" cy="17634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08000"/>
                </a:lnSpc>
              </a:pPr>
              <a:r>
                <a:rPr lang="en-US" sz="1600" b="1" dirty="0">
                  <a:solidFill>
                    <a:srgbClr val="912D1B"/>
                  </a:solidFill>
                </a:rPr>
                <a:t>Incident &amp; Access Workflows</a:t>
              </a:r>
            </a:p>
          </p:txBody>
        </p:sp>
        <p:sp>
          <p:nvSpPr>
            <p:cNvPr id="710" name="Cap Desc 2"/>
            <p:cNvSpPr txBox="1"/>
            <p:nvPr/>
          </p:nvSpPr>
          <p:spPr>
            <a:xfrm>
              <a:off x="4996340" y="3017389"/>
              <a:ext cx="6472740" cy="578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20000"/>
                </a:lnSpc>
                <a:spcAft>
                  <a:spcPts val="0"/>
                </a:spcAft>
              </a:pPr>
              <a:r>
                <a:rPr lang="en-US" sz="1400" b="0" i="0" dirty="0">
                  <a:solidFill>
                    <a:srgbClr val="6E625A"/>
                  </a:solidFill>
                  <a:latin typeface="Arial"/>
                </a:rPr>
                <a:t>Incident and request workflows, approval gates and permission schemes.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F4E82F5-52F1-3DF6-F4AD-98E967BD01D7}"/>
              </a:ext>
            </a:extLst>
          </p:cNvPr>
          <p:cNvGrpSpPr/>
          <p:nvPr/>
        </p:nvGrpSpPr>
        <p:grpSpPr>
          <a:xfrm>
            <a:off x="502920" y="4996212"/>
            <a:ext cx="11186160" cy="1186523"/>
            <a:chOff x="502920" y="4861389"/>
            <a:chExt cx="11186160" cy="850000"/>
          </a:xfrm>
        </p:grpSpPr>
        <p:sp>
          <p:nvSpPr>
            <p:cNvPr id="716" name="Cap Row Bg 4"/>
            <p:cNvSpPr/>
            <p:nvPr/>
          </p:nvSpPr>
          <p:spPr>
            <a:xfrm>
              <a:off x="502920" y="4861389"/>
              <a:ext cx="11186160" cy="85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7" name="Cap Row Bar 4"/>
            <p:cNvSpPr/>
            <p:nvPr/>
          </p:nvSpPr>
          <p:spPr>
            <a:xfrm>
              <a:off x="502920" y="4861389"/>
              <a:ext cx="45720" cy="850000"/>
            </a:xfrm>
            <a:prstGeom prst="rect">
              <a:avLst/>
            </a:prstGeom>
            <a:solidFill>
              <a:srgbClr val="912D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718" name="Cap Tag 4"/>
            <p:cNvSpPr txBox="1"/>
            <p:nvPr/>
          </p:nvSpPr>
          <p:spPr>
            <a:xfrm>
              <a:off x="722920" y="4997389"/>
              <a:ext cx="2880000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lang="en-US" sz="1050" b="1" i="0" spc="100" dirty="0">
                  <a:solidFill>
                    <a:srgbClr val="C58A2D"/>
                  </a:solidFill>
                  <a:latin typeface="Arial"/>
                </a:rPr>
                <a:t>WHAT WE DELIVERED 03</a:t>
              </a:r>
            </a:p>
          </p:txBody>
        </p:sp>
        <p:sp>
          <p:nvSpPr>
            <p:cNvPr id="719" name="Cap Headline 4"/>
            <p:cNvSpPr txBox="1"/>
            <p:nvPr/>
          </p:nvSpPr>
          <p:spPr>
            <a:xfrm>
              <a:off x="722920" y="5235389"/>
              <a:ext cx="3765104" cy="2769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08000"/>
                </a:lnSpc>
              </a:pPr>
              <a:r>
                <a:rPr lang="en-US" sz="1600" b="1" dirty="0">
                  <a:solidFill>
                    <a:srgbClr val="912D1B"/>
                  </a:solidFill>
                </a:rPr>
                <a:t>Project Consolidation</a:t>
              </a:r>
            </a:p>
          </p:txBody>
        </p:sp>
        <p:sp>
          <p:nvSpPr>
            <p:cNvPr id="720" name="Cap Desc 4"/>
            <p:cNvSpPr txBox="1"/>
            <p:nvPr/>
          </p:nvSpPr>
          <p:spPr>
            <a:xfrm>
              <a:off x="4996340" y="4997389"/>
              <a:ext cx="6472740" cy="578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20000"/>
                </a:lnSpc>
                <a:spcAft>
                  <a:spcPts val="0"/>
                </a:spcAft>
              </a:pPr>
              <a:r>
                <a:rPr lang="en-US" sz="1400" b="0" i="0" dirty="0">
                  <a:solidFill>
                    <a:srgbClr val="6E625A"/>
                  </a:solidFill>
                  <a:latin typeface="Arial"/>
                </a:rPr>
                <a:t>Consolidated projects into a single governed Jira Service Management structure.</a:t>
              </a:r>
            </a:p>
          </p:txBody>
        </p:sp>
      </p:grpSp>
      <p:sp>
        <p:nvSpPr>
          <p:cNvPr id="2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  <p:sp>
        <p:nvSpPr>
          <p:cNvPr id="6" name="Google Shape;361;p11">
            <a:extLst>
              <a:ext uri="{FF2B5EF4-FFF2-40B4-BE49-F238E27FC236}">
                <a16:creationId xmlns:a16="http://schemas.microsoft.com/office/drawing/2014/main" id="{D0624639-B963-94D4-2A4F-61E8BE1113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</a:t>
            </a:fld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Work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You own the customer relationship — choose how much delivery Palni leads.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  <p:sp>
        <p:nvSpPr>
          <p:cNvPr id="801" name="Model Header"/>
          <p:cNvSpPr/>
          <p:nvPr/>
        </p:nvSpPr>
        <p:spPr>
          <a:xfrm>
            <a:off x="3200400" y="1691640"/>
            <a:ext cx="4187952" cy="777240"/>
          </a:xfrm>
          <a:prstGeom prst="roundRect">
            <a:avLst>
              <a:gd name="adj" fmla="val 10000"/>
            </a:avLst>
          </a:prstGeom>
          <a:solidFill>
            <a:srgbClr val="C58A2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500" b="1" i="0" spc="150" dirty="0">
                <a:solidFill>
                  <a:srgbClr val="FFFFFF"/>
                </a:solidFill>
                <a:latin typeface="Arial"/>
                <a:cs typeface="Arial"/>
              </a:rPr>
              <a:t>PARTNER SUPPORT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FFFFFF"/>
                </a:solidFill>
                <a:latin typeface="Arial"/>
                <a:cs typeface="Arial"/>
              </a:rPr>
              <a:t>Palni extends your delivery team</a:t>
            </a:r>
          </a:p>
        </p:txBody>
      </p:sp>
      <p:sp>
        <p:nvSpPr>
          <p:cNvPr id="802" name="Model Header"/>
          <p:cNvSpPr/>
          <p:nvPr/>
        </p:nvSpPr>
        <p:spPr>
          <a:xfrm>
            <a:off x="7498080" y="1691640"/>
            <a:ext cx="4187952" cy="777240"/>
          </a:xfrm>
          <a:prstGeom prst="roundRect">
            <a:avLst>
              <a:gd name="adj" fmla="val 10000"/>
            </a:avLst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500" b="1" i="0" spc="150" dirty="0">
                <a:solidFill>
                  <a:srgbClr val="FFFFFF"/>
                </a:solidFill>
                <a:latin typeface="Arial"/>
                <a:cs typeface="Arial"/>
              </a:rPr>
              <a:t>PARTNER LED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FFFFFF"/>
                </a:solidFill>
                <a:latin typeface="Arial"/>
                <a:cs typeface="Arial"/>
              </a:rPr>
              <a:t>Palni delivers the engagement for you</a:t>
            </a:r>
          </a:p>
        </p:txBody>
      </p:sp>
      <p:sp>
        <p:nvSpPr>
          <p:cNvPr id="803" name="Shape"/>
          <p:cNvSpPr txBox="1"/>
          <p:nvPr/>
        </p:nvSpPr>
        <p:spPr>
          <a:xfrm>
            <a:off x="502920" y="1691640"/>
            <a:ext cx="2514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050" b="1" i="0" spc="150" dirty="0">
                <a:solidFill>
                  <a:srgbClr val="6E625A"/>
                </a:solidFill>
                <a:latin typeface="Arial"/>
                <a:cs typeface="Arial"/>
              </a:rPr>
              <a:t>WHO LEADS EACH STEP</a:t>
            </a:r>
          </a:p>
        </p:txBody>
      </p:sp>
      <p:sp>
        <p:nvSpPr>
          <p:cNvPr id="804" name="Shape"/>
          <p:cNvSpPr txBox="1"/>
          <p:nvPr/>
        </p:nvSpPr>
        <p:spPr>
          <a:xfrm>
            <a:off x="502920" y="265176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3F3833"/>
                </a:solidFill>
                <a:latin typeface="Arial"/>
                <a:cs typeface="Arial"/>
              </a:rPr>
              <a:t>Client-facing delivery</a:t>
            </a:r>
          </a:p>
        </p:txBody>
      </p:sp>
      <p:sp>
        <p:nvSpPr>
          <p:cNvPr id="805" name="Lead Pill"/>
          <p:cNvSpPr/>
          <p:nvPr/>
        </p:nvSpPr>
        <p:spPr>
          <a:xfrm>
            <a:off x="3337560" y="27889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C8079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3F3833"/>
                </a:solidFill>
                <a:latin typeface="Arial"/>
                <a:cs typeface="Arial"/>
              </a:rPr>
              <a:t>YOU</a:t>
            </a:r>
          </a:p>
        </p:txBody>
      </p:sp>
      <p:sp>
        <p:nvSpPr>
          <p:cNvPr id="806" name="Shape"/>
          <p:cNvSpPr txBox="1"/>
          <p:nvPr/>
        </p:nvSpPr>
        <p:spPr>
          <a:xfrm>
            <a:off x="4297680" y="265176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Your team stays prime and client-facing</a:t>
            </a:r>
          </a:p>
        </p:txBody>
      </p:sp>
      <p:sp>
        <p:nvSpPr>
          <p:cNvPr id="807" name="Lead Pill"/>
          <p:cNvSpPr/>
          <p:nvPr/>
        </p:nvSpPr>
        <p:spPr>
          <a:xfrm>
            <a:off x="7635240" y="27889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FFFFFF"/>
                </a:solidFill>
                <a:latin typeface="Arial"/>
                <a:cs typeface="Arial"/>
              </a:rPr>
              <a:t>PALNI</a:t>
            </a:r>
          </a:p>
        </p:txBody>
      </p:sp>
      <p:sp>
        <p:nvSpPr>
          <p:cNvPr id="808" name="Shape"/>
          <p:cNvSpPr txBox="1"/>
          <p:nvPr/>
        </p:nvSpPr>
        <p:spPr>
          <a:xfrm>
            <a:off x="8595360" y="265176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Palni leads, co-branded for your client</a:t>
            </a:r>
          </a:p>
        </p:txBody>
      </p:sp>
      <p:cxnSp>
        <p:nvCxnSpPr>
          <p:cNvPr id="809" name="Row Rule"/>
          <p:cNvCxnSpPr/>
          <p:nvPr/>
        </p:nvCxnSpPr>
        <p:spPr>
          <a:xfrm>
            <a:off x="502920" y="3200400"/>
            <a:ext cx="11183112" cy="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sp>
        <p:nvSpPr>
          <p:cNvPr id="810" name="Shape"/>
          <p:cNvSpPr txBox="1"/>
          <p:nvPr/>
        </p:nvSpPr>
        <p:spPr>
          <a:xfrm>
            <a:off x="502920" y="320040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3F3833"/>
                </a:solidFill>
                <a:latin typeface="Arial"/>
                <a:cs typeface="Arial"/>
              </a:rPr>
              <a:t>Scope &amp; success measures</a:t>
            </a:r>
          </a:p>
        </p:txBody>
      </p:sp>
      <p:sp>
        <p:nvSpPr>
          <p:cNvPr id="811" name="Lead Pill"/>
          <p:cNvSpPr/>
          <p:nvPr/>
        </p:nvSpPr>
        <p:spPr>
          <a:xfrm>
            <a:off x="3337560" y="333756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C8079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3F3833"/>
                </a:solidFill>
                <a:latin typeface="Arial"/>
                <a:cs typeface="Arial"/>
              </a:rPr>
              <a:t>YOU</a:t>
            </a:r>
          </a:p>
        </p:txBody>
      </p:sp>
      <p:sp>
        <p:nvSpPr>
          <p:cNvPr id="812" name="Shape"/>
          <p:cNvSpPr txBox="1"/>
          <p:nvPr/>
        </p:nvSpPr>
        <p:spPr>
          <a:xfrm>
            <a:off x="4297680" y="320040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You set scope; Palni advises on approach</a:t>
            </a:r>
          </a:p>
        </p:txBody>
      </p:sp>
      <p:sp>
        <p:nvSpPr>
          <p:cNvPr id="813" name="Lead Pill"/>
          <p:cNvSpPr/>
          <p:nvPr/>
        </p:nvSpPr>
        <p:spPr>
          <a:xfrm>
            <a:off x="7635240" y="333756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EE8E4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3F3833"/>
                </a:solidFill>
                <a:latin typeface="Arial"/>
                <a:cs typeface="Arial"/>
              </a:rPr>
              <a:t>SHARED</a:t>
            </a:r>
          </a:p>
        </p:txBody>
      </p:sp>
      <p:sp>
        <p:nvSpPr>
          <p:cNvPr id="814" name="Shape"/>
          <p:cNvSpPr txBox="1"/>
          <p:nvPr/>
        </p:nvSpPr>
        <p:spPr>
          <a:xfrm>
            <a:off x="8595360" y="320040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Agreed jointly with you and the customer</a:t>
            </a:r>
          </a:p>
        </p:txBody>
      </p:sp>
      <p:cxnSp>
        <p:nvCxnSpPr>
          <p:cNvPr id="815" name="Row Rule"/>
          <p:cNvCxnSpPr/>
          <p:nvPr/>
        </p:nvCxnSpPr>
        <p:spPr>
          <a:xfrm>
            <a:off x="502920" y="3749040"/>
            <a:ext cx="11183112" cy="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sp>
        <p:nvSpPr>
          <p:cNvPr id="816" name="Shape"/>
          <p:cNvSpPr txBox="1"/>
          <p:nvPr/>
        </p:nvSpPr>
        <p:spPr>
          <a:xfrm>
            <a:off x="502920" y="374904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3F3833"/>
                </a:solidFill>
                <a:latin typeface="Arial"/>
                <a:cs typeface="Arial"/>
              </a:rPr>
              <a:t>Assessment &amp; design</a:t>
            </a:r>
          </a:p>
        </p:txBody>
      </p:sp>
      <p:sp>
        <p:nvSpPr>
          <p:cNvPr id="817" name="Lead Pill"/>
          <p:cNvSpPr/>
          <p:nvPr/>
        </p:nvSpPr>
        <p:spPr>
          <a:xfrm>
            <a:off x="3337560" y="388620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FFFFFF"/>
                </a:solidFill>
                <a:latin typeface="Arial"/>
                <a:cs typeface="Arial"/>
              </a:rPr>
              <a:t>PALNI</a:t>
            </a:r>
          </a:p>
        </p:txBody>
      </p:sp>
      <p:sp>
        <p:nvSpPr>
          <p:cNvPr id="818" name="Shape"/>
          <p:cNvSpPr txBox="1"/>
          <p:nvPr/>
        </p:nvSpPr>
        <p:spPr>
          <a:xfrm>
            <a:off x="4297680" y="374904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Palni designs behind the scenes</a:t>
            </a:r>
          </a:p>
        </p:txBody>
      </p:sp>
      <p:sp>
        <p:nvSpPr>
          <p:cNvPr id="819" name="Lead Pill"/>
          <p:cNvSpPr/>
          <p:nvPr/>
        </p:nvSpPr>
        <p:spPr>
          <a:xfrm>
            <a:off x="7635240" y="388620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FFFFFF"/>
                </a:solidFill>
                <a:latin typeface="Arial"/>
                <a:cs typeface="Arial"/>
              </a:rPr>
              <a:t>PALNI</a:t>
            </a:r>
          </a:p>
        </p:txBody>
      </p:sp>
      <p:sp>
        <p:nvSpPr>
          <p:cNvPr id="820" name="Shape"/>
          <p:cNvSpPr txBox="1"/>
          <p:nvPr/>
        </p:nvSpPr>
        <p:spPr>
          <a:xfrm>
            <a:off x="8595360" y="374904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Palni assesses and designs the solution</a:t>
            </a:r>
          </a:p>
        </p:txBody>
      </p:sp>
      <p:cxnSp>
        <p:nvCxnSpPr>
          <p:cNvPr id="821" name="Row Rule"/>
          <p:cNvCxnSpPr/>
          <p:nvPr/>
        </p:nvCxnSpPr>
        <p:spPr>
          <a:xfrm>
            <a:off x="502920" y="4297680"/>
            <a:ext cx="11183112" cy="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sp>
        <p:nvSpPr>
          <p:cNvPr id="822" name="Shape"/>
          <p:cNvSpPr txBox="1"/>
          <p:nvPr/>
        </p:nvSpPr>
        <p:spPr>
          <a:xfrm>
            <a:off x="502920" y="429768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3F3833"/>
                </a:solidFill>
                <a:latin typeface="Arial"/>
                <a:cs typeface="Arial"/>
              </a:rPr>
              <a:t>Build, testing &amp; enablement</a:t>
            </a:r>
          </a:p>
        </p:txBody>
      </p:sp>
      <p:sp>
        <p:nvSpPr>
          <p:cNvPr id="823" name="Lead Pill"/>
          <p:cNvSpPr/>
          <p:nvPr/>
        </p:nvSpPr>
        <p:spPr>
          <a:xfrm>
            <a:off x="3337560" y="443484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FFFFFF"/>
                </a:solidFill>
                <a:latin typeface="Arial"/>
                <a:cs typeface="Arial"/>
              </a:rPr>
              <a:t>PALNI</a:t>
            </a:r>
          </a:p>
        </p:txBody>
      </p:sp>
      <p:sp>
        <p:nvSpPr>
          <p:cNvPr id="824" name="Shape"/>
          <p:cNvSpPr txBox="1"/>
          <p:nvPr/>
        </p:nvSpPr>
        <p:spPr>
          <a:xfrm>
            <a:off x="4297680" y="429768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Palni works under your delivery lead</a:t>
            </a:r>
          </a:p>
        </p:txBody>
      </p:sp>
      <p:sp>
        <p:nvSpPr>
          <p:cNvPr id="825" name="Lead Pill"/>
          <p:cNvSpPr/>
          <p:nvPr/>
        </p:nvSpPr>
        <p:spPr>
          <a:xfrm>
            <a:off x="7635240" y="443484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FFFFFF"/>
                </a:solidFill>
                <a:latin typeface="Arial"/>
                <a:cs typeface="Arial"/>
              </a:rPr>
              <a:t>PALNI</a:t>
            </a:r>
          </a:p>
        </p:txBody>
      </p:sp>
      <p:sp>
        <p:nvSpPr>
          <p:cNvPr id="826" name="Shape"/>
          <p:cNvSpPr txBox="1"/>
          <p:nvPr/>
        </p:nvSpPr>
        <p:spPr>
          <a:xfrm>
            <a:off x="8595360" y="429768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Palni owns execution end-to-end</a:t>
            </a:r>
          </a:p>
        </p:txBody>
      </p:sp>
      <p:cxnSp>
        <p:nvCxnSpPr>
          <p:cNvPr id="827" name="Row Rule"/>
          <p:cNvCxnSpPr/>
          <p:nvPr/>
        </p:nvCxnSpPr>
        <p:spPr>
          <a:xfrm>
            <a:off x="502920" y="4846320"/>
            <a:ext cx="11183112" cy="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sp>
        <p:nvSpPr>
          <p:cNvPr id="828" name="Shape"/>
          <p:cNvSpPr txBox="1"/>
          <p:nvPr/>
        </p:nvSpPr>
        <p:spPr>
          <a:xfrm>
            <a:off x="502920" y="484632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3F3833"/>
                </a:solidFill>
                <a:latin typeface="Arial"/>
                <a:cs typeface="Arial"/>
              </a:rPr>
              <a:t>Handover &amp; growth</a:t>
            </a:r>
          </a:p>
        </p:txBody>
      </p:sp>
      <p:sp>
        <p:nvSpPr>
          <p:cNvPr id="829" name="Lead Pill"/>
          <p:cNvSpPr/>
          <p:nvPr/>
        </p:nvSpPr>
        <p:spPr>
          <a:xfrm>
            <a:off x="3337560" y="4983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EE8E4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3F3833"/>
                </a:solidFill>
                <a:latin typeface="Arial"/>
                <a:cs typeface="Arial"/>
              </a:rPr>
              <a:t>SHARED</a:t>
            </a:r>
          </a:p>
        </p:txBody>
      </p:sp>
      <p:sp>
        <p:nvSpPr>
          <p:cNvPr id="830" name="Shape"/>
          <p:cNvSpPr txBox="1"/>
          <p:nvPr/>
        </p:nvSpPr>
        <p:spPr>
          <a:xfrm>
            <a:off x="4297680" y="484632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Palni documents; you run follow-on</a:t>
            </a:r>
          </a:p>
        </p:txBody>
      </p:sp>
      <p:sp>
        <p:nvSpPr>
          <p:cNvPr id="831" name="Lead Pill"/>
          <p:cNvSpPr/>
          <p:nvPr/>
        </p:nvSpPr>
        <p:spPr>
          <a:xfrm>
            <a:off x="7635240" y="4983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C8079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950" b="1" i="0" spc="100" dirty="0">
                <a:solidFill>
                  <a:srgbClr val="3F3833"/>
                </a:solidFill>
                <a:latin typeface="Arial"/>
                <a:cs typeface="Arial"/>
              </a:rPr>
              <a:t>YOU</a:t>
            </a:r>
          </a:p>
        </p:txBody>
      </p:sp>
      <p:sp>
        <p:nvSpPr>
          <p:cNvPr id="832" name="Shape"/>
          <p:cNvSpPr txBox="1"/>
          <p:nvPr/>
        </p:nvSpPr>
        <p:spPr>
          <a:xfrm>
            <a:off x="8595360" y="4846320"/>
            <a:ext cx="29992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50" b="0" i="0" dirty="0">
                <a:solidFill>
                  <a:srgbClr val="3F3833"/>
                </a:solidFill>
                <a:latin typeface="Arial"/>
                <a:cs typeface="Arial"/>
              </a:rPr>
              <a:t>Your team focuses on account growth</a:t>
            </a:r>
          </a:p>
        </p:txBody>
      </p:sp>
      <p:cxnSp>
        <p:nvCxnSpPr>
          <p:cNvPr id="833" name="Row Rule"/>
          <p:cNvCxnSpPr/>
          <p:nvPr/>
        </p:nvCxnSpPr>
        <p:spPr>
          <a:xfrm>
            <a:off x="502920" y="5394960"/>
            <a:ext cx="11183112" cy="0"/>
          </a:xfrm>
          <a:prstGeom prst="line">
            <a:avLst/>
          </a:prstGeom>
          <a:ln w="9525">
            <a:solidFill>
              <a:srgbClr val="DDD6D1"/>
            </a:solidFill>
          </a:ln>
        </p:spPr>
      </p:cxnSp>
      <p:sp>
        <p:nvSpPr>
          <p:cNvPr id="834" name="Shape"/>
          <p:cNvSpPr txBox="1"/>
          <p:nvPr/>
        </p:nvSpPr>
        <p:spPr>
          <a:xfrm>
            <a:off x="502920" y="5504688"/>
            <a:ext cx="2514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300" b="1" i="0" spc="150" dirty="0">
                <a:solidFill>
                  <a:srgbClr val="912D1B"/>
                </a:solidFill>
                <a:latin typeface="Arial"/>
                <a:cs typeface="Arial"/>
              </a:rPr>
              <a:t>BEST FOR</a:t>
            </a:r>
          </a:p>
        </p:txBody>
      </p:sp>
      <p:sp>
        <p:nvSpPr>
          <p:cNvPr id="835" name="Best For"/>
          <p:cNvSpPr/>
          <p:nvPr/>
        </p:nvSpPr>
        <p:spPr>
          <a:xfrm>
            <a:off x="3200400" y="5504688"/>
            <a:ext cx="4187952" cy="502920"/>
          </a:xfrm>
          <a:prstGeom prst="roundRect">
            <a:avLst>
              <a:gd name="adj" fmla="val 20000"/>
            </a:avLst>
          </a:prstGeom>
          <a:solidFill>
            <a:srgbClr val="F6F2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3F3833"/>
                </a:solidFill>
                <a:latin typeface="Arial"/>
                <a:cs typeface="Arial"/>
              </a:rPr>
              <a:t>Augmenting active engagements</a:t>
            </a:r>
          </a:p>
        </p:txBody>
      </p:sp>
      <p:sp>
        <p:nvSpPr>
          <p:cNvPr id="836" name="Best For"/>
          <p:cNvSpPr/>
          <p:nvPr/>
        </p:nvSpPr>
        <p:spPr>
          <a:xfrm>
            <a:off x="7498080" y="5504688"/>
            <a:ext cx="4187952" cy="502920"/>
          </a:xfrm>
          <a:prstGeom prst="roundRect">
            <a:avLst>
              <a:gd name="adj" fmla="val 20000"/>
            </a:avLst>
          </a:prstGeom>
          <a:solidFill>
            <a:srgbClr val="F6F2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3F3833"/>
                </a:solidFill>
                <a:latin typeface="Arial"/>
                <a:cs typeface="Arial"/>
              </a:rPr>
              <a:t>Scaling new capability without new hires</a:t>
            </a:r>
          </a:p>
        </p:txBody>
      </p:sp>
      <p:sp>
        <p:nvSpPr>
          <p:cNvPr id="2" name="Google Shape;361;p11">
            <a:extLst>
              <a:ext uri="{FF2B5EF4-FFF2-40B4-BE49-F238E27FC236}">
                <a16:creationId xmlns:a16="http://schemas.microsoft.com/office/drawing/2014/main" id="{B6FEB41F-06ED-DE35-0247-466C5F1CA60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19</a:t>
            </a:fld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/>
              <a:t>Opportunities to Explore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Start with one opportunity, a defined scope and a joint discovery.</a:t>
            </a:r>
          </a:p>
        </p:txBody>
      </p:sp>
      <p:sp>
        <p:nvSpPr>
          <p:cNvPr id="2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spc="80" dirty="0">
                <a:solidFill>
                  <a:srgbClr val="FFFFFF"/>
                </a:solidFill>
                <a:latin typeface="Arial"/>
              </a:rPr>
              <a:t>DATA &amp; AI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spc="80" dirty="0">
                <a:solidFill>
                  <a:srgbClr val="FFFFFF"/>
                </a:solidFill>
                <a:latin typeface="Arial"/>
              </a:rPr>
              <a:t>SALESFORCE &amp; CUSTOM DEV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none" lIns="182880" tIns="0" rIns="0" bIns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rgbClr val="2C2C2C"/>
                </a:solidFill>
                <a:latin typeface="Arial"/>
                <a:cs typeface="Arial"/>
              </a:rPr>
              <a:t>Data platform modernization</a:t>
            </a:r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none" lIns="182880" tIns="0" rIns="0" bIns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rgbClr val="2C2C2C"/>
                </a:solidFill>
                <a:latin typeface="Arial"/>
                <a:cs typeface="Arial"/>
              </a:rPr>
              <a:t>Salesforce health and integration review</a:t>
            </a:r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none" lIns="182880" tIns="0" rIns="0" bIns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rgbClr val="2C2C2C"/>
                </a:solidFill>
                <a:latin typeface="Arial"/>
                <a:cs typeface="Arial"/>
              </a:rPr>
              <a:t>AI readiness and use-case assessment</a:t>
            </a:r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none" lIns="182880" tIns="0" rIns="0" bIns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b="1" dirty="0" err="1">
                <a:solidFill>
                  <a:srgbClr val="2C2C2C"/>
                </a:solidFill>
                <a:latin typeface="Arial"/>
                <a:cs typeface="Arial"/>
              </a:rPr>
              <a:t>Agentforce</a:t>
            </a:r>
            <a:r>
              <a:rPr lang="en-US" b="1" dirty="0">
                <a:solidFill>
                  <a:srgbClr val="2C2C2C"/>
                </a:solidFill>
                <a:latin typeface="Arial"/>
                <a:cs typeface="Arial"/>
              </a:rPr>
              <a:t> sales or service use case</a:t>
            </a:r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none" lIns="182880" tIns="0" rIns="0" bIns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rgbClr val="2C2C2C"/>
                </a:solidFill>
                <a:latin typeface="Arial"/>
                <a:cs typeface="Arial"/>
              </a:rPr>
              <a:t>Document or knowledge assistant pilot</a:t>
            </a:r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none" lIns="182880" tIns="0" rIns="0" bIns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rgbClr val="2C2C2C"/>
                </a:solidFill>
                <a:latin typeface="Arial"/>
                <a:cs typeface="Arial"/>
              </a:rPr>
              <a:t>Custom application or integration build</a:t>
            </a:r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none" lIns="182880" tIns="0" rIns="0" bIns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rgbClr val="2C2C2C"/>
                </a:solidFill>
                <a:latin typeface="Arial"/>
                <a:cs typeface="Arial"/>
              </a:rPr>
              <a:t>Production integration of an AI workflow</a:t>
            </a:r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none" lIns="182880" tIns="0" rIns="0" bIns="0" anchor="ctr">
            <a:noAutofit/>
          </a:bodyPr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rgbClr val="2C2C2C"/>
                </a:solidFill>
                <a:latin typeface="Arial"/>
                <a:cs typeface="Arial"/>
              </a:rPr>
              <a:t>CRM data and automation improvements</a:t>
            </a:r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  <p:sp>
        <p:nvSpPr>
          <p:cNvPr id="3" name="Google Shape;361;p11">
            <a:extLst>
              <a:ext uri="{FF2B5EF4-FFF2-40B4-BE49-F238E27FC236}">
                <a16:creationId xmlns:a16="http://schemas.microsoft.com/office/drawing/2014/main" id="{EEF509BD-9523-F98D-295B-398ECB3E13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326214" y="6483447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50"/>
          <p:cNvSpPr txBox="1"/>
          <p:nvPr/>
        </p:nvSpPr>
        <p:spPr>
          <a:xfrm>
            <a:off x="1324660" y="3732253"/>
            <a:ext cx="9542681" cy="2964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840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Trebuchet MS"/>
              </a:rPr>
              <a:t>Corporate Office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8751  Collin McKinney Pkwy, Suite 801, McKinney, TX 75070, USA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Trebuchet MS"/>
              </a:rPr>
              <a:t>Email: 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Trebuchet MS"/>
                <a:hlinkClick r:id="rId3"/>
              </a:rPr>
              <a:t>info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  <a:hlinkClick r:id="rId3"/>
              </a:rPr>
              <a:t>@palni.com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  <a:hlinkClick r:id="rId3"/>
              </a:rPr>
              <a:t>|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Trebuchet MS"/>
              </a:rPr>
              <a:t>Phone: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+1- 469-712-4178 |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Trebuchet MS"/>
              </a:rPr>
              <a:t>Website: 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  <a:hlinkClick r:id="rId4"/>
              </a:rPr>
              <a:t>www.palni.com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Lucida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7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Trebuchet MS"/>
              </a:rPr>
              <a:t>Locations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4th &amp; 5th Floor, Block B &amp; C, Meenakshi Tech Park, Phase-2, Gachibowli, Hyderabad, Telangana 500032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Techno Pearl, Plot No. 6/2 &amp; 6/3, HUDA Techno Enclave,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3rd Floor, Building No 21, Raheja Mindspace,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6th Floor,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iLabs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 Building,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Lucida Sans"/>
            </a:endParaRPr>
          </a:p>
          <a:p>
            <a:pPr marL="2539" marR="0" lvl="0" indent="0" algn="ctr" defTabSz="914400" rtl="0" eaLnBrk="1" fontAlgn="auto" latinLnBrk="0" hangingPunct="1">
              <a:lnSpc>
                <a:spcPct val="100000"/>
              </a:lnSpc>
              <a:spcBef>
                <a:spcPts val="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109 S. Roselle Rd. Suite 201 Schaumburg, IL, 60193, USA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Arial"/>
            </a:endParaRPr>
          </a:p>
          <a:p>
            <a:pPr marL="2539" marR="0" lvl="0" indent="0" algn="ctr" defTabSz="914400" rtl="0" eaLnBrk="1" fontAlgn="auto" latinLnBrk="0" hangingPunct="1">
              <a:lnSpc>
                <a:spcPct val="100000"/>
              </a:lnSpc>
              <a:spcBef>
                <a:spcPts val="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Lucida Sans"/>
              </a:rPr>
              <a:t>8751  Collin McKinney Pkwy, Suite 801, McKinney, TX 75070, USA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Lucida Sans"/>
            </a:endParaRPr>
          </a:p>
        </p:txBody>
      </p:sp>
      <p:sp>
        <p:nvSpPr>
          <p:cNvPr id="805" name="Google Shape;805;p50"/>
          <p:cNvSpPr/>
          <p:nvPr/>
        </p:nvSpPr>
        <p:spPr>
          <a:xfrm>
            <a:off x="3600468" y="4703467"/>
            <a:ext cx="5406675" cy="129617"/>
          </a:xfrm>
          <a:custGeom>
            <a:avLst/>
            <a:gdLst/>
            <a:ahLst/>
            <a:cxnLst/>
            <a:rect l="l" t="t" r="r" b="b"/>
            <a:pathLst>
              <a:path w="8114030" h="120000" extrusionOk="0">
                <a:moveTo>
                  <a:pt x="0" y="0"/>
                </a:moveTo>
                <a:lnTo>
                  <a:pt x="8113687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Poppins"/>
              <a:cs typeface="Arial" panose="020B0604020202020204" pitchFamily="34" charset="0"/>
              <a:sym typeface="Poppins"/>
            </a:endParaRPr>
          </a:p>
        </p:txBody>
      </p:sp>
      <p:sp>
        <p:nvSpPr>
          <p:cNvPr id="806" name="Google Shape;806;p50"/>
          <p:cNvSpPr/>
          <p:nvPr/>
        </p:nvSpPr>
        <p:spPr>
          <a:xfrm>
            <a:off x="3583055" y="6122555"/>
            <a:ext cx="5406675" cy="0"/>
          </a:xfrm>
          <a:custGeom>
            <a:avLst/>
            <a:gdLst/>
            <a:ahLst/>
            <a:cxnLst/>
            <a:rect l="l" t="t" r="r" b="b"/>
            <a:pathLst>
              <a:path w="8112125" h="120000" extrusionOk="0">
                <a:moveTo>
                  <a:pt x="0" y="0"/>
                </a:moveTo>
                <a:lnTo>
                  <a:pt x="8112118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Poppins"/>
              <a:cs typeface="Arial" panose="020B0604020202020204" pitchFamily="34" charset="0"/>
              <a:sym typeface="Poppins"/>
            </a:endParaRPr>
          </a:p>
        </p:txBody>
      </p:sp>
      <p:pic>
        <p:nvPicPr>
          <p:cNvPr id="807" name="Google Shape;807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88" y="-173916"/>
            <a:ext cx="12188826" cy="3642323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50"/>
          <p:cNvSpPr txBox="1"/>
          <p:nvPr/>
        </p:nvSpPr>
        <p:spPr>
          <a:xfrm>
            <a:off x="3300401" y="3201096"/>
            <a:ext cx="5591201" cy="479921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txBody>
          <a:bodyPr spcFirstLastPara="1" wrap="square" lIns="121850" tIns="121850" rIns="121850" bIns="1218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2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Fira Sans Extra Condensed SemiBold"/>
                <a:cs typeface="Fira Sans Extra Condensed SemiBold"/>
                <a:sym typeface="Fira Sans Extra Condensed SemiBold"/>
              </a:rPr>
              <a:t>THANK YOU</a:t>
            </a:r>
            <a:endParaRPr kumimoji="0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/>
              <a:sym typeface="Arial"/>
            </a:endParaRPr>
          </a:p>
        </p:txBody>
      </p:sp>
      <p:pic>
        <p:nvPicPr>
          <p:cNvPr id="809" name="Google Shape;809;p5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914628" y="6041873"/>
            <a:ext cx="2078561" cy="7167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1045</TotalTime>
  <Words>2346</Words>
  <Application>Microsoft Office PowerPoint</Application>
  <PresentationFormat>Widescreen</PresentationFormat>
  <Paragraphs>425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21</vt:i4>
      </vt:variant>
    </vt:vector>
  </HeadingPairs>
  <TitlesOfParts>
    <vt:vector size="41" baseType="lpstr">
      <vt:lpstr>Arial Black</vt:lpstr>
      <vt:lpstr>Calibri</vt:lpstr>
      <vt:lpstr>Aptos Display</vt:lpstr>
      <vt:lpstr>Poppins</vt:lpstr>
      <vt:lpstr>Arial Rounded MT Bold</vt:lpstr>
      <vt:lpstr>Montserrat</vt:lpstr>
      <vt:lpstr>Proxima Nova</vt:lpstr>
      <vt:lpstr>Arial</vt:lpstr>
      <vt:lpstr>Wingdings</vt:lpstr>
      <vt:lpstr>Noto Sans Symbols</vt:lpstr>
      <vt:lpstr>Aptos</vt:lpstr>
      <vt:lpstr>Montserrat ExtraBold</vt:lpstr>
      <vt:lpstr>Cambria</vt:lpstr>
      <vt:lpstr>Open Sans</vt:lpstr>
      <vt:lpstr>Poppins Medium</vt:lpstr>
      <vt:lpstr>Raleway Black</vt:lpstr>
      <vt:lpstr>Office Theme</vt:lpstr>
      <vt:lpstr>1_Office Theme</vt:lpstr>
      <vt:lpstr>2_Office Theme</vt:lpstr>
      <vt:lpstr>3_Office Theme</vt:lpstr>
      <vt:lpstr>AI, Custom Software Development  &amp; Salesforce Capabilities</vt:lpstr>
      <vt:lpstr>Where We Go Deepest</vt:lpstr>
      <vt:lpstr>Why a Specialist Partner</vt:lpstr>
      <vt:lpstr>Industries Where We’ve Already Delivered</vt:lpstr>
      <vt:lpstr>One HQ, Four Delivery Centers, Two Countries</vt:lpstr>
      <vt:lpstr>PowerPoint Presentation</vt:lpstr>
      <vt:lpstr>Enterprise AI Capability - Built &amp; Delivered Since 2019</vt:lpstr>
      <vt:lpstr>Modern Data Platform on Snowflake</vt:lpstr>
      <vt:lpstr>Real-Time Invoice Reconciliation at Scale</vt:lpstr>
      <vt:lpstr>PowerPoint Presentation</vt:lpstr>
      <vt:lpstr>Custom Software Development</vt:lpstr>
      <vt:lpstr>Voice-Enabled Sales Assistant for Field Reps</vt:lpstr>
      <vt:lpstr>PowerPoint Presentation</vt:lpstr>
      <vt:lpstr>Enterprise Salesforce Capabilities Framework</vt:lpstr>
      <vt:lpstr>Expanded Salesforce Capabilities</vt:lpstr>
      <vt:lpstr>Certified Salesforce Talent at Scale</vt:lpstr>
      <vt:lpstr>Case Study: Agentforce Sales Automation at Scale</vt:lpstr>
      <vt:lpstr>Proven Partner Delivery: Healthcare JSM</vt:lpstr>
      <vt:lpstr>Two Ways to Work Together</vt:lpstr>
      <vt:lpstr>Opportunities to Explore Together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Liza Galano</dc:creator>
  <cp:lastModifiedBy>Liza Galano</cp:lastModifiedBy>
  <cp:revision>21</cp:revision>
  <dcterms:created xsi:type="dcterms:W3CDTF">2025-08-02T18:34:01Z</dcterms:created>
  <dcterms:modified xsi:type="dcterms:W3CDTF">2026-09-30T02:44:02Z</dcterms:modified>
</cp:coreProperties>
</file>